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349"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AB9A62F-1DFF-2A2D-EB10-5DDE8C212801}">
          <p14:sldIdLst>
            <p14:sldId id="349"/>
            <p14:sldId id="257"/>
            <p14:sldId id="258"/>
          </p14:sldIdLst>
        </p14:section>
        <p14:section name="Méthode" id="{3E4301DD-FA21-5AC5-5AA1-B6010496F26D}">
          <p14:sldIdLst>
            <p14:sldId id="259"/>
            <p14:sldId id="260"/>
            <p14:sldId id="261"/>
            <p14:sldId id="262"/>
            <p14:sldId id="263"/>
          </p14:sldIdLst>
        </p14:section>
        <p14:section name="Résultats" id="{3A9A74ED-757D-1C0B-A5AC-C53673F719B8}">
          <p14:sldIdLst>
            <p14:sldId id="264"/>
            <p14:sldId id="265"/>
            <p14:sldId id="266"/>
            <p14:sldId id="267"/>
          </p14:sldIdLst>
        </p14:section>
        <p14:section name="Conclusion" id="{D1487F3E-DE38-2FC0-B9A2-1925FF4A88D6}">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10"/>
  </p:normalViewPr>
  <p:slideViewPr>
    <p:cSldViewPr snapToGrid="0" snapToObjects="1">
      <p:cViewPr varScale="1">
        <p:scale>
          <a:sx n="71" d="100"/>
          <a:sy n="71" d="100"/>
        </p:scale>
        <p:origin x="69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400" b="0" i="0" u="none" strike="noStrike">
                <a:solidFill>
                  <a:srgbClr val="14213D"/>
                </a:solidFill>
                <a:latin typeface="+mn-lt"/>
              </a:defRPr>
            </a:pPr>
            <a:r>
              <a:rPr lang="fr-FR" sz="1400" b="0" i="0" u="none" strike="noStrike">
                <a:solidFill>
                  <a:srgbClr val="14213D"/>
                </a:solidFill>
                <a:latin typeface="+mn-lt"/>
              </a:rPr>
              <a:t>Score moyen sur 12 requêtes</a:t>
            </a:r>
          </a:p>
        </c:rich>
      </c:tx>
      <c:overlay val="0"/>
    </c:title>
    <c:autoTitleDeleted val="0"/>
    <c:plotArea>
      <c:layout/>
      <c:barChart>
        <c:barDir val="col"/>
        <c:grouping val="clustered"/>
        <c:varyColors val="0"/>
        <c:ser>
          <c:idx val="0"/>
          <c:order val="0"/>
          <c:tx>
            <c:strRef>
              <c:f>Sheet1!$B$1</c:f>
              <c:strCache>
                <c:ptCount val="1"/>
                <c:pt idx="0">
                  <c:v>TF-IDF</c:v>
                </c:pt>
              </c:strCache>
            </c:strRef>
          </c:tx>
          <c:spPr>
            <a:solidFill>
              <a:srgbClr val="3D5A80"/>
            </a:solidFill>
            <a:effectLst/>
          </c:spPr>
          <c:invertIfNegative val="0"/>
          <c:dLbls>
            <c:numFmt formatCode="0.00" sourceLinked="0"/>
            <c:spPr>
              <a:noFill/>
              <a:ln>
                <a:noFill/>
              </a:ln>
              <a:effectLst/>
            </c:spPr>
            <c:txPr>
              <a:bodyPr/>
              <a:lstStyle/>
              <a:p>
                <a:pPr>
                  <a:defRPr sz="1300" b="0" i="0" u="none" strike="noStrike">
                    <a:solidFill>
                      <a:srgbClr val="14213D"/>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Precision@10</c:v>
                </c:pt>
                <c:pt idx="1">
                  <c:v>Recall@10</c:v>
                </c:pt>
                <c:pt idx="2">
                  <c:v>MAP@10</c:v>
                </c:pt>
              </c:strCache>
            </c:strRef>
          </c:cat>
          <c:val>
            <c:numRef>
              <c:f>Sheet1!$B$2:$B$4</c:f>
              <c:numCache>
                <c:formatCode>General</c:formatCode>
                <c:ptCount val="3"/>
                <c:pt idx="0">
                  <c:v>0.63300000000000001</c:v>
                </c:pt>
                <c:pt idx="1">
                  <c:v>0.51200000000000001</c:v>
                </c:pt>
                <c:pt idx="2">
                  <c:v>0.55400000000000005</c:v>
                </c:pt>
              </c:numCache>
            </c:numRef>
          </c:val>
          <c:extLst>
            <c:ext xmlns:c16="http://schemas.microsoft.com/office/drawing/2014/chart" uri="{C3380CC4-5D6E-409C-BE32-E72D297353CC}">
              <c16:uniqueId val="{00000000-0B36-47F7-9086-40172B66837E}"/>
            </c:ext>
          </c:extLst>
        </c:ser>
        <c:ser>
          <c:idx val="1"/>
          <c:order val="1"/>
          <c:tx>
            <c:strRef>
              <c:f>Sheet1!$C$1</c:f>
              <c:strCache>
                <c:ptCount val="1"/>
                <c:pt idx="0">
                  <c:v>Embeddings</c:v>
                </c:pt>
              </c:strCache>
            </c:strRef>
          </c:tx>
          <c:spPr>
            <a:solidFill>
              <a:srgbClr val="1B7F74"/>
            </a:solidFill>
            <a:effectLst/>
          </c:spPr>
          <c:invertIfNegative val="0"/>
          <c:dLbls>
            <c:numFmt formatCode="0.00" sourceLinked="0"/>
            <c:spPr>
              <a:noFill/>
              <a:ln>
                <a:noFill/>
              </a:ln>
              <a:effectLst/>
            </c:spPr>
            <c:txPr>
              <a:bodyPr/>
              <a:lstStyle/>
              <a:p>
                <a:pPr>
                  <a:defRPr sz="1300" b="0" i="0" u="none" strike="noStrike">
                    <a:solidFill>
                      <a:srgbClr val="14213D"/>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Precision@10</c:v>
                </c:pt>
                <c:pt idx="1">
                  <c:v>Recall@10</c:v>
                </c:pt>
                <c:pt idx="2">
                  <c:v>MAP@10</c:v>
                </c:pt>
              </c:strCache>
            </c:strRef>
          </c:cat>
          <c:val>
            <c:numRef>
              <c:f>Sheet1!$C$2:$C$4</c:f>
              <c:numCache>
                <c:formatCode>General</c:formatCode>
                <c:ptCount val="3"/>
                <c:pt idx="0">
                  <c:v>0.72499999999999998</c:v>
                </c:pt>
                <c:pt idx="1">
                  <c:v>0.55900000000000005</c:v>
                </c:pt>
                <c:pt idx="2">
                  <c:v>0.68899999999999995</c:v>
                </c:pt>
              </c:numCache>
            </c:numRef>
          </c:val>
          <c:extLst>
            <c:ext xmlns:c16="http://schemas.microsoft.com/office/drawing/2014/chart" uri="{C3380CC4-5D6E-409C-BE32-E72D297353CC}">
              <c16:uniqueId val="{00000001-0B36-47F7-9086-40172B66837E}"/>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4213D"/>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9525" cap="flat">
              <a:solidFill>
                <a:srgbClr val="D9DEE7"/>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6573"/>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300">
              <a:solidFill>
                <a:srgbClr val="14213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0563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C084591C-8BAD-BB34-AB6D-827CEF380C9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5DB429B-4FA8-4CBE-BFAF-55C119F9A7F1}" type="slidenum">
              <a:rPr kumimoji="0" lang="fr-FR" altLang="fr-FR"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fr-FR" altLang="fr-FR"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5123" name="Rectangle 2">
            <a:extLst>
              <a:ext uri="{FF2B5EF4-FFF2-40B4-BE49-F238E27FC236}">
                <a16:creationId xmlns:a16="http://schemas.microsoft.com/office/drawing/2014/main" id="{368AE385-3C88-4522-D2B5-297DC60136E3}"/>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24" name="Rectangle 3">
            <a:extLst>
              <a:ext uri="{FF2B5EF4-FFF2-40B4-BE49-F238E27FC236}">
                <a16:creationId xmlns:a16="http://schemas.microsoft.com/office/drawing/2014/main" id="{76AE0B28-3EC3-6283-02BD-24F64BB05A0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fr-FR" alt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problème. Parfois, on se souvient de l’histoire d’un livre, mais pas de son titre. Notre objectif : écrire une phrase, par exemple « un roman fantastique avec des dragons et de la magie », et recevoir des livres. Pour cela, je compare deux méthodes : TF-IDF et les embeddings. Les titres à droite sont de vrais résultats de mon projet.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suit six étapes, comme demandé dans le sujet. Un : le dataset. Deux : le prétraitement, pour nettoyer le texte. Trois : la représentation, on transforme les textes en nombres. Quatre : la modélisation, avec un index et un score de ressemblance. Cinq : l’évaluation. Six : l’application. Je vais suivre cet ordre dans la présentation.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données viennent de Goodreads, un site de lecture. J’utilise le sous-ensemble Young Adult. Chaque livre a un identifiant, un titre et un résumé. Je nettoie les balises HTML, je supprime les doublons d’identifiant et les résumés trop courts, de moins de 20 mots. Il reste 10 000 livres. Un résumé a environ 148 mots en moyenne. Le graphique montre la longueur des résumés. Attention : il y a 8 018 titres différents, donc quelques livres ont le même titre.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TF-IDF, je prépare le texte en quatre actions. Un : tout en minuscules. Deux : j’enlève la ponctuation. Trois : je retire les stopwords, ce sont les petits mots très fréquents comme « the » ou « and ». Mais je garde « not », « no » et « never », parce qu’ils changent le sens. Quatre : le stemming, c’est garder la racine du mot. Par exemple « heroes » devient « hero ». L’exemple en haut montre une phrase avant et après. Après nettoyage, un livre a 78 mots en moyenne, et le vocabulaire contient 32 189 mots uniques. Pour les embeddings, je garde le texte presque brut, parce que le modèle a besoin de toute la phrase.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méthode : TF-IDF. L’idée est simple. Un mot rare est plus important qu’un mot très fréquent. Par exemple, « dragon » dit beaucoup plus sur un livre que « the ». J’ajoute aussi les bigrammes, c’est-à-dire deux mots qui se suivent. À la fin, chaque livre devient un vecteur. La matrice a 10 000 lignes, une par livre, et 136 985 colonnes, une par mot ou bigramme. Elle est presque vide : moins de 0,1 % des cases ont une valeur. Le schéma à droite est une image simplifiée.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méthode : les embeddings de phrases. J’utilise le modèle all-MiniLM-L6-v2. Il prend le titre et le résumé d’un livre, et il donne un vecteur de 384 nombres. Ces nombres résument le sens du texte. L’avantage : deux textes avec le même sens ont des vecteurs proches, même s’ils n’ont pas les mêmes mots. Le calcul se fait sur CPU et prend environ 10 minutes. Après, je sauvegarde les vecteurs dans un fichier pour ne pas recalculer.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Maintenant, comment on cherche. Pour TF-IDF, j’utilise un index inversé. C’est comme l’index à la fin d’un livre : pour chaque mot, on a la liste des livres qui le contiennent. Par exemple, le mot « magic » apparaît dans 852 livres. On compare la requête seulement avec ces livres. Pour les embeddings, la requête devient aussi un vecteur, et on cherche les voisins proches avec NearestNeighbors. Dans les deux cas, le score est la similarité cosinus. Plus il est proche de 1, plus le livre ressemble à la requête.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exemple avec la requête « a fantasy adventure with dragons and magic ». À gauche, TF-IDF trouve des livres qui contiennent les mots exacts, comme « dragon » et « magic ». À droite, les embeddings trouvent des livres sur les dragons, avec un lien plus fort avec le sens de la phrase. Attention : les scores des deux méthodes ne sont pas comparables, parce que l’échelle est différente. J’ai retiré les doublons de titres pour que l’exemple soit clair.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deux images montrent la similarité cosinus entre 12 livres du corpus. Jaune veut dire très proche, violet veut dire très différent. La diagonale est toujours jaune, parce qu’un livre est identique à lui-même. Avec TF-IDF, à gauche, presque tout le reste est violet : deux livres différents ont presque aucun mot important en commun. Avec les embeddings, à droite, il y a plus de nuances : beaucoup de livres ont une ressemblance moyenne, parce que le modèle regarde le sens général.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l’évaluation, j’utilise 12 requêtes de test et trois mesures. Precision@10 : sur 10 résultats, combien sont bons. Recall@10 : parmi tous les bons livres, combien on en trouve. MAP@10 : comme la précision, mais l’ordre compte. Un bon livre en haut de la liste vaut plus. Les embeddings sont meilleurs sur les trois mesures. La précision passe de 0,63 à 0,73, et le MAP de 0,55 à 0,69. Je dois être honnête : la liste des livres pertinents est pré-annotée avec des mots-clés, et j’en parle dans les limites.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l’application. Elle est faite avec Streamlit. On écrit une recherche, on choisit la méthode, TF-IDF ou embeddings, on choisit le nombre de résultats, de 1 à 15, et on clique sur Rechercher. Pour la lancer, on utilise la commande en bas de la diapositive. Je fais maintenant une petite démonstration avec la requête : « a fantasy adventure with dragons and magic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 projet a des limites, et je préfère les dire. Un : les livres pertinents sont pré-annotés avec des mots-clés, pas à la main. Le sujet demande une annotation manuelle, donc c’est une première amélioration. Deux : le Recall est calculé sur un groupe de candidats. Trois : il reste des doublons de titres. Quatre : seulement 12 requêtes de test, et des livres en anglais. Pour la suite, je propose une recherche en deux temps : TF-IDF rapide d’abord, puis un reclassement avec les embeddings sur les 50 meilleurs livres.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TF-IDF est très rapide, et il marche bien quand la requête contient les mots exacts du résumé. Les embeddings comprennent le sens, même sans mot en commun. Dans mes tests, ils gagnent : 0,69 de MAP@10 contre 0,55. Une bonne suite serait de combiner les deux méthodes. Merci pour votre attention. Je suis prêt pour vos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6766560" cy="1280160"/>
          </a:xfrm>
          <a:prstGeom prst="rect">
            <a:avLst/>
          </a:prstGeom>
          <a:noFill/>
          <a:ln/>
        </p:spPr>
        <p:txBody>
          <a:bodyPr wrap="square" rtlCol="0"/>
          <a:lstStyle>
            <a:lvl1pPr marL="0" indent="0" algn="l">
              <a:buNone/>
              <a:defRPr lang="en-US" sz="6000" b="1" dirty="0">
                <a:solidFill>
                  <a:schemeClr val="bg1"/>
                </a:solidFill>
              </a:defRPr>
            </a:lvl1pPr>
          </a:lstStyle>
          <a:p>
            <a:pPr marL="0" indent="0" algn="l">
              <a:buNone/>
            </a:pPr>
            <a:endParaRPr lang="en-US" sz="6000" dirty="0"/>
          </a:p>
        </p:txBody>
      </p:sp>
      <p:sp>
        <p:nvSpPr>
          <p:cNvPr id="3" name="Text 0"/>
          <p:cNvSpPr>
            <a:spLocks noGrp="1"/>
          </p:cNvSpPr>
          <p:nvPr>
            <p:ph type="body" idx="101" hasCustomPrompt="1"/>
          </p:nvPr>
        </p:nvSpPr>
        <p:spPr>
          <a:xfrm>
            <a:off x="731520" y="3108960"/>
            <a:ext cx="6583680" cy="1005840"/>
          </a:xfrm>
          <a:prstGeom prst="rect">
            <a:avLst/>
          </a:prstGeom>
          <a:noFill/>
          <a:ln/>
        </p:spPr>
        <p:txBody>
          <a:bodyPr wrap="square" rtlCol="0"/>
          <a:lstStyle>
            <a:lvl1pPr marL="0" indent="0" algn="l">
              <a:buNone/>
              <a:defRPr lang="en-US" sz="2200" dirty="0">
                <a:solidFill>
                  <a:schemeClr val="accent5"/>
                </a:solidFill>
              </a:defRPr>
            </a:lvl1pPr>
          </a:lstStyle>
          <a:p>
            <a:pPr marL="0" indent="0" algn="l">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3" name="Text 0"/>
          <p:cNvSpPr txBox="1"/>
          <p:nvPr/>
        </p:nvSpPr>
        <p:spPr>
          <a:xfrm>
            <a:off x="548640" y="6446520"/>
            <a:ext cx="6400800" cy="274320"/>
          </a:xfrm>
          <a:prstGeom prst="rect">
            <a:avLst/>
          </a:prstGeom>
          <a:noFill/>
          <a:ln/>
        </p:spPr>
        <p:txBody>
          <a:bodyPr wrap="square" lIns="0" tIns="0" rIns="0" bIns="0" rtlCol="0" anchor="ctr"/>
          <a:lstStyle/>
          <a:p>
            <a:pPr marL="0" indent="0">
              <a:buNone/>
            </a:pPr>
            <a:r>
              <a:rPr lang="en-US" sz="1000" dirty="0">
                <a:solidFill>
                  <a:schemeClr val="accent6"/>
                </a:solidFill>
              </a:rPr>
              <a:t>BookFinder · Projet 7 · El Mahdi BOUDERNA</a:t>
            </a:r>
            <a:endParaRPr lang="en-US" sz="1000" dirty="0"/>
          </a:p>
        </p:txBody>
      </p:sp>
      <p:sp>
        <p:nvSpPr>
          <p:cNvPr id="25" name="Slide Number Placeholder 0"/>
          <p:cNvSpPr>
            <a:spLocks noGrp="1"/>
          </p:cNvSpPr>
          <p:nvPr>
            <p:ph type="sldNum" sz="quarter" idx="4294967295"/>
          </p:nvPr>
        </p:nvSpPr>
        <p:spPr>
          <a:xfrm>
            <a:off x="11137392"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3" name="Text 0"/>
          <p:cNvSpPr txBox="1"/>
          <p:nvPr/>
        </p:nvSpPr>
        <p:spPr>
          <a:xfrm>
            <a:off x="548640" y="6446520"/>
            <a:ext cx="6400800" cy="274320"/>
          </a:xfrm>
          <a:prstGeom prst="rect">
            <a:avLst/>
          </a:prstGeom>
          <a:noFill/>
          <a:ln/>
        </p:spPr>
        <p:txBody>
          <a:bodyPr wrap="square" lIns="0" tIns="0" rIns="0" bIns="0" rtlCol="0" anchor="ctr"/>
          <a:lstStyle/>
          <a:p>
            <a:pPr marL="0" indent="0">
              <a:buNone/>
            </a:pPr>
            <a:r>
              <a:rPr lang="en-US" sz="1000" dirty="0">
                <a:solidFill>
                  <a:schemeClr val="accent5"/>
                </a:solidFill>
              </a:rPr>
              <a:t>BookFinder · Projet 7 · El Mahdi BOUDERNA</a:t>
            </a:r>
            <a:endParaRPr lang="en-US" sz="1000" dirty="0"/>
          </a:p>
        </p:txBody>
      </p:sp>
      <p:sp>
        <p:nvSpPr>
          <p:cNvPr id="25" name="Slide Number Placeholder 0"/>
          <p:cNvSpPr>
            <a:spLocks noGrp="1"/>
          </p:cNvSpPr>
          <p:nvPr>
            <p:ph type="sldNum" sz="quarter" idx="4294967295"/>
          </p:nvPr>
        </p:nvSpPr>
        <p:spPr>
          <a:xfrm>
            <a:off x="11137392"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AutoShape 32">
            <a:extLst>
              <a:ext uri="{FF2B5EF4-FFF2-40B4-BE49-F238E27FC236}">
                <a16:creationId xmlns:a16="http://schemas.microsoft.com/office/drawing/2014/main" id="{88C43D96-31F2-AD44-070F-B03881F50FEB}"/>
              </a:ext>
            </a:extLst>
          </p:cNvPr>
          <p:cNvSpPr>
            <a:spLocks noChangeArrowheads="1"/>
          </p:cNvSpPr>
          <p:nvPr userDrawn="1"/>
        </p:nvSpPr>
        <p:spPr bwMode="auto">
          <a:xfrm>
            <a:off x="1773768" y="2781301"/>
            <a:ext cx="8691033" cy="1800225"/>
          </a:xfrm>
          <a:prstGeom prst="flowChartAlternateProcess">
            <a:avLst/>
          </a:prstGeom>
          <a:noFill/>
          <a:ln w="9525">
            <a:solidFill>
              <a:schemeClr val="bg2"/>
            </a:solidFill>
            <a:miter lim="800000"/>
            <a:headEnd/>
            <a:tailEnd/>
          </a:ln>
          <a:effectLst>
            <a:prstShdw prst="shdw17" dist="17961" dir="13500000">
              <a:srgbClr val="6C89DA">
                <a:alpha val="74997"/>
              </a:srgbClr>
            </a:prstShdw>
          </a:effectLst>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defRPr/>
            </a:pPr>
            <a:endParaRPr lang="fr-FR" altLang="fr-FR" sz="1400"/>
          </a:p>
        </p:txBody>
      </p:sp>
      <p:pic>
        <p:nvPicPr>
          <p:cNvPr id="3" name="Picture 51">
            <a:extLst>
              <a:ext uri="{FF2B5EF4-FFF2-40B4-BE49-F238E27FC236}">
                <a16:creationId xmlns:a16="http://schemas.microsoft.com/office/drawing/2014/main" id="{C7CB2C37-9BA3-B398-E397-4DDCF840F7D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54101" y="2420938"/>
            <a:ext cx="3071284"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53">
            <a:extLst>
              <a:ext uri="{FF2B5EF4-FFF2-40B4-BE49-F238E27FC236}">
                <a16:creationId xmlns:a16="http://schemas.microsoft.com/office/drawing/2014/main" id="{4A641D59-8D4E-2A33-4756-21801AA885BD}"/>
              </a:ext>
            </a:extLst>
          </p:cNvPr>
          <p:cNvSpPr>
            <a:spLocks noChangeArrowheads="1"/>
          </p:cNvSpPr>
          <p:nvPr userDrawn="1"/>
        </p:nvSpPr>
        <p:spPr bwMode="auto">
          <a:xfrm>
            <a:off x="0" y="165100"/>
            <a:ext cx="12192000" cy="717550"/>
          </a:xfrm>
          <a:prstGeom prst="rect">
            <a:avLst/>
          </a:prstGeom>
          <a:gradFill rotWithShape="1">
            <a:gsLst>
              <a:gs pos="0">
                <a:srgbClr val="FFFFFF"/>
              </a:gs>
              <a:gs pos="50000">
                <a:srgbClr val="C1D6FF"/>
              </a:gs>
              <a:gs pos="100000">
                <a:srgbClr val="FFFFFF"/>
              </a:gs>
            </a:gsLst>
            <a:lin ang="108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defRPr/>
            </a:pPr>
            <a:endParaRPr lang="fr-FR" altLang="fr-FR" sz="1400">
              <a:cs typeface="Arial" panose="020B0604020202020204" pitchFamily="34" charset="0"/>
            </a:endParaRPr>
          </a:p>
        </p:txBody>
      </p:sp>
      <p:pic>
        <p:nvPicPr>
          <p:cNvPr id="5" name="Image 4">
            <a:extLst>
              <a:ext uri="{FF2B5EF4-FFF2-40B4-BE49-F238E27FC236}">
                <a16:creationId xmlns:a16="http://schemas.microsoft.com/office/drawing/2014/main" id="{FA4EBE52-5F84-62CF-060E-52C693BF0F5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54000" y="125413"/>
            <a:ext cx="1399117"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ZoneTexte 5">
            <a:extLst>
              <a:ext uri="{FF2B5EF4-FFF2-40B4-BE49-F238E27FC236}">
                <a16:creationId xmlns:a16="http://schemas.microsoft.com/office/drawing/2014/main" id="{D9562CC4-A124-9247-EED5-262B16FBB621}"/>
              </a:ext>
            </a:extLst>
          </p:cNvPr>
          <p:cNvSpPr txBox="1">
            <a:spLocks noChangeArrowheads="1"/>
          </p:cNvSpPr>
          <p:nvPr userDrawn="1"/>
        </p:nvSpPr>
        <p:spPr bwMode="auto">
          <a:xfrm>
            <a:off x="4849284" y="6407150"/>
            <a:ext cx="2540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fld id="{4421754A-0AA5-49F7-8664-89AA3301C68B}" type="slidenum">
              <a:rPr lang="fr-FR" altLang="fr-FR" sz="1600"/>
              <a:pPr algn="ctr" eaLnBrk="1" hangingPunct="1"/>
              <a:t>‹N°›</a:t>
            </a:fld>
            <a:endParaRPr lang="fr-FR" altLang="fr-FR" sz="1600" dirty="0"/>
          </a:p>
        </p:txBody>
      </p:sp>
      <p:pic>
        <p:nvPicPr>
          <p:cNvPr id="7" name="Picture 17" descr="tri_logo">
            <a:extLst>
              <a:ext uri="{FF2B5EF4-FFF2-40B4-BE49-F238E27FC236}">
                <a16:creationId xmlns:a16="http://schemas.microsoft.com/office/drawing/2014/main" id="{29DF82C5-9CA6-C6CE-D2A2-C423E7D797FC}"/>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0769600" y="92075"/>
            <a:ext cx="1117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3">
            <a:extLst>
              <a:ext uri="{FF2B5EF4-FFF2-40B4-BE49-F238E27FC236}">
                <a16:creationId xmlns:a16="http://schemas.microsoft.com/office/drawing/2014/main" id="{8089C7DC-1ABF-8ADD-F2CD-1A601C9488A2}"/>
              </a:ext>
            </a:extLst>
          </p:cNvPr>
          <p:cNvSpPr>
            <a:spLocks noChangeArrowheads="1"/>
          </p:cNvSpPr>
          <p:nvPr userDrawn="1"/>
        </p:nvSpPr>
        <p:spPr bwMode="auto">
          <a:xfrm>
            <a:off x="3126318" y="152400"/>
            <a:ext cx="5922433" cy="700088"/>
          </a:xfrm>
          <a:prstGeom prst="rect">
            <a:avLst/>
          </a:prstGeom>
          <a:noFill/>
          <a:ln w="9525">
            <a:noFill/>
            <a:miter lim="800000"/>
            <a:headEnd/>
            <a:tailEnd/>
          </a:ln>
          <a:effectLst/>
        </p:spPr>
        <p:txBody>
          <a:bodyPr anchor="ctr"/>
          <a:lstStyle/>
          <a:p>
            <a:pPr algn="ctr" eaLnBrk="1" fontAlgn="auto" hangingPunct="1">
              <a:spcBef>
                <a:spcPts val="0"/>
              </a:spcBef>
              <a:spcAft>
                <a:spcPts val="0"/>
              </a:spcAft>
              <a:tabLst>
                <a:tab pos="5943600" algn="r"/>
              </a:tabLst>
              <a:defRPr/>
            </a:pPr>
            <a:r>
              <a:rPr lang="fr-FR" sz="1000" dirty="0">
                <a:solidFill>
                  <a:srgbClr val="1321A1"/>
                </a:solidFill>
                <a:latin typeface="Arial Unicode MS" pitchFamily="34" charset="-128"/>
                <a:ea typeface="Times New Roman" pitchFamily="18" charset="0"/>
                <a:cs typeface="Arial Unicode MS" pitchFamily="34" charset="-128"/>
              </a:rPr>
              <a:t>Ecole Nationale des Sciences Appliquées d’El Jadida </a:t>
            </a:r>
          </a:p>
          <a:p>
            <a:pPr algn="ctr" eaLnBrk="1" fontAlgn="auto" hangingPunct="1">
              <a:spcBef>
                <a:spcPts val="0"/>
              </a:spcBef>
              <a:spcAft>
                <a:spcPts val="0"/>
              </a:spcAft>
              <a:tabLst>
                <a:tab pos="5943600" algn="r"/>
              </a:tabLst>
              <a:defRPr/>
            </a:pPr>
            <a:r>
              <a:rPr lang="fr-FR" sz="1000" dirty="0">
                <a:solidFill>
                  <a:srgbClr val="1321A1"/>
                </a:solidFill>
                <a:latin typeface="Arial Unicode MS" pitchFamily="34" charset="-128"/>
                <a:ea typeface="Times New Roman" pitchFamily="18" charset="0"/>
                <a:cs typeface="Arial Unicode MS" pitchFamily="34" charset="-128"/>
              </a:rPr>
              <a:t>Département  Télécommunications, Réseaux et Informatique</a:t>
            </a:r>
          </a:p>
          <a:p>
            <a:pPr algn="ctr" eaLnBrk="1" fontAlgn="auto" hangingPunct="1">
              <a:spcBef>
                <a:spcPts val="0"/>
              </a:spcBef>
              <a:spcAft>
                <a:spcPts val="0"/>
              </a:spcAft>
              <a:tabLst>
                <a:tab pos="5943600" algn="r"/>
              </a:tabLst>
              <a:defRPr/>
            </a:pPr>
            <a:r>
              <a:rPr lang="fr-FR" sz="1000" dirty="0">
                <a:solidFill>
                  <a:srgbClr val="1321A1"/>
                </a:solidFill>
                <a:latin typeface="Arial Unicode MS" pitchFamily="34" charset="-128"/>
                <a:ea typeface="Times New Roman" pitchFamily="18" charset="0"/>
                <a:cs typeface="Arial Unicode MS" pitchFamily="34" charset="-128"/>
              </a:rPr>
              <a:t>Projets de fin d’année</a:t>
            </a:r>
          </a:p>
          <a:p>
            <a:pPr algn="ctr" eaLnBrk="1" fontAlgn="auto" hangingPunct="1">
              <a:spcBef>
                <a:spcPts val="0"/>
              </a:spcBef>
              <a:spcAft>
                <a:spcPts val="0"/>
              </a:spcAft>
              <a:tabLst>
                <a:tab pos="5943600" algn="r"/>
              </a:tabLst>
              <a:defRPr/>
            </a:pPr>
            <a:r>
              <a:rPr lang="fr-FR" sz="1050" dirty="0">
                <a:solidFill>
                  <a:srgbClr val="1321A1"/>
                </a:solidFill>
                <a:latin typeface="Arial Unicode MS" pitchFamily="34" charset="-128"/>
                <a:ea typeface="Times New Roman" pitchFamily="18" charset="0"/>
                <a:cs typeface="Arial Unicode MS" pitchFamily="34" charset="-128"/>
              </a:rPr>
              <a:t>Année universitaire : 20…-20…</a:t>
            </a:r>
          </a:p>
        </p:txBody>
      </p:sp>
    </p:spTree>
    <p:extLst>
      <p:ext uri="{BB962C8B-B14F-4D97-AF65-F5344CB8AC3E}">
        <p14:creationId xmlns:p14="http://schemas.microsoft.com/office/powerpoint/2010/main" val="23854269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37392"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jp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28.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53">
            <a:extLst>
              <a:ext uri="{FF2B5EF4-FFF2-40B4-BE49-F238E27FC236}">
                <a16:creationId xmlns:a16="http://schemas.microsoft.com/office/drawing/2014/main" id="{A6F6BA0E-8282-CD05-1ACA-C6A37F4E3D3A}"/>
              </a:ext>
            </a:extLst>
          </p:cNvPr>
          <p:cNvSpPr>
            <a:spLocks noChangeArrowheads="1"/>
          </p:cNvSpPr>
          <p:nvPr/>
        </p:nvSpPr>
        <p:spPr bwMode="auto">
          <a:xfrm>
            <a:off x="381965" y="5149851"/>
            <a:ext cx="11146420" cy="1184453"/>
          </a:xfrm>
          <a:prstGeom prst="rect">
            <a:avLst/>
          </a:prstGeom>
          <a:gradFill rotWithShape="1">
            <a:gsLst>
              <a:gs pos="0">
                <a:srgbClr val="FFFFFF"/>
              </a:gs>
              <a:gs pos="50000">
                <a:srgbClr val="C1D6FF"/>
              </a:gs>
              <a:gs pos="100000">
                <a:srgbClr val="FFFFFF"/>
              </a:gs>
            </a:gsLst>
            <a:lin ang="108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buClrTx/>
            </a:pPr>
            <a:endParaRPr lang="fr-FR" altLang="fr-FR" sz="1800" kern="1200">
              <a:solidFill>
                <a:srgbClr val="262626"/>
              </a:solidFill>
              <a:ea typeface="+mn-ea"/>
              <a:cs typeface="Arial" panose="020B0604020202020204" pitchFamily="34" charset="0"/>
            </a:endParaRPr>
          </a:p>
        </p:txBody>
      </p:sp>
      <p:sp>
        <p:nvSpPr>
          <p:cNvPr id="2069" name="Text Box 21">
            <a:extLst>
              <a:ext uri="{FF2B5EF4-FFF2-40B4-BE49-F238E27FC236}">
                <a16:creationId xmlns:a16="http://schemas.microsoft.com/office/drawing/2014/main" id="{9CAA2508-5A4D-2883-FE07-B6B40ACA1560}"/>
              </a:ext>
            </a:extLst>
          </p:cNvPr>
          <p:cNvSpPr txBox="1">
            <a:spLocks noChangeArrowheads="1"/>
          </p:cNvSpPr>
          <p:nvPr/>
        </p:nvSpPr>
        <p:spPr bwMode="auto">
          <a:xfrm>
            <a:off x="2905125" y="1295400"/>
            <a:ext cx="6381750" cy="1077218"/>
          </a:xfrm>
          <a:prstGeom prst="rect">
            <a:avLst/>
          </a:prstGeom>
          <a:noFill/>
          <a:ln>
            <a:noFill/>
          </a:ln>
          <a:effectLst>
            <a:outerShdw blurRad="63500" dist="38099" dir="2700000" algn="ctr" rotWithShape="0">
              <a:schemeClr val="bg2">
                <a:alpha val="50000"/>
              </a:schemeClr>
            </a:outerShdw>
          </a:effectLst>
          <a:extLst>
            <a:ext uri="{909E8E84-426E-40dd-AFC4-6F175D3DCCD1}"/>
            <a:ext uri="{91240B29-F687-4f45-9708-019B960494DF}"/>
          </a:extLst>
        </p:spPr>
        <p:txBody>
          <a:bodyPr>
            <a:spAutoFit/>
          </a:bodyPr>
          <a:lstStyle/>
          <a:p>
            <a:pPr algn="ctr">
              <a:buClrTx/>
              <a:defRPr/>
            </a:pPr>
            <a:r>
              <a:rPr lang="fr-FR" sz="2400" b="1" kern="1200" dirty="0">
                <a:solidFill>
                  <a:srgbClr val="262626"/>
                </a:solidFill>
                <a:latin typeface="Calibri"/>
                <a:ea typeface="+mn-ea"/>
                <a:cs typeface="+mn-cs"/>
              </a:rPr>
              <a:t>Mini Projet de </a:t>
            </a:r>
          </a:p>
          <a:p>
            <a:pPr algn="ctr">
              <a:buClrTx/>
              <a:defRPr/>
            </a:pPr>
            <a:r>
              <a:rPr lang="fr-FR" sz="2400" b="1" kern="1200" dirty="0">
                <a:solidFill>
                  <a:srgbClr val="262626"/>
                </a:solidFill>
                <a:latin typeface="Calibri"/>
                <a:ea typeface="+mn-ea"/>
                <a:cs typeface="+mn-cs"/>
              </a:rPr>
              <a:t>Traitement du langage</a:t>
            </a:r>
          </a:p>
          <a:p>
            <a:pPr algn="ctr">
              <a:buClrTx/>
              <a:defRPr/>
            </a:pPr>
            <a:r>
              <a:rPr lang="fr-FR" sz="1600" kern="1200" dirty="0">
                <a:solidFill>
                  <a:srgbClr val="262626"/>
                </a:solidFill>
                <a:latin typeface="Calibri"/>
                <a:ea typeface="+mn-ea"/>
                <a:cs typeface="+mn-cs"/>
              </a:rPr>
              <a:t>En Master Sciences des Données &amp; Intelligence Artificielle</a:t>
            </a:r>
          </a:p>
        </p:txBody>
      </p:sp>
      <p:sp>
        <p:nvSpPr>
          <p:cNvPr id="4100" name="Text Box 28">
            <a:extLst>
              <a:ext uri="{FF2B5EF4-FFF2-40B4-BE49-F238E27FC236}">
                <a16:creationId xmlns:a16="http://schemas.microsoft.com/office/drawing/2014/main" id="{94D9A4B4-0EB3-E28C-201B-6DB7155A4ECF}"/>
              </a:ext>
            </a:extLst>
          </p:cNvPr>
          <p:cNvSpPr txBox="1">
            <a:spLocks noChangeArrowheads="1"/>
          </p:cNvSpPr>
          <p:nvPr/>
        </p:nvSpPr>
        <p:spPr bwMode="auto">
          <a:xfrm>
            <a:off x="1719264" y="5133975"/>
            <a:ext cx="35385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buClrTx/>
            </a:pPr>
            <a:r>
              <a:rPr lang="fr-FR" altLang="fr-FR" sz="1800" i="1" kern="1200" dirty="0">
                <a:solidFill>
                  <a:srgbClr val="262626"/>
                </a:solidFill>
                <a:ea typeface="+mn-ea"/>
                <a:cs typeface="Times New Roman" panose="02020603050405020304" pitchFamily="18" charset="0"/>
              </a:rPr>
              <a:t>réalisé par:</a:t>
            </a:r>
          </a:p>
          <a:p>
            <a:pPr fontAlgn="base">
              <a:spcBef>
                <a:spcPct val="0"/>
              </a:spcBef>
              <a:spcAft>
                <a:spcPct val="0"/>
              </a:spcAft>
              <a:buClrTx/>
            </a:pPr>
            <a:r>
              <a:rPr lang="en-US" sz="1800" b="1" i="1" kern="1200" dirty="0">
                <a:solidFill>
                  <a:srgbClr val="1321A1"/>
                </a:solidFill>
                <a:ea typeface="+mn-ea"/>
                <a:cs typeface="Times New Roman" panose="02020603050405020304" pitchFamily="18" charset="0"/>
              </a:rPr>
              <a:t>EL MAHDI BOUDERNA</a:t>
            </a:r>
          </a:p>
        </p:txBody>
      </p:sp>
      <p:sp>
        <p:nvSpPr>
          <p:cNvPr id="4101" name="Text Box 30">
            <a:extLst>
              <a:ext uri="{FF2B5EF4-FFF2-40B4-BE49-F238E27FC236}">
                <a16:creationId xmlns:a16="http://schemas.microsoft.com/office/drawing/2014/main" id="{E6ECCDA7-8B62-9D68-9492-4D73CD487088}"/>
              </a:ext>
            </a:extLst>
          </p:cNvPr>
          <p:cNvSpPr txBox="1">
            <a:spLocks noChangeArrowheads="1"/>
          </p:cNvSpPr>
          <p:nvPr/>
        </p:nvSpPr>
        <p:spPr bwMode="auto">
          <a:xfrm>
            <a:off x="7620000" y="5133975"/>
            <a:ext cx="28956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r" fontAlgn="base">
              <a:spcBef>
                <a:spcPct val="0"/>
              </a:spcBef>
              <a:spcAft>
                <a:spcPct val="0"/>
              </a:spcAft>
              <a:buClrTx/>
            </a:pPr>
            <a:r>
              <a:rPr lang="fr-FR" altLang="fr-FR" sz="1800" i="1" kern="1200" dirty="0">
                <a:solidFill>
                  <a:srgbClr val="262626"/>
                </a:solidFill>
                <a:ea typeface="+mn-ea"/>
                <a:cs typeface="Times New Roman" panose="02020603050405020304" pitchFamily="18" charset="0"/>
              </a:rPr>
              <a:t>Sous l’encadrement du :</a:t>
            </a:r>
            <a:endParaRPr lang="fr-FR" altLang="fr-FR" sz="1600" i="1" kern="1200" dirty="0">
              <a:solidFill>
                <a:srgbClr val="262626"/>
              </a:solidFill>
              <a:ea typeface="+mn-ea"/>
              <a:cs typeface="Times New Roman" panose="02020603050405020304" pitchFamily="18" charset="0"/>
            </a:endParaRPr>
          </a:p>
          <a:p>
            <a:pPr algn="r" fontAlgn="base">
              <a:spcBef>
                <a:spcPct val="0"/>
              </a:spcBef>
              <a:spcAft>
                <a:spcPct val="0"/>
              </a:spcAft>
              <a:buClrTx/>
            </a:pPr>
            <a:r>
              <a:rPr lang="fr-FR" altLang="fr-FR" sz="1800" b="1" i="1" kern="1200" dirty="0">
                <a:solidFill>
                  <a:srgbClr val="1321A1"/>
                </a:solidFill>
                <a:ea typeface="+mn-ea"/>
                <a:cs typeface="Times New Roman" panose="02020603050405020304" pitchFamily="18" charset="0"/>
              </a:rPr>
              <a:t>Doc. </a:t>
            </a:r>
            <a:r>
              <a:rPr lang="fr-FR" altLang="fr-FR" sz="1800" b="1" i="1" kern="1200" dirty="0" err="1">
                <a:solidFill>
                  <a:srgbClr val="1321A1"/>
                </a:solidFill>
                <a:ea typeface="+mn-ea"/>
                <a:cs typeface="Times New Roman" panose="02020603050405020304" pitchFamily="18" charset="0"/>
              </a:rPr>
              <a:t>Belfrouh</a:t>
            </a:r>
            <a:r>
              <a:rPr lang="fr-FR" altLang="fr-FR" sz="2000" b="1" i="1" kern="1200" dirty="0">
                <a:solidFill>
                  <a:srgbClr val="1321A1"/>
                </a:solidFill>
                <a:ea typeface="+mn-ea"/>
                <a:cs typeface="Times New Roman" panose="02020603050405020304" pitchFamily="18" charset="0"/>
              </a:rPr>
              <a:t>	</a:t>
            </a:r>
            <a:r>
              <a:rPr lang="fr-FR" altLang="fr-FR" sz="1600" b="1" i="1" kern="1200" dirty="0">
                <a:solidFill>
                  <a:srgbClr val="1321A1"/>
                </a:solidFill>
                <a:ea typeface="+mn-ea"/>
                <a:cs typeface="Times New Roman" panose="02020603050405020304" pitchFamily="18" charset="0"/>
              </a:rPr>
              <a:t>	</a:t>
            </a:r>
          </a:p>
        </p:txBody>
      </p:sp>
      <p:sp>
        <p:nvSpPr>
          <p:cNvPr id="4102" name="TextBox 3">
            <a:extLst>
              <a:ext uri="{FF2B5EF4-FFF2-40B4-BE49-F238E27FC236}">
                <a16:creationId xmlns:a16="http://schemas.microsoft.com/office/drawing/2014/main" id="{5A243403-69F4-7661-2137-1A66369BB289}"/>
              </a:ext>
            </a:extLst>
          </p:cNvPr>
          <p:cNvSpPr txBox="1">
            <a:spLocks noChangeArrowheads="1"/>
          </p:cNvSpPr>
          <p:nvPr/>
        </p:nvSpPr>
        <p:spPr bwMode="auto">
          <a:xfrm>
            <a:off x="1697832" y="2791678"/>
            <a:ext cx="8796335" cy="135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buClrTx/>
            </a:pPr>
            <a:r>
              <a:rPr lang="fr-FR" altLang="fr-FR" sz="2600" b="1" kern="1200" dirty="0">
                <a:ea typeface="+mn-ea"/>
                <a:cs typeface="+mn-cs"/>
              </a:rPr>
              <a:t>	</a:t>
            </a:r>
          </a:p>
          <a:p>
            <a:pPr algn="ctr" fontAlgn="base">
              <a:spcBef>
                <a:spcPct val="0"/>
              </a:spcBef>
              <a:spcAft>
                <a:spcPct val="0"/>
              </a:spcAft>
            </a:pPr>
            <a:r>
              <a:rPr lang="en-US" sz="2800" b="1" dirty="0" err="1"/>
              <a:t>BookFinder</a:t>
            </a:r>
            <a:r>
              <a:rPr lang="en-US" sz="2800" b="1" dirty="0"/>
              <a:t> : </a:t>
            </a:r>
            <a:r>
              <a:rPr lang="en-US" sz="2800" dirty="0"/>
              <a:t>Un </a:t>
            </a:r>
            <a:r>
              <a:rPr lang="en-US" sz="2800" dirty="0" err="1"/>
              <a:t>moteur</a:t>
            </a:r>
            <a:r>
              <a:rPr lang="en-US" sz="2800" dirty="0"/>
              <a:t> de recherche qui </a:t>
            </a:r>
            <a:r>
              <a:rPr lang="en-US" sz="2800" dirty="0" err="1"/>
              <a:t>comprend</a:t>
            </a:r>
            <a:r>
              <a:rPr lang="en-US" sz="2800" dirty="0"/>
              <a:t> le </a:t>
            </a:r>
            <a:r>
              <a:rPr lang="en-US" sz="2800" dirty="0" err="1"/>
              <a:t>sens</a:t>
            </a:r>
            <a:r>
              <a:rPr lang="en-US" sz="2800" dirty="0"/>
              <a:t> des phrases</a:t>
            </a:r>
            <a:endParaRPr lang="fr-FR" altLang="fr-FR" sz="2600" kern="1200" dirty="0">
              <a:ea typeface="+mn-ea"/>
              <a:cs typeface="+mn-cs"/>
            </a:endParaRPr>
          </a:p>
        </p:txBody>
      </p:sp>
      <p:sp>
        <p:nvSpPr>
          <p:cNvPr id="4" name="Rectangle 53">
            <a:extLst>
              <a:ext uri="{FF2B5EF4-FFF2-40B4-BE49-F238E27FC236}">
                <a16:creationId xmlns:a16="http://schemas.microsoft.com/office/drawing/2014/main" id="{AB92B1E0-C320-9097-C1F8-57D24F7B66C7}"/>
              </a:ext>
            </a:extLst>
          </p:cNvPr>
          <p:cNvSpPr>
            <a:spLocks noChangeArrowheads="1"/>
          </p:cNvSpPr>
          <p:nvPr/>
        </p:nvSpPr>
        <p:spPr bwMode="auto">
          <a:xfrm>
            <a:off x="1719263" y="169753"/>
            <a:ext cx="9046707" cy="707886"/>
          </a:xfrm>
          <a:prstGeom prst="rect">
            <a:avLst/>
          </a:prstGeom>
          <a:gradFill rotWithShape="1">
            <a:gsLst>
              <a:gs pos="0">
                <a:srgbClr val="FFFFFF"/>
              </a:gs>
              <a:gs pos="50000">
                <a:srgbClr val="C1D6FF"/>
              </a:gs>
              <a:gs pos="100000">
                <a:srgbClr val="FFFFFF"/>
              </a:gs>
            </a:gsLst>
            <a:lin ang="108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buClrTx/>
            </a:pPr>
            <a:endParaRPr lang="fr-FR" altLang="fr-FR" sz="1800" kern="1200">
              <a:solidFill>
                <a:srgbClr val="262626"/>
              </a:solidFill>
              <a:ea typeface="+mn-ea"/>
              <a:cs typeface="Arial" panose="020B0604020202020204" pitchFamily="34" charset="0"/>
            </a:endParaRPr>
          </a:p>
        </p:txBody>
      </p:sp>
      <p:sp>
        <p:nvSpPr>
          <p:cNvPr id="5" name="TextBox 4">
            <a:extLst>
              <a:ext uri="{FF2B5EF4-FFF2-40B4-BE49-F238E27FC236}">
                <a16:creationId xmlns:a16="http://schemas.microsoft.com/office/drawing/2014/main" id="{D66D79C4-6E1C-C396-BDA8-B37AEDF9F581}"/>
              </a:ext>
            </a:extLst>
          </p:cNvPr>
          <p:cNvSpPr txBox="1"/>
          <p:nvPr/>
        </p:nvSpPr>
        <p:spPr>
          <a:xfrm>
            <a:off x="4036786" y="169753"/>
            <a:ext cx="4184347" cy="738664"/>
          </a:xfrm>
          <a:prstGeom prst="rect">
            <a:avLst/>
          </a:prstGeom>
          <a:noFill/>
        </p:spPr>
        <p:txBody>
          <a:bodyPr wrap="square" rtlCol="0">
            <a:spAutoFit/>
          </a:bodyPr>
          <a:lstStyle/>
          <a:p>
            <a:pPr algn="ctr"/>
            <a:r>
              <a:rPr lang="fr-FR" sz="1050" dirty="0">
                <a:solidFill>
                  <a:srgbClr val="1321A1"/>
                </a:solidFill>
              </a:rPr>
              <a:t>Ecole Nationale des Sciences Appliquées d’El Jadida </a:t>
            </a:r>
          </a:p>
          <a:p>
            <a:pPr algn="ctr"/>
            <a:r>
              <a:rPr lang="fr-FR" sz="1050" dirty="0">
                <a:solidFill>
                  <a:srgbClr val="1321A1"/>
                </a:solidFill>
              </a:rPr>
              <a:t>Département Télécommunications, Réseaux et Informatique</a:t>
            </a:r>
          </a:p>
          <a:p>
            <a:pPr algn="ctr"/>
            <a:r>
              <a:rPr lang="fr-FR" sz="1050" dirty="0">
                <a:solidFill>
                  <a:srgbClr val="1321A1"/>
                </a:solidFill>
              </a:rPr>
              <a:t>Projets de fin d’année</a:t>
            </a:r>
          </a:p>
          <a:p>
            <a:pPr algn="ctr"/>
            <a:r>
              <a:rPr lang="fr-FR" sz="1050" dirty="0">
                <a:solidFill>
                  <a:srgbClr val="1321A1"/>
                </a:solidFill>
              </a:rPr>
              <a:t>Année universitaire: 2025-2026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400" b="1" dirty="0">
                <a:solidFill>
                  <a:schemeClr val="tx1"/>
                </a:solidFill>
              </a:rPr>
              <a:t>Trouver un livre sans son titre</a:t>
            </a:r>
            <a:endParaRPr lang="en-US" sz="3400" dirty="0"/>
          </a:p>
        </p:txBody>
      </p:sp>
      <p:sp>
        <p:nvSpPr>
          <p:cNvPr id="3" name="Carte Le problème"/>
          <p:cNvSpPr/>
          <p:nvPr/>
        </p:nvSpPr>
        <p:spPr>
          <a:xfrm>
            <a:off x="548640" y="1463040"/>
            <a:ext cx="5394960" cy="1417320"/>
          </a:xfrm>
          <a:prstGeom prst="roundRect">
            <a:avLst>
              <a:gd name="adj" fmla="val 9677"/>
            </a:avLst>
          </a:prstGeom>
          <a:solidFill>
            <a:schemeClr val="bg2"/>
          </a:solidFill>
          <a:ln w="12700">
            <a:solidFill>
              <a:schemeClr val="bg2"/>
            </a:solidFill>
            <a:prstDash val="solid"/>
          </a:ln>
        </p:spPr>
      </p:sp>
      <p:sp>
        <p:nvSpPr>
          <p:cNvPr id="4" name="Icône Le problème cercle"/>
          <p:cNvSpPr/>
          <p:nvPr/>
        </p:nvSpPr>
        <p:spPr>
          <a:xfrm>
            <a:off x="777240" y="1810512"/>
            <a:ext cx="731520" cy="731520"/>
          </a:xfrm>
          <a:prstGeom prst="ellipse">
            <a:avLst/>
          </a:prstGeom>
          <a:solidFill>
            <a:schemeClr val="accent1"/>
          </a:solidFill>
          <a:ln w="12700">
            <a:solidFill>
              <a:schemeClr val="accent1"/>
            </a:solidFill>
            <a:prstDash val="solid"/>
          </a:ln>
        </p:spPr>
      </p:sp>
      <p:pic>
        <p:nvPicPr>
          <p:cNvPr id="5" name="Icône Le problème" descr="Icône Le problème"/>
          <p:cNvPicPr>
            <a:picLocks noChangeAspect="1"/>
          </p:cNvPicPr>
          <p:nvPr/>
        </p:nvPicPr>
        <p:blipFill>
          <a:blip r:embed="rId3"/>
          <a:stretch>
            <a:fillRect/>
          </a:stretch>
        </p:blipFill>
        <p:spPr>
          <a:xfrm>
            <a:off x="967435" y="2000707"/>
            <a:ext cx="351130" cy="351130"/>
          </a:xfrm>
          <a:prstGeom prst="rect">
            <a:avLst/>
          </a:prstGeom>
        </p:spPr>
      </p:pic>
      <p:sp>
        <p:nvSpPr>
          <p:cNvPr id="6" name="Titre Le problème"/>
          <p:cNvSpPr txBox="1"/>
          <p:nvPr/>
        </p:nvSpPr>
        <p:spPr>
          <a:xfrm>
            <a:off x="1737360" y="1664208"/>
            <a:ext cx="4023360" cy="365760"/>
          </a:xfrm>
          <a:prstGeom prst="rect">
            <a:avLst/>
          </a:prstGeom>
          <a:noFill/>
          <a:ln/>
        </p:spPr>
        <p:txBody>
          <a:bodyPr wrap="square" lIns="0" tIns="0" rIns="0" bIns="0" rtlCol="0" anchor="t"/>
          <a:lstStyle/>
          <a:p>
            <a:pPr marL="0" indent="0" algn="l">
              <a:buNone/>
            </a:pPr>
            <a:r>
              <a:rPr lang="en-US" sz="2000" b="1" dirty="0">
                <a:solidFill>
                  <a:schemeClr val="tx1"/>
                </a:solidFill>
              </a:rPr>
              <a:t>Le problème</a:t>
            </a:r>
            <a:endParaRPr lang="en-US" sz="2000" dirty="0"/>
          </a:p>
        </p:txBody>
      </p:sp>
      <p:sp>
        <p:nvSpPr>
          <p:cNvPr id="7" name="Texte Le problème"/>
          <p:cNvSpPr txBox="1"/>
          <p:nvPr/>
        </p:nvSpPr>
        <p:spPr>
          <a:xfrm>
            <a:off x="1737360" y="2103120"/>
            <a:ext cx="4023360" cy="685800"/>
          </a:xfrm>
          <a:prstGeom prst="rect">
            <a:avLst/>
          </a:prstGeom>
          <a:noFill/>
          <a:ln/>
        </p:spPr>
        <p:txBody>
          <a:bodyPr wrap="square" lIns="0" tIns="0" rIns="0" bIns="0" rtlCol="0" anchor="t"/>
          <a:lstStyle/>
          <a:p>
            <a:pPr marL="0" indent="0" algn="l">
              <a:buNone/>
            </a:pPr>
            <a:r>
              <a:rPr lang="en-US" sz="1600" dirty="0">
                <a:solidFill>
                  <a:schemeClr val="tx1"/>
                </a:solidFill>
              </a:rPr>
              <a:t>On se souvient de l’histoire, mais pas du titre.</a:t>
            </a:r>
            <a:endParaRPr lang="en-US" sz="1600" dirty="0"/>
          </a:p>
        </p:txBody>
      </p:sp>
      <p:sp>
        <p:nvSpPr>
          <p:cNvPr id="8" name="Carte Notre objectif"/>
          <p:cNvSpPr/>
          <p:nvPr/>
        </p:nvSpPr>
        <p:spPr>
          <a:xfrm>
            <a:off x="548640" y="3063240"/>
            <a:ext cx="5394960" cy="1417320"/>
          </a:xfrm>
          <a:prstGeom prst="roundRect">
            <a:avLst>
              <a:gd name="adj" fmla="val 9677"/>
            </a:avLst>
          </a:prstGeom>
          <a:solidFill>
            <a:schemeClr val="bg2"/>
          </a:solidFill>
          <a:ln w="12700">
            <a:solidFill>
              <a:schemeClr val="bg2"/>
            </a:solidFill>
            <a:prstDash val="solid"/>
          </a:ln>
        </p:spPr>
      </p:sp>
      <p:sp>
        <p:nvSpPr>
          <p:cNvPr id="9" name="Icône Notre objectif cercle"/>
          <p:cNvSpPr/>
          <p:nvPr/>
        </p:nvSpPr>
        <p:spPr>
          <a:xfrm>
            <a:off x="777240" y="3410712"/>
            <a:ext cx="731520" cy="731520"/>
          </a:xfrm>
          <a:prstGeom prst="ellipse">
            <a:avLst/>
          </a:prstGeom>
          <a:solidFill>
            <a:schemeClr val="accent1"/>
          </a:solidFill>
          <a:ln w="12700">
            <a:solidFill>
              <a:schemeClr val="accent1"/>
            </a:solidFill>
            <a:prstDash val="solid"/>
          </a:ln>
        </p:spPr>
      </p:sp>
      <p:pic>
        <p:nvPicPr>
          <p:cNvPr id="10" name="Icône Notre objectif" descr="Icône Notre objectif"/>
          <p:cNvPicPr>
            <a:picLocks noChangeAspect="1"/>
          </p:cNvPicPr>
          <p:nvPr/>
        </p:nvPicPr>
        <p:blipFill>
          <a:blip r:embed="rId4"/>
          <a:stretch>
            <a:fillRect/>
          </a:stretch>
        </p:blipFill>
        <p:spPr>
          <a:xfrm>
            <a:off x="967435" y="3600907"/>
            <a:ext cx="351130" cy="351130"/>
          </a:xfrm>
          <a:prstGeom prst="rect">
            <a:avLst/>
          </a:prstGeom>
        </p:spPr>
      </p:pic>
      <p:sp>
        <p:nvSpPr>
          <p:cNvPr id="11" name="Titre Notre objectif"/>
          <p:cNvSpPr txBox="1"/>
          <p:nvPr/>
        </p:nvSpPr>
        <p:spPr>
          <a:xfrm>
            <a:off x="1737360" y="3264408"/>
            <a:ext cx="4023360" cy="365760"/>
          </a:xfrm>
          <a:prstGeom prst="rect">
            <a:avLst/>
          </a:prstGeom>
          <a:noFill/>
          <a:ln/>
        </p:spPr>
        <p:txBody>
          <a:bodyPr wrap="square" lIns="0" tIns="0" rIns="0" bIns="0" rtlCol="0" anchor="t"/>
          <a:lstStyle/>
          <a:p>
            <a:pPr marL="0" indent="0" algn="l">
              <a:buNone/>
            </a:pPr>
            <a:r>
              <a:rPr lang="en-US" sz="2000" b="1" dirty="0">
                <a:solidFill>
                  <a:schemeClr val="tx1"/>
                </a:solidFill>
              </a:rPr>
              <a:t>Notre objectif</a:t>
            </a:r>
            <a:endParaRPr lang="en-US" sz="2000" dirty="0"/>
          </a:p>
        </p:txBody>
      </p:sp>
      <p:sp>
        <p:nvSpPr>
          <p:cNvPr id="12" name="Texte Notre objectif"/>
          <p:cNvSpPr txBox="1"/>
          <p:nvPr/>
        </p:nvSpPr>
        <p:spPr>
          <a:xfrm>
            <a:off x="1737360" y="3703320"/>
            <a:ext cx="4023360" cy="685800"/>
          </a:xfrm>
          <a:prstGeom prst="rect">
            <a:avLst/>
          </a:prstGeom>
          <a:noFill/>
          <a:ln/>
        </p:spPr>
        <p:txBody>
          <a:bodyPr wrap="square" lIns="0" tIns="0" rIns="0" bIns="0" rtlCol="0" anchor="t"/>
          <a:lstStyle/>
          <a:p>
            <a:pPr marL="0" indent="0" algn="l">
              <a:buNone/>
            </a:pPr>
            <a:r>
              <a:rPr lang="en-US" sz="1600" dirty="0">
                <a:solidFill>
                  <a:schemeClr val="tx1"/>
                </a:solidFill>
              </a:rPr>
              <a:t>Écrire une phrase et recevoir une liste de livres.</a:t>
            </a:r>
            <a:endParaRPr lang="en-US" sz="1600" dirty="0"/>
          </a:p>
        </p:txBody>
      </p:sp>
      <p:sp>
        <p:nvSpPr>
          <p:cNvPr id="13" name="Carte Notre idée"/>
          <p:cNvSpPr/>
          <p:nvPr/>
        </p:nvSpPr>
        <p:spPr>
          <a:xfrm>
            <a:off x="548640" y="4663440"/>
            <a:ext cx="5394960" cy="1417320"/>
          </a:xfrm>
          <a:prstGeom prst="roundRect">
            <a:avLst>
              <a:gd name="adj" fmla="val 9677"/>
            </a:avLst>
          </a:prstGeom>
          <a:solidFill>
            <a:schemeClr val="bg2"/>
          </a:solidFill>
          <a:ln w="12700">
            <a:solidFill>
              <a:schemeClr val="bg2"/>
            </a:solidFill>
            <a:prstDash val="solid"/>
          </a:ln>
        </p:spPr>
      </p:sp>
      <p:sp>
        <p:nvSpPr>
          <p:cNvPr id="14" name="Icône Notre idée cercle"/>
          <p:cNvSpPr/>
          <p:nvPr/>
        </p:nvSpPr>
        <p:spPr>
          <a:xfrm>
            <a:off x="777240" y="5010912"/>
            <a:ext cx="731520" cy="731520"/>
          </a:xfrm>
          <a:prstGeom prst="ellipse">
            <a:avLst/>
          </a:prstGeom>
          <a:solidFill>
            <a:schemeClr val="accent1"/>
          </a:solidFill>
          <a:ln w="12700">
            <a:solidFill>
              <a:schemeClr val="accent1"/>
            </a:solidFill>
            <a:prstDash val="solid"/>
          </a:ln>
        </p:spPr>
      </p:sp>
      <p:pic>
        <p:nvPicPr>
          <p:cNvPr id="15" name="Icône Notre idée" descr="Icône Notre idée"/>
          <p:cNvPicPr>
            <a:picLocks noChangeAspect="1"/>
          </p:cNvPicPr>
          <p:nvPr/>
        </p:nvPicPr>
        <p:blipFill>
          <a:blip r:embed="rId5"/>
          <a:stretch>
            <a:fillRect/>
          </a:stretch>
        </p:blipFill>
        <p:spPr>
          <a:xfrm>
            <a:off x="967435" y="5201107"/>
            <a:ext cx="351130" cy="351130"/>
          </a:xfrm>
          <a:prstGeom prst="rect">
            <a:avLst/>
          </a:prstGeom>
        </p:spPr>
      </p:pic>
      <p:sp>
        <p:nvSpPr>
          <p:cNvPr id="16" name="Titre Notre idée"/>
          <p:cNvSpPr txBox="1"/>
          <p:nvPr/>
        </p:nvSpPr>
        <p:spPr>
          <a:xfrm>
            <a:off x="1737360" y="4864608"/>
            <a:ext cx="4023360" cy="365760"/>
          </a:xfrm>
          <a:prstGeom prst="rect">
            <a:avLst/>
          </a:prstGeom>
          <a:noFill/>
          <a:ln/>
        </p:spPr>
        <p:txBody>
          <a:bodyPr wrap="square" lIns="0" tIns="0" rIns="0" bIns="0" rtlCol="0" anchor="t"/>
          <a:lstStyle/>
          <a:p>
            <a:pPr marL="0" indent="0" algn="l">
              <a:buNone/>
            </a:pPr>
            <a:r>
              <a:rPr lang="en-US" sz="2000" b="1" dirty="0">
                <a:solidFill>
                  <a:schemeClr val="tx1"/>
                </a:solidFill>
              </a:rPr>
              <a:t>Notre idée</a:t>
            </a:r>
            <a:endParaRPr lang="en-US" sz="2000" dirty="0"/>
          </a:p>
        </p:txBody>
      </p:sp>
      <p:sp>
        <p:nvSpPr>
          <p:cNvPr id="17" name="Texte Notre idée"/>
          <p:cNvSpPr txBox="1"/>
          <p:nvPr/>
        </p:nvSpPr>
        <p:spPr>
          <a:xfrm>
            <a:off x="1737360" y="5303520"/>
            <a:ext cx="4023360" cy="685800"/>
          </a:xfrm>
          <a:prstGeom prst="rect">
            <a:avLst/>
          </a:prstGeom>
          <a:noFill/>
          <a:ln/>
        </p:spPr>
        <p:txBody>
          <a:bodyPr wrap="square" lIns="0" tIns="0" rIns="0" bIns="0" rtlCol="0" anchor="t"/>
          <a:lstStyle/>
          <a:p>
            <a:pPr marL="0" indent="0" algn="l">
              <a:buNone/>
            </a:pPr>
            <a:r>
              <a:rPr lang="en-US" sz="1600" dirty="0">
                <a:solidFill>
                  <a:schemeClr val="tx1"/>
                </a:solidFill>
              </a:rPr>
              <a:t>Comparer deux méthodes : TF-IDF et embeddings.</a:t>
            </a:r>
            <a:endParaRPr lang="en-US" sz="1600" dirty="0"/>
          </a:p>
        </p:txBody>
      </p:sp>
      <p:sp>
        <p:nvSpPr>
          <p:cNvPr id="19" name="Barre de recherche"/>
          <p:cNvSpPr/>
          <p:nvPr/>
        </p:nvSpPr>
        <p:spPr>
          <a:xfrm>
            <a:off x="6583680" y="1737360"/>
            <a:ext cx="4782312" cy="731520"/>
          </a:xfrm>
          <a:prstGeom prst="roundRect">
            <a:avLst>
              <a:gd name="adj" fmla="val 18750"/>
            </a:avLst>
          </a:prstGeom>
          <a:solidFill>
            <a:schemeClr val="bg1"/>
          </a:solidFill>
          <a:ln w="12700">
            <a:solidFill>
              <a:schemeClr val="bg1"/>
            </a:solidFill>
            <a:prstDash val="solid"/>
          </a:ln>
        </p:spPr>
      </p:sp>
      <p:sp>
        <p:nvSpPr>
          <p:cNvPr id="23" name="Résultat 1"/>
          <p:cNvSpPr/>
          <p:nvPr/>
        </p:nvSpPr>
        <p:spPr>
          <a:xfrm>
            <a:off x="6583680" y="3108960"/>
            <a:ext cx="4782312" cy="822960"/>
          </a:xfrm>
          <a:prstGeom prst="roundRect">
            <a:avLst>
              <a:gd name="adj" fmla="val 16667"/>
            </a:avLst>
          </a:prstGeom>
          <a:solidFill>
            <a:schemeClr val="bg1"/>
          </a:solidFill>
          <a:ln w="12700">
            <a:solidFill>
              <a:schemeClr val="bg1"/>
            </a:solidFill>
            <a:prstDash val="solid"/>
          </a:ln>
        </p:spPr>
      </p:sp>
      <p:sp>
        <p:nvSpPr>
          <p:cNvPr id="27" name="Résultat 2"/>
          <p:cNvSpPr/>
          <p:nvPr/>
        </p:nvSpPr>
        <p:spPr>
          <a:xfrm>
            <a:off x="6583680" y="4069080"/>
            <a:ext cx="4782312" cy="822960"/>
          </a:xfrm>
          <a:prstGeom prst="roundRect">
            <a:avLst>
              <a:gd name="adj" fmla="val 16667"/>
            </a:avLst>
          </a:prstGeom>
          <a:solidFill>
            <a:schemeClr val="bg1"/>
          </a:solidFill>
          <a:ln w="12700">
            <a:solidFill>
              <a:schemeClr val="bg1"/>
            </a:solidFill>
            <a:prstDash val="solid"/>
          </a:ln>
        </p:spPr>
      </p:sp>
      <p:sp>
        <p:nvSpPr>
          <p:cNvPr id="31" name="Résultat 3"/>
          <p:cNvSpPr/>
          <p:nvPr/>
        </p:nvSpPr>
        <p:spPr>
          <a:xfrm>
            <a:off x="6583680" y="5029200"/>
            <a:ext cx="4782312" cy="822960"/>
          </a:xfrm>
          <a:prstGeom prst="roundRect">
            <a:avLst>
              <a:gd name="adj" fmla="val 16667"/>
            </a:avLst>
          </a:prstGeom>
          <a:solidFill>
            <a:schemeClr val="bg1"/>
          </a:solidFill>
          <a:ln w="12700">
            <a:solidFill>
              <a:schemeClr val="bg1"/>
            </a:solidFill>
            <a:prstDash val="solid"/>
          </a:ln>
        </p:spPr>
      </p:sp>
      <p:sp>
        <p:nvSpPr>
          <p:cNvPr id="35" name="Slide Number Placeholder 0"/>
          <p:cNvSpPr>
            <a:spLocks noGrp="1"/>
          </p:cNvSpPr>
          <p:nvPr>
            <p:ph type="sldNum" sz="quarter" idx="4294967295"/>
          </p:nvPr>
        </p:nvSpPr>
        <p:spPr>
          <a:xfrm>
            <a:off x="11137392"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pic>
        <p:nvPicPr>
          <p:cNvPr id="37" name="Image 36">
            <a:extLst>
              <a:ext uri="{FF2B5EF4-FFF2-40B4-BE49-F238E27FC236}">
                <a16:creationId xmlns:a16="http://schemas.microsoft.com/office/drawing/2014/main" id="{1B19FF22-69BE-01BF-9D8F-7C0BCC07EBAE}"/>
              </a:ext>
            </a:extLst>
          </p:cNvPr>
          <p:cNvPicPr>
            <a:picLocks noChangeAspect="1"/>
          </p:cNvPicPr>
          <p:nvPr/>
        </p:nvPicPr>
        <p:blipFill>
          <a:blip r:embed="rId6"/>
          <a:srcRect t="21333" b="16268"/>
          <a:stretch>
            <a:fillRect/>
          </a:stretch>
        </p:blipFill>
        <p:spPr>
          <a:xfrm>
            <a:off x="6376989" y="1236395"/>
            <a:ext cx="5488381" cy="4844365"/>
          </a:xfrm>
          <a:prstGeom prst="rect">
            <a:avLst/>
          </a:prstGeom>
          <a:ln>
            <a:solidFill>
              <a:schemeClr val="tx1"/>
            </a:solid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400" b="1" dirty="0">
                <a:solidFill>
                  <a:schemeClr val="tx1"/>
                </a:solidFill>
              </a:rPr>
              <a:t>Les 6 étapes du projet</a:t>
            </a:r>
            <a:endParaRPr lang="en-US" sz="3400" dirty="0"/>
          </a:p>
        </p:txBody>
      </p:sp>
      <p:sp>
        <p:nvSpPr>
          <p:cNvPr id="3" name="Carte étape 1"/>
          <p:cNvSpPr/>
          <p:nvPr/>
        </p:nvSpPr>
        <p:spPr>
          <a:xfrm>
            <a:off x="548640" y="1463040"/>
            <a:ext cx="3520440" cy="2103120"/>
          </a:xfrm>
          <a:prstGeom prst="roundRect">
            <a:avLst>
              <a:gd name="adj" fmla="val 6522"/>
            </a:avLst>
          </a:prstGeom>
          <a:solidFill>
            <a:schemeClr val="bg2"/>
          </a:solidFill>
          <a:ln w="12700">
            <a:solidFill>
              <a:schemeClr val="bg2"/>
            </a:solidFill>
            <a:prstDash val="solid"/>
          </a:ln>
        </p:spPr>
      </p:sp>
      <p:sp>
        <p:nvSpPr>
          <p:cNvPr id="4" name="Numéro 1"/>
          <p:cNvSpPr/>
          <p:nvPr/>
        </p:nvSpPr>
        <p:spPr>
          <a:xfrm>
            <a:off x="777240" y="1691640"/>
            <a:ext cx="640080" cy="640080"/>
          </a:xfrm>
          <a:prstGeom prst="ellipse">
            <a:avLst/>
          </a:prstGeom>
          <a:solidFill>
            <a:schemeClr val="accent1"/>
          </a:solidFill>
          <a:ln w="12700">
            <a:solidFill>
              <a:schemeClr val="accent1"/>
            </a:solidFill>
            <a:prstDash val="solid"/>
          </a:ln>
        </p:spPr>
      </p:sp>
      <p:sp>
        <p:nvSpPr>
          <p:cNvPr id="5" name="Chiffre 1"/>
          <p:cNvSpPr txBox="1"/>
          <p:nvPr/>
        </p:nvSpPr>
        <p:spPr>
          <a:xfrm>
            <a:off x="777240" y="1691640"/>
            <a:ext cx="640080" cy="640080"/>
          </a:xfrm>
          <a:prstGeom prst="rect">
            <a:avLst/>
          </a:prstGeom>
          <a:noFill/>
          <a:ln/>
        </p:spPr>
        <p:txBody>
          <a:bodyPr wrap="square" lIns="0" tIns="0" rIns="0" bIns="0" rtlCol="0" anchor="ctr"/>
          <a:lstStyle/>
          <a:p>
            <a:pPr marL="0" indent="0" algn="ctr">
              <a:buNone/>
            </a:pPr>
            <a:r>
              <a:rPr lang="en-US" sz="2400" b="1" dirty="0">
                <a:solidFill>
                  <a:schemeClr val="tx1"/>
                </a:solidFill>
              </a:rPr>
              <a:t>1</a:t>
            </a:r>
            <a:endParaRPr lang="en-US" sz="2400" dirty="0"/>
          </a:p>
        </p:txBody>
      </p:sp>
      <p:pic>
        <p:nvPicPr>
          <p:cNvPr id="6" name="Icône étape 1" descr="Icône Dataset"/>
          <p:cNvPicPr>
            <a:picLocks noChangeAspect="1"/>
          </p:cNvPicPr>
          <p:nvPr/>
        </p:nvPicPr>
        <p:blipFill>
          <a:blip r:embed="rId3"/>
          <a:stretch>
            <a:fillRect/>
          </a:stretch>
        </p:blipFill>
        <p:spPr>
          <a:xfrm>
            <a:off x="3291840" y="1783080"/>
            <a:ext cx="457200" cy="457200"/>
          </a:xfrm>
          <a:prstGeom prst="rect">
            <a:avLst/>
          </a:prstGeom>
        </p:spPr>
      </p:pic>
      <p:sp>
        <p:nvSpPr>
          <p:cNvPr id="7" name="Titre étape 1"/>
          <p:cNvSpPr txBox="1"/>
          <p:nvPr/>
        </p:nvSpPr>
        <p:spPr>
          <a:xfrm>
            <a:off x="777240" y="2468880"/>
            <a:ext cx="3108960" cy="365760"/>
          </a:xfrm>
          <a:prstGeom prst="rect">
            <a:avLst/>
          </a:prstGeom>
          <a:noFill/>
          <a:ln/>
        </p:spPr>
        <p:txBody>
          <a:bodyPr wrap="square" lIns="0" tIns="0" rIns="0" bIns="0" rtlCol="0" anchor="t"/>
          <a:lstStyle/>
          <a:p>
            <a:pPr marL="0" indent="0" algn="l">
              <a:buNone/>
            </a:pPr>
            <a:r>
              <a:rPr lang="en-US" sz="2000" b="1" dirty="0">
                <a:solidFill>
                  <a:schemeClr val="tx1"/>
                </a:solidFill>
              </a:rPr>
              <a:t>Dataset</a:t>
            </a:r>
            <a:endParaRPr lang="en-US" sz="2000" dirty="0"/>
          </a:p>
        </p:txBody>
      </p:sp>
      <p:sp>
        <p:nvSpPr>
          <p:cNvPr id="8" name="Texte étape 1"/>
          <p:cNvSpPr txBox="1"/>
          <p:nvPr/>
        </p:nvSpPr>
        <p:spPr>
          <a:xfrm>
            <a:off x="777240" y="2834640"/>
            <a:ext cx="3108960" cy="640080"/>
          </a:xfrm>
          <a:prstGeom prst="rect">
            <a:avLst/>
          </a:prstGeom>
          <a:noFill/>
          <a:ln/>
        </p:spPr>
        <p:txBody>
          <a:bodyPr wrap="square" lIns="0" tIns="0" rIns="0" bIns="0" rtlCol="0" anchor="t"/>
          <a:lstStyle/>
          <a:p>
            <a:pPr marL="0" indent="0" algn="l">
              <a:buNone/>
            </a:pPr>
            <a:r>
              <a:rPr lang="en-US" sz="1400" dirty="0">
                <a:solidFill>
                  <a:schemeClr val="tx1"/>
                </a:solidFill>
              </a:rPr>
              <a:t>10 000 livres Goodreads avec titre et résumé</a:t>
            </a:r>
            <a:endParaRPr lang="en-US" sz="1400" dirty="0"/>
          </a:p>
        </p:txBody>
      </p:sp>
      <p:sp>
        <p:nvSpPr>
          <p:cNvPr id="9" name="Carte étape 2"/>
          <p:cNvSpPr/>
          <p:nvPr/>
        </p:nvSpPr>
        <p:spPr>
          <a:xfrm>
            <a:off x="4334256" y="1463040"/>
            <a:ext cx="3520440" cy="2103120"/>
          </a:xfrm>
          <a:prstGeom prst="roundRect">
            <a:avLst>
              <a:gd name="adj" fmla="val 6522"/>
            </a:avLst>
          </a:prstGeom>
          <a:solidFill>
            <a:schemeClr val="bg2"/>
          </a:solidFill>
          <a:ln w="12700">
            <a:solidFill>
              <a:schemeClr val="bg2"/>
            </a:solidFill>
            <a:prstDash val="solid"/>
          </a:ln>
        </p:spPr>
      </p:sp>
      <p:sp>
        <p:nvSpPr>
          <p:cNvPr id="10" name="Numéro 2"/>
          <p:cNvSpPr/>
          <p:nvPr/>
        </p:nvSpPr>
        <p:spPr>
          <a:xfrm>
            <a:off x="4562856" y="1691640"/>
            <a:ext cx="640080" cy="640080"/>
          </a:xfrm>
          <a:prstGeom prst="ellipse">
            <a:avLst/>
          </a:prstGeom>
          <a:solidFill>
            <a:schemeClr val="accent1"/>
          </a:solidFill>
          <a:ln w="12700">
            <a:solidFill>
              <a:schemeClr val="accent1"/>
            </a:solidFill>
            <a:prstDash val="solid"/>
          </a:ln>
        </p:spPr>
      </p:sp>
      <p:sp>
        <p:nvSpPr>
          <p:cNvPr id="11" name="Chiffre 2"/>
          <p:cNvSpPr txBox="1"/>
          <p:nvPr/>
        </p:nvSpPr>
        <p:spPr>
          <a:xfrm>
            <a:off x="4562856" y="1691640"/>
            <a:ext cx="640080" cy="640080"/>
          </a:xfrm>
          <a:prstGeom prst="rect">
            <a:avLst/>
          </a:prstGeom>
          <a:noFill/>
          <a:ln/>
        </p:spPr>
        <p:txBody>
          <a:bodyPr wrap="square" lIns="0" tIns="0" rIns="0" bIns="0" rtlCol="0" anchor="ctr"/>
          <a:lstStyle/>
          <a:p>
            <a:pPr marL="0" indent="0" algn="ctr">
              <a:buNone/>
            </a:pPr>
            <a:r>
              <a:rPr lang="en-US" sz="2400" b="1" dirty="0">
                <a:solidFill>
                  <a:schemeClr val="tx1"/>
                </a:solidFill>
              </a:rPr>
              <a:t>2</a:t>
            </a:r>
            <a:endParaRPr lang="en-US" sz="2400" dirty="0"/>
          </a:p>
        </p:txBody>
      </p:sp>
      <p:pic>
        <p:nvPicPr>
          <p:cNvPr id="12" name="Icône étape 2" descr="Icône Prétraitement"/>
          <p:cNvPicPr>
            <a:picLocks noChangeAspect="1"/>
          </p:cNvPicPr>
          <p:nvPr/>
        </p:nvPicPr>
        <p:blipFill>
          <a:blip r:embed="rId4"/>
          <a:stretch>
            <a:fillRect/>
          </a:stretch>
        </p:blipFill>
        <p:spPr>
          <a:xfrm>
            <a:off x="7077456" y="1783080"/>
            <a:ext cx="457200" cy="457200"/>
          </a:xfrm>
          <a:prstGeom prst="rect">
            <a:avLst/>
          </a:prstGeom>
        </p:spPr>
      </p:pic>
      <p:sp>
        <p:nvSpPr>
          <p:cNvPr id="13" name="Titre étape 2"/>
          <p:cNvSpPr txBox="1"/>
          <p:nvPr/>
        </p:nvSpPr>
        <p:spPr>
          <a:xfrm>
            <a:off x="4562856" y="2468880"/>
            <a:ext cx="3108960" cy="365760"/>
          </a:xfrm>
          <a:prstGeom prst="rect">
            <a:avLst/>
          </a:prstGeom>
          <a:noFill/>
          <a:ln/>
        </p:spPr>
        <p:txBody>
          <a:bodyPr wrap="square" lIns="0" tIns="0" rIns="0" bIns="0" rtlCol="0" anchor="t"/>
          <a:lstStyle/>
          <a:p>
            <a:pPr marL="0" indent="0" algn="l">
              <a:buNone/>
            </a:pPr>
            <a:r>
              <a:rPr lang="en-US" sz="2000" b="1" dirty="0">
                <a:solidFill>
                  <a:schemeClr val="tx1"/>
                </a:solidFill>
              </a:rPr>
              <a:t>Prétraitement</a:t>
            </a:r>
            <a:endParaRPr lang="en-US" sz="2000" dirty="0"/>
          </a:p>
        </p:txBody>
      </p:sp>
      <p:sp>
        <p:nvSpPr>
          <p:cNvPr id="14" name="Texte étape 2"/>
          <p:cNvSpPr txBox="1"/>
          <p:nvPr/>
        </p:nvSpPr>
        <p:spPr>
          <a:xfrm>
            <a:off x="4562856" y="2834640"/>
            <a:ext cx="3108960" cy="640080"/>
          </a:xfrm>
          <a:prstGeom prst="rect">
            <a:avLst/>
          </a:prstGeom>
          <a:noFill/>
          <a:ln/>
        </p:spPr>
        <p:txBody>
          <a:bodyPr wrap="square" lIns="0" tIns="0" rIns="0" bIns="0" rtlCol="0" anchor="t"/>
          <a:lstStyle/>
          <a:p>
            <a:pPr marL="0" indent="0" algn="l">
              <a:buNone/>
            </a:pPr>
            <a:r>
              <a:rPr lang="en-US" sz="1400" dirty="0">
                <a:solidFill>
                  <a:schemeClr val="tx1"/>
                </a:solidFill>
              </a:rPr>
              <a:t>Nettoyer le texte et garder les mots utiles</a:t>
            </a:r>
            <a:endParaRPr lang="en-US" sz="1400" dirty="0"/>
          </a:p>
        </p:txBody>
      </p:sp>
      <p:sp>
        <p:nvSpPr>
          <p:cNvPr id="15" name="Carte étape 3"/>
          <p:cNvSpPr/>
          <p:nvPr/>
        </p:nvSpPr>
        <p:spPr>
          <a:xfrm>
            <a:off x="8119872" y="1463040"/>
            <a:ext cx="3520440" cy="2103120"/>
          </a:xfrm>
          <a:prstGeom prst="roundRect">
            <a:avLst>
              <a:gd name="adj" fmla="val 6522"/>
            </a:avLst>
          </a:prstGeom>
          <a:solidFill>
            <a:schemeClr val="bg2"/>
          </a:solidFill>
          <a:ln w="12700">
            <a:solidFill>
              <a:schemeClr val="bg2"/>
            </a:solidFill>
            <a:prstDash val="solid"/>
          </a:ln>
        </p:spPr>
      </p:sp>
      <p:sp>
        <p:nvSpPr>
          <p:cNvPr id="16" name="Numéro 3"/>
          <p:cNvSpPr/>
          <p:nvPr/>
        </p:nvSpPr>
        <p:spPr>
          <a:xfrm>
            <a:off x="8348472" y="1691640"/>
            <a:ext cx="640080" cy="640080"/>
          </a:xfrm>
          <a:prstGeom prst="ellipse">
            <a:avLst/>
          </a:prstGeom>
          <a:solidFill>
            <a:schemeClr val="accent1"/>
          </a:solidFill>
          <a:ln w="12700">
            <a:solidFill>
              <a:schemeClr val="accent1"/>
            </a:solidFill>
            <a:prstDash val="solid"/>
          </a:ln>
        </p:spPr>
      </p:sp>
      <p:sp>
        <p:nvSpPr>
          <p:cNvPr id="17" name="Chiffre 3"/>
          <p:cNvSpPr txBox="1"/>
          <p:nvPr/>
        </p:nvSpPr>
        <p:spPr>
          <a:xfrm>
            <a:off x="8348472" y="1691640"/>
            <a:ext cx="640080" cy="640080"/>
          </a:xfrm>
          <a:prstGeom prst="rect">
            <a:avLst/>
          </a:prstGeom>
          <a:noFill/>
          <a:ln/>
        </p:spPr>
        <p:txBody>
          <a:bodyPr wrap="square" lIns="0" tIns="0" rIns="0" bIns="0" rtlCol="0" anchor="ctr"/>
          <a:lstStyle/>
          <a:p>
            <a:pPr marL="0" indent="0" algn="ctr">
              <a:buNone/>
            </a:pPr>
            <a:r>
              <a:rPr lang="en-US" sz="2400" b="1" dirty="0">
                <a:solidFill>
                  <a:schemeClr val="tx1"/>
                </a:solidFill>
              </a:rPr>
              <a:t>3</a:t>
            </a:r>
            <a:endParaRPr lang="en-US" sz="2400" dirty="0"/>
          </a:p>
        </p:txBody>
      </p:sp>
      <p:pic>
        <p:nvPicPr>
          <p:cNvPr id="18" name="Icône étape 3" descr="Icône Représentation"/>
          <p:cNvPicPr>
            <a:picLocks noChangeAspect="1"/>
          </p:cNvPicPr>
          <p:nvPr/>
        </p:nvPicPr>
        <p:blipFill>
          <a:blip r:embed="rId5"/>
          <a:stretch>
            <a:fillRect/>
          </a:stretch>
        </p:blipFill>
        <p:spPr>
          <a:xfrm>
            <a:off x="10863072" y="1783080"/>
            <a:ext cx="457200" cy="457200"/>
          </a:xfrm>
          <a:prstGeom prst="rect">
            <a:avLst/>
          </a:prstGeom>
        </p:spPr>
      </p:pic>
      <p:sp>
        <p:nvSpPr>
          <p:cNvPr id="19" name="Titre étape 3"/>
          <p:cNvSpPr txBox="1"/>
          <p:nvPr/>
        </p:nvSpPr>
        <p:spPr>
          <a:xfrm>
            <a:off x="8348472" y="2468880"/>
            <a:ext cx="3108960" cy="365760"/>
          </a:xfrm>
          <a:prstGeom prst="rect">
            <a:avLst/>
          </a:prstGeom>
          <a:noFill/>
          <a:ln/>
        </p:spPr>
        <p:txBody>
          <a:bodyPr wrap="square" lIns="0" tIns="0" rIns="0" bIns="0" rtlCol="0" anchor="t"/>
          <a:lstStyle/>
          <a:p>
            <a:pPr marL="0" indent="0" algn="l">
              <a:buNone/>
            </a:pPr>
            <a:r>
              <a:rPr lang="en-US" sz="2000" b="1" dirty="0">
                <a:solidFill>
                  <a:schemeClr val="tx1"/>
                </a:solidFill>
              </a:rPr>
              <a:t>Représentation</a:t>
            </a:r>
            <a:endParaRPr lang="en-US" sz="2000" dirty="0"/>
          </a:p>
        </p:txBody>
      </p:sp>
      <p:sp>
        <p:nvSpPr>
          <p:cNvPr id="20" name="Texte étape 3"/>
          <p:cNvSpPr txBox="1"/>
          <p:nvPr/>
        </p:nvSpPr>
        <p:spPr>
          <a:xfrm>
            <a:off x="8348472" y="2834640"/>
            <a:ext cx="3108960" cy="640080"/>
          </a:xfrm>
          <a:prstGeom prst="rect">
            <a:avLst/>
          </a:prstGeom>
          <a:noFill/>
          <a:ln/>
        </p:spPr>
        <p:txBody>
          <a:bodyPr wrap="square" lIns="0" tIns="0" rIns="0" bIns="0" rtlCol="0" anchor="t"/>
          <a:lstStyle/>
          <a:p>
            <a:pPr marL="0" indent="0" algn="l">
              <a:buNone/>
            </a:pPr>
            <a:r>
              <a:rPr lang="en-US" sz="1400" dirty="0">
                <a:solidFill>
                  <a:schemeClr val="tx1"/>
                </a:solidFill>
              </a:rPr>
              <a:t>Transformer les textes en nombres (TF-IDF et embeddings)</a:t>
            </a:r>
            <a:endParaRPr lang="en-US" sz="1400" dirty="0"/>
          </a:p>
        </p:txBody>
      </p:sp>
      <p:sp>
        <p:nvSpPr>
          <p:cNvPr id="21" name="Carte étape 4"/>
          <p:cNvSpPr/>
          <p:nvPr/>
        </p:nvSpPr>
        <p:spPr>
          <a:xfrm>
            <a:off x="548640" y="3840480"/>
            <a:ext cx="3520440" cy="2103120"/>
          </a:xfrm>
          <a:prstGeom prst="roundRect">
            <a:avLst>
              <a:gd name="adj" fmla="val 6522"/>
            </a:avLst>
          </a:prstGeom>
          <a:solidFill>
            <a:schemeClr val="bg2"/>
          </a:solidFill>
          <a:ln w="12700">
            <a:solidFill>
              <a:schemeClr val="bg2"/>
            </a:solidFill>
            <a:prstDash val="solid"/>
          </a:ln>
        </p:spPr>
      </p:sp>
      <p:sp>
        <p:nvSpPr>
          <p:cNvPr id="22" name="Numéro 4"/>
          <p:cNvSpPr/>
          <p:nvPr/>
        </p:nvSpPr>
        <p:spPr>
          <a:xfrm>
            <a:off x="777240" y="4069080"/>
            <a:ext cx="640080" cy="640080"/>
          </a:xfrm>
          <a:prstGeom prst="ellipse">
            <a:avLst/>
          </a:prstGeom>
          <a:solidFill>
            <a:schemeClr val="accent1"/>
          </a:solidFill>
          <a:ln w="12700">
            <a:solidFill>
              <a:schemeClr val="accent1"/>
            </a:solidFill>
            <a:prstDash val="solid"/>
          </a:ln>
        </p:spPr>
      </p:sp>
      <p:sp>
        <p:nvSpPr>
          <p:cNvPr id="23" name="Chiffre 4"/>
          <p:cNvSpPr txBox="1"/>
          <p:nvPr/>
        </p:nvSpPr>
        <p:spPr>
          <a:xfrm>
            <a:off x="777240" y="4069080"/>
            <a:ext cx="640080" cy="640080"/>
          </a:xfrm>
          <a:prstGeom prst="rect">
            <a:avLst/>
          </a:prstGeom>
          <a:noFill/>
          <a:ln/>
        </p:spPr>
        <p:txBody>
          <a:bodyPr wrap="square" lIns="0" tIns="0" rIns="0" bIns="0" rtlCol="0" anchor="ctr"/>
          <a:lstStyle/>
          <a:p>
            <a:pPr marL="0" indent="0" algn="ctr">
              <a:buNone/>
            </a:pPr>
            <a:r>
              <a:rPr lang="en-US" sz="2400" b="1" dirty="0">
                <a:solidFill>
                  <a:schemeClr val="tx1"/>
                </a:solidFill>
              </a:rPr>
              <a:t>4</a:t>
            </a:r>
            <a:endParaRPr lang="en-US" sz="2400" dirty="0"/>
          </a:p>
        </p:txBody>
      </p:sp>
      <p:pic>
        <p:nvPicPr>
          <p:cNvPr id="24" name="Icône étape 4" descr="Icône Modélisation"/>
          <p:cNvPicPr>
            <a:picLocks noChangeAspect="1"/>
          </p:cNvPicPr>
          <p:nvPr/>
        </p:nvPicPr>
        <p:blipFill>
          <a:blip r:embed="rId6"/>
          <a:stretch>
            <a:fillRect/>
          </a:stretch>
        </p:blipFill>
        <p:spPr>
          <a:xfrm>
            <a:off x="3291840" y="4160520"/>
            <a:ext cx="457200" cy="457200"/>
          </a:xfrm>
          <a:prstGeom prst="rect">
            <a:avLst/>
          </a:prstGeom>
        </p:spPr>
      </p:pic>
      <p:sp>
        <p:nvSpPr>
          <p:cNvPr id="25" name="Titre étape 4"/>
          <p:cNvSpPr txBox="1"/>
          <p:nvPr/>
        </p:nvSpPr>
        <p:spPr>
          <a:xfrm>
            <a:off x="777240" y="4846320"/>
            <a:ext cx="3108960" cy="365760"/>
          </a:xfrm>
          <a:prstGeom prst="rect">
            <a:avLst/>
          </a:prstGeom>
          <a:noFill/>
          <a:ln/>
        </p:spPr>
        <p:txBody>
          <a:bodyPr wrap="square" lIns="0" tIns="0" rIns="0" bIns="0" rtlCol="0" anchor="t"/>
          <a:lstStyle/>
          <a:p>
            <a:pPr marL="0" indent="0" algn="l">
              <a:buNone/>
            </a:pPr>
            <a:r>
              <a:rPr lang="en-US" sz="2000" b="1" dirty="0">
                <a:solidFill>
                  <a:schemeClr val="tx1"/>
                </a:solidFill>
              </a:rPr>
              <a:t>Modélisation</a:t>
            </a:r>
            <a:endParaRPr lang="en-US" sz="2000" dirty="0"/>
          </a:p>
        </p:txBody>
      </p:sp>
      <p:sp>
        <p:nvSpPr>
          <p:cNvPr id="26" name="Texte étape 4"/>
          <p:cNvSpPr txBox="1"/>
          <p:nvPr/>
        </p:nvSpPr>
        <p:spPr>
          <a:xfrm>
            <a:off x="777240" y="5212080"/>
            <a:ext cx="3108960" cy="640080"/>
          </a:xfrm>
          <a:prstGeom prst="rect">
            <a:avLst/>
          </a:prstGeom>
          <a:noFill/>
          <a:ln/>
        </p:spPr>
        <p:txBody>
          <a:bodyPr wrap="square" lIns="0" tIns="0" rIns="0" bIns="0" rtlCol="0" anchor="t"/>
          <a:lstStyle/>
          <a:p>
            <a:pPr marL="0" indent="0" algn="l">
              <a:buNone/>
            </a:pPr>
            <a:r>
              <a:rPr lang="en-US" sz="1400" dirty="0">
                <a:solidFill>
                  <a:schemeClr val="tx1"/>
                </a:solidFill>
              </a:rPr>
              <a:t>Créer un index et calculer la ressemblance (cosinus)</a:t>
            </a:r>
            <a:endParaRPr lang="en-US" sz="1400" dirty="0"/>
          </a:p>
        </p:txBody>
      </p:sp>
      <p:sp>
        <p:nvSpPr>
          <p:cNvPr id="27" name="Carte étape 5"/>
          <p:cNvSpPr/>
          <p:nvPr/>
        </p:nvSpPr>
        <p:spPr>
          <a:xfrm>
            <a:off x="4334256" y="3840480"/>
            <a:ext cx="3520440" cy="2103120"/>
          </a:xfrm>
          <a:prstGeom prst="roundRect">
            <a:avLst>
              <a:gd name="adj" fmla="val 6522"/>
            </a:avLst>
          </a:prstGeom>
          <a:solidFill>
            <a:schemeClr val="bg2"/>
          </a:solidFill>
          <a:ln w="12700">
            <a:solidFill>
              <a:schemeClr val="bg2"/>
            </a:solidFill>
            <a:prstDash val="solid"/>
          </a:ln>
        </p:spPr>
      </p:sp>
      <p:sp>
        <p:nvSpPr>
          <p:cNvPr id="28" name="Numéro 5"/>
          <p:cNvSpPr/>
          <p:nvPr/>
        </p:nvSpPr>
        <p:spPr>
          <a:xfrm>
            <a:off x="4562856" y="4069080"/>
            <a:ext cx="640080" cy="640080"/>
          </a:xfrm>
          <a:prstGeom prst="ellipse">
            <a:avLst/>
          </a:prstGeom>
          <a:solidFill>
            <a:schemeClr val="accent1"/>
          </a:solidFill>
          <a:ln w="12700">
            <a:solidFill>
              <a:schemeClr val="accent1"/>
            </a:solidFill>
            <a:prstDash val="solid"/>
          </a:ln>
        </p:spPr>
      </p:sp>
      <p:sp>
        <p:nvSpPr>
          <p:cNvPr id="29" name="Chiffre 5"/>
          <p:cNvSpPr txBox="1"/>
          <p:nvPr/>
        </p:nvSpPr>
        <p:spPr>
          <a:xfrm>
            <a:off x="4562856" y="4069080"/>
            <a:ext cx="640080" cy="640080"/>
          </a:xfrm>
          <a:prstGeom prst="rect">
            <a:avLst/>
          </a:prstGeom>
          <a:noFill/>
          <a:ln/>
        </p:spPr>
        <p:txBody>
          <a:bodyPr wrap="square" lIns="0" tIns="0" rIns="0" bIns="0" rtlCol="0" anchor="ctr"/>
          <a:lstStyle/>
          <a:p>
            <a:pPr marL="0" indent="0" algn="ctr">
              <a:buNone/>
            </a:pPr>
            <a:r>
              <a:rPr lang="en-US" sz="2400" b="1" dirty="0">
                <a:solidFill>
                  <a:schemeClr val="tx1"/>
                </a:solidFill>
              </a:rPr>
              <a:t>5</a:t>
            </a:r>
            <a:endParaRPr lang="en-US" sz="2400" dirty="0"/>
          </a:p>
        </p:txBody>
      </p:sp>
      <p:pic>
        <p:nvPicPr>
          <p:cNvPr id="30" name="Icône étape 5" descr="Icône Évaluation"/>
          <p:cNvPicPr>
            <a:picLocks noChangeAspect="1"/>
          </p:cNvPicPr>
          <p:nvPr/>
        </p:nvPicPr>
        <p:blipFill>
          <a:blip r:embed="rId7"/>
          <a:stretch>
            <a:fillRect/>
          </a:stretch>
        </p:blipFill>
        <p:spPr>
          <a:xfrm>
            <a:off x="7077456" y="4160520"/>
            <a:ext cx="457200" cy="457200"/>
          </a:xfrm>
          <a:prstGeom prst="rect">
            <a:avLst/>
          </a:prstGeom>
        </p:spPr>
      </p:pic>
      <p:sp>
        <p:nvSpPr>
          <p:cNvPr id="31" name="Titre étape 5"/>
          <p:cNvSpPr txBox="1"/>
          <p:nvPr/>
        </p:nvSpPr>
        <p:spPr>
          <a:xfrm>
            <a:off x="4562856" y="4846320"/>
            <a:ext cx="3108960" cy="365760"/>
          </a:xfrm>
          <a:prstGeom prst="rect">
            <a:avLst/>
          </a:prstGeom>
          <a:noFill/>
          <a:ln/>
        </p:spPr>
        <p:txBody>
          <a:bodyPr wrap="square" lIns="0" tIns="0" rIns="0" bIns="0" rtlCol="0" anchor="t"/>
          <a:lstStyle/>
          <a:p>
            <a:pPr marL="0" indent="0" algn="l">
              <a:buNone/>
            </a:pPr>
            <a:r>
              <a:rPr lang="en-US" sz="2000" b="1" dirty="0">
                <a:solidFill>
                  <a:schemeClr val="tx1"/>
                </a:solidFill>
              </a:rPr>
              <a:t>Évaluation</a:t>
            </a:r>
            <a:endParaRPr lang="en-US" sz="2000" dirty="0"/>
          </a:p>
        </p:txBody>
      </p:sp>
      <p:sp>
        <p:nvSpPr>
          <p:cNvPr id="32" name="Texte étape 5"/>
          <p:cNvSpPr txBox="1"/>
          <p:nvPr/>
        </p:nvSpPr>
        <p:spPr>
          <a:xfrm>
            <a:off x="4562856" y="5212080"/>
            <a:ext cx="3108960" cy="640080"/>
          </a:xfrm>
          <a:prstGeom prst="rect">
            <a:avLst/>
          </a:prstGeom>
          <a:noFill/>
          <a:ln/>
        </p:spPr>
        <p:txBody>
          <a:bodyPr wrap="square" lIns="0" tIns="0" rIns="0" bIns="0" rtlCol="0" anchor="t"/>
          <a:lstStyle/>
          <a:p>
            <a:pPr marL="0" indent="0" algn="l">
              <a:buNone/>
            </a:pPr>
            <a:r>
              <a:rPr lang="en-US" sz="1400" dirty="0">
                <a:solidFill>
                  <a:schemeClr val="tx1"/>
                </a:solidFill>
              </a:rPr>
              <a:t>Mesurer la qualité avec Precision, Recall et MAP</a:t>
            </a:r>
            <a:endParaRPr lang="en-US" sz="1400" dirty="0"/>
          </a:p>
        </p:txBody>
      </p:sp>
      <p:sp>
        <p:nvSpPr>
          <p:cNvPr id="33" name="Carte étape 6"/>
          <p:cNvSpPr/>
          <p:nvPr/>
        </p:nvSpPr>
        <p:spPr>
          <a:xfrm>
            <a:off x="8119872" y="3840480"/>
            <a:ext cx="3520440" cy="2103120"/>
          </a:xfrm>
          <a:prstGeom prst="roundRect">
            <a:avLst>
              <a:gd name="adj" fmla="val 6522"/>
            </a:avLst>
          </a:prstGeom>
          <a:solidFill>
            <a:schemeClr val="bg2"/>
          </a:solidFill>
          <a:ln w="12700">
            <a:solidFill>
              <a:schemeClr val="bg2"/>
            </a:solidFill>
            <a:prstDash val="solid"/>
          </a:ln>
        </p:spPr>
      </p:sp>
      <p:sp>
        <p:nvSpPr>
          <p:cNvPr id="34" name="Numéro 6"/>
          <p:cNvSpPr/>
          <p:nvPr/>
        </p:nvSpPr>
        <p:spPr>
          <a:xfrm>
            <a:off x="8348472" y="4069080"/>
            <a:ext cx="640080" cy="640080"/>
          </a:xfrm>
          <a:prstGeom prst="ellipse">
            <a:avLst/>
          </a:prstGeom>
          <a:solidFill>
            <a:schemeClr val="accent1"/>
          </a:solidFill>
          <a:ln w="12700">
            <a:solidFill>
              <a:schemeClr val="accent1"/>
            </a:solidFill>
            <a:prstDash val="solid"/>
          </a:ln>
        </p:spPr>
      </p:sp>
      <p:sp>
        <p:nvSpPr>
          <p:cNvPr id="35" name="Chiffre 6"/>
          <p:cNvSpPr txBox="1"/>
          <p:nvPr/>
        </p:nvSpPr>
        <p:spPr>
          <a:xfrm>
            <a:off x="8348472" y="4069080"/>
            <a:ext cx="640080" cy="640080"/>
          </a:xfrm>
          <a:prstGeom prst="rect">
            <a:avLst/>
          </a:prstGeom>
          <a:noFill/>
          <a:ln/>
        </p:spPr>
        <p:txBody>
          <a:bodyPr wrap="square" lIns="0" tIns="0" rIns="0" bIns="0" rtlCol="0" anchor="ctr"/>
          <a:lstStyle/>
          <a:p>
            <a:pPr marL="0" indent="0" algn="ctr">
              <a:buNone/>
            </a:pPr>
            <a:r>
              <a:rPr lang="en-US" sz="2400" b="1" dirty="0">
                <a:solidFill>
                  <a:schemeClr val="tx1"/>
                </a:solidFill>
              </a:rPr>
              <a:t>6</a:t>
            </a:r>
            <a:endParaRPr lang="en-US" sz="2400" dirty="0"/>
          </a:p>
        </p:txBody>
      </p:sp>
      <p:pic>
        <p:nvPicPr>
          <p:cNvPr id="36" name="Icône étape 6" descr="Icône Application"/>
          <p:cNvPicPr>
            <a:picLocks noChangeAspect="1"/>
          </p:cNvPicPr>
          <p:nvPr/>
        </p:nvPicPr>
        <p:blipFill>
          <a:blip r:embed="rId8"/>
          <a:stretch>
            <a:fillRect/>
          </a:stretch>
        </p:blipFill>
        <p:spPr>
          <a:xfrm>
            <a:off x="10863072" y="4160520"/>
            <a:ext cx="457200" cy="457200"/>
          </a:xfrm>
          <a:prstGeom prst="rect">
            <a:avLst/>
          </a:prstGeom>
        </p:spPr>
      </p:pic>
      <p:sp>
        <p:nvSpPr>
          <p:cNvPr id="37" name="Titre étape 6"/>
          <p:cNvSpPr txBox="1"/>
          <p:nvPr/>
        </p:nvSpPr>
        <p:spPr>
          <a:xfrm>
            <a:off x="8348472" y="4846320"/>
            <a:ext cx="3108960" cy="365760"/>
          </a:xfrm>
          <a:prstGeom prst="rect">
            <a:avLst/>
          </a:prstGeom>
          <a:noFill/>
          <a:ln/>
        </p:spPr>
        <p:txBody>
          <a:bodyPr wrap="square" lIns="0" tIns="0" rIns="0" bIns="0" rtlCol="0" anchor="t"/>
          <a:lstStyle/>
          <a:p>
            <a:pPr marL="0" indent="0" algn="l">
              <a:buNone/>
            </a:pPr>
            <a:r>
              <a:rPr lang="en-US" sz="2000" b="1" dirty="0">
                <a:solidFill>
                  <a:schemeClr val="tx1"/>
                </a:solidFill>
              </a:rPr>
              <a:t>Application</a:t>
            </a:r>
            <a:endParaRPr lang="en-US" sz="2000" dirty="0"/>
          </a:p>
        </p:txBody>
      </p:sp>
      <p:sp>
        <p:nvSpPr>
          <p:cNvPr id="38" name="Texte étape 6"/>
          <p:cNvSpPr txBox="1"/>
          <p:nvPr/>
        </p:nvSpPr>
        <p:spPr>
          <a:xfrm>
            <a:off x="8348472" y="5212080"/>
            <a:ext cx="3108960" cy="640080"/>
          </a:xfrm>
          <a:prstGeom prst="rect">
            <a:avLst/>
          </a:prstGeom>
          <a:noFill/>
          <a:ln/>
        </p:spPr>
        <p:txBody>
          <a:bodyPr wrap="square" lIns="0" tIns="0" rIns="0" bIns="0" rtlCol="0" anchor="t"/>
          <a:lstStyle/>
          <a:p>
            <a:pPr marL="0" indent="0" algn="l">
              <a:buNone/>
            </a:pPr>
            <a:r>
              <a:rPr lang="en-US" sz="1400" dirty="0">
                <a:solidFill>
                  <a:schemeClr val="tx1"/>
                </a:solidFill>
              </a:rPr>
              <a:t>Une fonction de recherche et une interface Streamlit</a:t>
            </a:r>
            <a:endParaRPr lang="en-US" sz="1400" dirty="0"/>
          </a:p>
        </p:txBody>
      </p:sp>
      <p:sp>
        <p:nvSpPr>
          <p:cNvPr id="39" name="Slide Number Placeholder 0"/>
          <p:cNvSpPr>
            <a:spLocks noGrp="1"/>
          </p:cNvSpPr>
          <p:nvPr>
            <p:ph type="sldNum" sz="quarter" idx="4294967295"/>
          </p:nvPr>
        </p:nvSpPr>
        <p:spPr>
          <a:xfrm>
            <a:off x="11137392"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400" b="1" dirty="0">
                <a:solidFill>
                  <a:schemeClr val="tx1"/>
                </a:solidFill>
              </a:rPr>
              <a:t>Les données : 10 000 livres Goodreads</a:t>
            </a:r>
            <a:endParaRPr lang="en-US" sz="3400" dirty="0"/>
          </a:p>
        </p:txBody>
      </p:sp>
      <p:sp>
        <p:nvSpPr>
          <p:cNvPr id="3" name="Carte stat 1"/>
          <p:cNvSpPr/>
          <p:nvPr/>
        </p:nvSpPr>
        <p:spPr>
          <a:xfrm>
            <a:off x="548640" y="1463040"/>
            <a:ext cx="4297680" cy="1371600"/>
          </a:xfrm>
          <a:prstGeom prst="roundRect">
            <a:avLst>
              <a:gd name="adj" fmla="val 10000"/>
            </a:avLst>
          </a:prstGeom>
          <a:solidFill>
            <a:schemeClr val="bg2"/>
          </a:solidFill>
          <a:ln w="12700">
            <a:solidFill>
              <a:schemeClr val="bg2"/>
            </a:solidFill>
            <a:prstDash val="solid"/>
          </a:ln>
        </p:spPr>
      </p:sp>
      <p:sp>
        <p:nvSpPr>
          <p:cNvPr id="4" name="Chiffre 1"/>
          <p:cNvSpPr txBox="1"/>
          <p:nvPr/>
        </p:nvSpPr>
        <p:spPr>
          <a:xfrm>
            <a:off x="777240" y="1572768"/>
            <a:ext cx="3840480" cy="731520"/>
          </a:xfrm>
          <a:prstGeom prst="rect">
            <a:avLst/>
          </a:prstGeom>
          <a:noFill/>
          <a:ln/>
        </p:spPr>
        <p:txBody>
          <a:bodyPr wrap="square" lIns="0" tIns="0" rIns="0" bIns="0" rtlCol="0" anchor="t"/>
          <a:lstStyle/>
          <a:p>
            <a:pPr marL="0" indent="0" algn="l">
              <a:buNone/>
            </a:pPr>
            <a:r>
              <a:rPr lang="en-US" sz="4400" b="1" dirty="0">
                <a:solidFill>
                  <a:schemeClr val="accent4"/>
                </a:solidFill>
              </a:rPr>
              <a:t>10 000</a:t>
            </a:r>
            <a:endParaRPr lang="en-US" sz="4400" dirty="0"/>
          </a:p>
        </p:txBody>
      </p:sp>
      <p:sp>
        <p:nvSpPr>
          <p:cNvPr id="5" name="Libellé 1"/>
          <p:cNvSpPr txBox="1"/>
          <p:nvPr/>
        </p:nvSpPr>
        <p:spPr>
          <a:xfrm>
            <a:off x="777240" y="2304288"/>
            <a:ext cx="3840480" cy="457200"/>
          </a:xfrm>
          <a:prstGeom prst="rect">
            <a:avLst/>
          </a:prstGeom>
          <a:noFill/>
          <a:ln/>
        </p:spPr>
        <p:txBody>
          <a:bodyPr wrap="square" lIns="0" tIns="0" rIns="0" bIns="0" rtlCol="0" anchor="t"/>
          <a:lstStyle/>
          <a:p>
            <a:pPr marL="0" indent="0" algn="l">
              <a:buNone/>
            </a:pPr>
            <a:r>
              <a:rPr lang="en-US" sz="1400" dirty="0">
                <a:solidFill>
                  <a:schemeClr val="tx1"/>
                </a:solidFill>
              </a:rPr>
              <a:t>livres dans le corpus</a:t>
            </a:r>
            <a:endParaRPr lang="en-US" sz="1400" dirty="0"/>
          </a:p>
        </p:txBody>
      </p:sp>
      <p:sp>
        <p:nvSpPr>
          <p:cNvPr id="6" name="Carte stat 2"/>
          <p:cNvSpPr/>
          <p:nvPr/>
        </p:nvSpPr>
        <p:spPr>
          <a:xfrm>
            <a:off x="548640" y="3017520"/>
            <a:ext cx="4297680" cy="1371600"/>
          </a:xfrm>
          <a:prstGeom prst="roundRect">
            <a:avLst>
              <a:gd name="adj" fmla="val 10000"/>
            </a:avLst>
          </a:prstGeom>
          <a:solidFill>
            <a:schemeClr val="bg2"/>
          </a:solidFill>
          <a:ln w="12700">
            <a:solidFill>
              <a:schemeClr val="bg2"/>
            </a:solidFill>
            <a:prstDash val="solid"/>
          </a:ln>
        </p:spPr>
      </p:sp>
      <p:sp>
        <p:nvSpPr>
          <p:cNvPr id="7" name="Chiffre 2"/>
          <p:cNvSpPr txBox="1"/>
          <p:nvPr/>
        </p:nvSpPr>
        <p:spPr>
          <a:xfrm>
            <a:off x="777240" y="3127248"/>
            <a:ext cx="3840480" cy="731520"/>
          </a:xfrm>
          <a:prstGeom prst="rect">
            <a:avLst/>
          </a:prstGeom>
          <a:noFill/>
          <a:ln/>
        </p:spPr>
        <p:txBody>
          <a:bodyPr wrap="square" lIns="0" tIns="0" rIns="0" bIns="0" rtlCol="0" anchor="t"/>
          <a:lstStyle/>
          <a:p>
            <a:pPr marL="0" indent="0" algn="l">
              <a:buNone/>
            </a:pPr>
            <a:r>
              <a:rPr lang="en-US" sz="4400" b="1" dirty="0">
                <a:solidFill>
                  <a:schemeClr val="accent4"/>
                </a:solidFill>
              </a:rPr>
              <a:t>148</a:t>
            </a:r>
            <a:endParaRPr lang="en-US" sz="4400" dirty="0"/>
          </a:p>
        </p:txBody>
      </p:sp>
      <p:sp>
        <p:nvSpPr>
          <p:cNvPr id="8" name="Libellé 2"/>
          <p:cNvSpPr txBox="1"/>
          <p:nvPr/>
        </p:nvSpPr>
        <p:spPr>
          <a:xfrm>
            <a:off x="777240" y="3858768"/>
            <a:ext cx="3840480" cy="457200"/>
          </a:xfrm>
          <a:prstGeom prst="rect">
            <a:avLst/>
          </a:prstGeom>
          <a:noFill/>
          <a:ln/>
        </p:spPr>
        <p:txBody>
          <a:bodyPr wrap="square" lIns="0" tIns="0" rIns="0" bIns="0" rtlCol="0" anchor="t"/>
          <a:lstStyle/>
          <a:p>
            <a:pPr marL="0" indent="0" algn="l">
              <a:buNone/>
            </a:pPr>
            <a:r>
              <a:rPr lang="en-US" sz="1400" dirty="0">
                <a:solidFill>
                  <a:schemeClr val="tx1"/>
                </a:solidFill>
              </a:rPr>
              <a:t>mots par description en moyenne (médiane : 143)</a:t>
            </a:r>
            <a:endParaRPr lang="en-US" sz="1400" dirty="0"/>
          </a:p>
        </p:txBody>
      </p:sp>
      <p:sp>
        <p:nvSpPr>
          <p:cNvPr id="9" name="Carte stat 3"/>
          <p:cNvSpPr/>
          <p:nvPr/>
        </p:nvSpPr>
        <p:spPr>
          <a:xfrm>
            <a:off x="548640" y="4572000"/>
            <a:ext cx="4297680" cy="1371600"/>
          </a:xfrm>
          <a:prstGeom prst="roundRect">
            <a:avLst>
              <a:gd name="adj" fmla="val 10000"/>
            </a:avLst>
          </a:prstGeom>
          <a:solidFill>
            <a:schemeClr val="bg2"/>
          </a:solidFill>
          <a:ln w="12700">
            <a:solidFill>
              <a:schemeClr val="bg2"/>
            </a:solidFill>
            <a:prstDash val="solid"/>
          </a:ln>
        </p:spPr>
      </p:sp>
      <p:sp>
        <p:nvSpPr>
          <p:cNvPr id="10" name="Chiffre 3"/>
          <p:cNvSpPr txBox="1"/>
          <p:nvPr/>
        </p:nvSpPr>
        <p:spPr>
          <a:xfrm>
            <a:off x="777240" y="4681728"/>
            <a:ext cx="3840480" cy="731520"/>
          </a:xfrm>
          <a:prstGeom prst="rect">
            <a:avLst/>
          </a:prstGeom>
          <a:noFill/>
          <a:ln/>
        </p:spPr>
        <p:txBody>
          <a:bodyPr wrap="square" lIns="0" tIns="0" rIns="0" bIns="0" rtlCol="0" anchor="t"/>
          <a:lstStyle/>
          <a:p>
            <a:pPr marL="0" indent="0" algn="l">
              <a:buNone/>
            </a:pPr>
            <a:r>
              <a:rPr lang="en-US" sz="4400" b="1" dirty="0">
                <a:solidFill>
                  <a:schemeClr val="accent4"/>
                </a:solidFill>
              </a:rPr>
              <a:t>8 018</a:t>
            </a:r>
            <a:endParaRPr lang="en-US" sz="4400" dirty="0"/>
          </a:p>
        </p:txBody>
      </p:sp>
      <p:sp>
        <p:nvSpPr>
          <p:cNvPr id="11" name="Libellé 3"/>
          <p:cNvSpPr txBox="1"/>
          <p:nvPr/>
        </p:nvSpPr>
        <p:spPr>
          <a:xfrm>
            <a:off x="777240" y="5413248"/>
            <a:ext cx="3840480" cy="457200"/>
          </a:xfrm>
          <a:prstGeom prst="rect">
            <a:avLst/>
          </a:prstGeom>
          <a:noFill/>
          <a:ln/>
        </p:spPr>
        <p:txBody>
          <a:bodyPr wrap="square" lIns="0" tIns="0" rIns="0" bIns="0" rtlCol="0" anchor="t"/>
          <a:lstStyle/>
          <a:p>
            <a:pPr marL="0" indent="0" algn="l">
              <a:buNone/>
            </a:pPr>
            <a:r>
              <a:rPr lang="en-US" sz="1400" dirty="0">
                <a:solidFill>
                  <a:schemeClr val="tx1"/>
                </a:solidFill>
              </a:rPr>
              <a:t>titres différents : il reste des doublons</a:t>
            </a:r>
            <a:endParaRPr lang="en-US" sz="1400" dirty="0"/>
          </a:p>
        </p:txBody>
      </p:sp>
      <p:pic>
        <p:nvPicPr>
          <p:cNvPr id="12" name="Histogramme" descr="Histogramme de la longueur des descriptions en mots"/>
          <p:cNvPicPr>
            <a:picLocks noChangeAspect="1"/>
          </p:cNvPicPr>
          <p:nvPr/>
        </p:nvPicPr>
        <p:blipFill>
          <a:blip r:embed="rId3"/>
          <a:stretch>
            <a:fillRect/>
          </a:stretch>
        </p:blipFill>
        <p:spPr>
          <a:xfrm>
            <a:off x="5212080" y="1463040"/>
            <a:ext cx="6428232" cy="2816866"/>
          </a:xfrm>
          <a:prstGeom prst="rect">
            <a:avLst/>
          </a:prstGeom>
        </p:spPr>
      </p:pic>
      <p:sp>
        <p:nvSpPr>
          <p:cNvPr id="13" name="Carte nettoyage"/>
          <p:cNvSpPr/>
          <p:nvPr/>
        </p:nvSpPr>
        <p:spPr>
          <a:xfrm>
            <a:off x="5212080" y="4480560"/>
            <a:ext cx="6428232" cy="1600200"/>
          </a:xfrm>
          <a:prstGeom prst="roundRect">
            <a:avLst>
              <a:gd name="adj" fmla="val 8571"/>
            </a:avLst>
          </a:prstGeom>
          <a:solidFill>
            <a:schemeClr val="bg2"/>
          </a:solidFill>
          <a:ln w="12700">
            <a:solidFill>
              <a:schemeClr val="bg2"/>
            </a:solidFill>
            <a:prstDash val="solid"/>
          </a:ln>
        </p:spPr>
      </p:sp>
      <p:sp>
        <p:nvSpPr>
          <p:cNvPr id="14" name="Titre nettoyage"/>
          <p:cNvSpPr txBox="1"/>
          <p:nvPr/>
        </p:nvSpPr>
        <p:spPr>
          <a:xfrm>
            <a:off x="5440680" y="4590288"/>
            <a:ext cx="5943600" cy="320040"/>
          </a:xfrm>
          <a:prstGeom prst="rect">
            <a:avLst/>
          </a:prstGeom>
          <a:noFill/>
          <a:ln/>
        </p:spPr>
        <p:txBody>
          <a:bodyPr wrap="square" lIns="0" tIns="0" rIns="0" bIns="0" rtlCol="0" anchor="t"/>
          <a:lstStyle/>
          <a:p>
            <a:pPr marL="0" indent="0" algn="l">
              <a:buNone/>
            </a:pPr>
            <a:r>
              <a:rPr lang="en-US" sz="1600" b="1" dirty="0">
                <a:solidFill>
                  <a:schemeClr val="tx1"/>
                </a:solidFill>
              </a:rPr>
              <a:t>Nettoyage du corpus</a:t>
            </a:r>
            <a:endParaRPr lang="en-US" sz="1600" dirty="0"/>
          </a:p>
        </p:txBody>
      </p:sp>
      <p:sp>
        <p:nvSpPr>
          <p:cNvPr id="15" name="Liste nettoyage"/>
          <p:cNvSpPr txBox="1"/>
          <p:nvPr/>
        </p:nvSpPr>
        <p:spPr>
          <a:xfrm>
            <a:off x="5440680" y="4956048"/>
            <a:ext cx="5943600" cy="1051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On retire les balises HTML</a:t>
            </a:r>
            <a:endParaRPr lang="en-US" sz="1400" dirty="0"/>
          </a:p>
          <a:p>
            <a:pPr marL="342900" indent="-342900">
              <a:spcAft>
                <a:spcPts val="800"/>
              </a:spcAft>
              <a:buSzPct val="100000"/>
              <a:buChar char="•"/>
            </a:pPr>
            <a:r>
              <a:rPr lang="en-US" sz="1400" dirty="0">
                <a:solidFill>
                  <a:schemeClr val="tx1"/>
                </a:solidFill>
              </a:rPr>
              <a:t>On supprime les doublons d’identifiant</a:t>
            </a:r>
            <a:endParaRPr lang="en-US" sz="1400" dirty="0"/>
          </a:p>
          <a:p>
            <a:pPr marL="342900" indent="-342900">
              <a:spcAft>
                <a:spcPts val="800"/>
              </a:spcAft>
              <a:buSzPct val="100000"/>
              <a:buChar char="•"/>
            </a:pPr>
            <a:r>
              <a:rPr lang="en-US" sz="1400" dirty="0">
                <a:solidFill>
                  <a:schemeClr val="tx1"/>
                </a:solidFill>
              </a:rPr>
              <a:t>On enlève les résumés de moins de 20 mots</a:t>
            </a:r>
            <a:endParaRPr lang="en-US" sz="1400" dirty="0"/>
          </a:p>
        </p:txBody>
      </p:sp>
      <p:sp>
        <p:nvSpPr>
          <p:cNvPr id="25" name="Slide Number Placeholder 0"/>
          <p:cNvSpPr>
            <a:spLocks noGrp="1"/>
          </p:cNvSpPr>
          <p:nvPr>
            <p:ph type="sldNum" sz="quarter" idx="4294967295"/>
          </p:nvPr>
        </p:nvSpPr>
        <p:spPr>
          <a:xfrm>
            <a:off x="11137392"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400" b="1" dirty="0">
                <a:solidFill>
                  <a:schemeClr val="tx1"/>
                </a:solidFill>
              </a:rPr>
              <a:t>Préparer le texte</a:t>
            </a:r>
            <a:endParaRPr lang="en-US" sz="3400" dirty="0"/>
          </a:p>
        </p:txBody>
      </p:sp>
      <p:sp>
        <p:nvSpPr>
          <p:cNvPr id="3" name="Avant"/>
          <p:cNvSpPr/>
          <p:nvPr/>
        </p:nvSpPr>
        <p:spPr>
          <a:xfrm>
            <a:off x="548640" y="1463040"/>
            <a:ext cx="5120640" cy="1600200"/>
          </a:xfrm>
          <a:prstGeom prst="roundRect">
            <a:avLst>
              <a:gd name="adj" fmla="val 8571"/>
            </a:avLst>
          </a:prstGeom>
          <a:solidFill>
            <a:schemeClr val="bg2"/>
          </a:solidFill>
          <a:ln w="12700">
            <a:solidFill>
              <a:schemeClr val="bg2"/>
            </a:solidFill>
            <a:prstDash val="solid"/>
          </a:ln>
        </p:spPr>
      </p:sp>
      <p:sp>
        <p:nvSpPr>
          <p:cNvPr id="4" name="Label avant"/>
          <p:cNvSpPr txBox="1"/>
          <p:nvPr/>
        </p:nvSpPr>
        <p:spPr>
          <a:xfrm>
            <a:off x="777240" y="1600200"/>
            <a:ext cx="2743200" cy="274320"/>
          </a:xfrm>
          <a:prstGeom prst="rect">
            <a:avLst/>
          </a:prstGeom>
          <a:noFill/>
          <a:ln/>
        </p:spPr>
        <p:txBody>
          <a:bodyPr wrap="square" lIns="0" tIns="0" rIns="0" bIns="0" rtlCol="0" anchor="t"/>
          <a:lstStyle/>
          <a:p>
            <a:pPr marL="0" indent="0" algn="l">
              <a:buNone/>
            </a:pPr>
            <a:r>
              <a:rPr lang="en-US" sz="1200" b="1" dirty="0">
                <a:solidFill>
                  <a:schemeClr val="accent6"/>
                </a:solidFill>
              </a:rPr>
              <a:t>AVANT</a:t>
            </a:r>
            <a:endParaRPr lang="en-US" sz="1200" dirty="0"/>
          </a:p>
        </p:txBody>
      </p:sp>
      <p:sp>
        <p:nvSpPr>
          <p:cNvPr id="5" name="Texte avant"/>
          <p:cNvSpPr txBox="1"/>
          <p:nvPr/>
        </p:nvSpPr>
        <p:spPr>
          <a:xfrm>
            <a:off x="777240" y="1920240"/>
            <a:ext cx="4663440" cy="1005840"/>
          </a:xfrm>
          <a:prstGeom prst="rect">
            <a:avLst/>
          </a:prstGeom>
          <a:noFill/>
          <a:ln/>
        </p:spPr>
        <p:txBody>
          <a:bodyPr wrap="square" lIns="0" tIns="0" rIns="0" bIns="0" rtlCol="0" anchor="t"/>
          <a:lstStyle/>
          <a:p>
            <a:pPr marL="0" indent="0" algn="l">
              <a:buNone/>
            </a:pPr>
            <a:r>
              <a:rPr lang="en-US" sz="1800" dirty="0">
                <a:solidFill>
                  <a:schemeClr val="tx1"/>
                </a:solidFill>
              </a:rPr>
              <a:t>Young heroes are discovering magical powers, and they are not afraid!</a:t>
            </a:r>
            <a:endParaRPr lang="en-US" sz="1800" dirty="0"/>
          </a:p>
        </p:txBody>
      </p:sp>
      <p:sp>
        <p:nvSpPr>
          <p:cNvPr id="6" name="Flèche"/>
          <p:cNvSpPr/>
          <p:nvPr/>
        </p:nvSpPr>
        <p:spPr>
          <a:xfrm>
            <a:off x="5806440" y="2011680"/>
            <a:ext cx="548640" cy="502920"/>
          </a:xfrm>
          <a:prstGeom prst="rightArrow">
            <a:avLst/>
          </a:prstGeom>
          <a:solidFill>
            <a:schemeClr val="accent1"/>
          </a:solidFill>
          <a:ln w="12700">
            <a:solidFill>
              <a:schemeClr val="accent1"/>
            </a:solidFill>
            <a:prstDash val="solid"/>
          </a:ln>
        </p:spPr>
      </p:sp>
      <p:sp>
        <p:nvSpPr>
          <p:cNvPr id="7" name="Après"/>
          <p:cNvSpPr/>
          <p:nvPr/>
        </p:nvSpPr>
        <p:spPr>
          <a:xfrm>
            <a:off x="6492240" y="1463040"/>
            <a:ext cx="5148072" cy="1600200"/>
          </a:xfrm>
          <a:prstGeom prst="roundRect">
            <a:avLst>
              <a:gd name="adj" fmla="val 8571"/>
            </a:avLst>
          </a:prstGeom>
          <a:solidFill>
            <a:schemeClr val="accent4"/>
          </a:solidFill>
          <a:ln w="12700">
            <a:solidFill>
              <a:schemeClr val="accent4"/>
            </a:solidFill>
            <a:prstDash val="solid"/>
          </a:ln>
        </p:spPr>
      </p:sp>
      <p:sp>
        <p:nvSpPr>
          <p:cNvPr id="8" name="Label après"/>
          <p:cNvSpPr txBox="1"/>
          <p:nvPr/>
        </p:nvSpPr>
        <p:spPr>
          <a:xfrm>
            <a:off x="6720840" y="1600200"/>
            <a:ext cx="2743200" cy="274320"/>
          </a:xfrm>
          <a:prstGeom prst="rect">
            <a:avLst/>
          </a:prstGeom>
          <a:noFill/>
          <a:ln/>
        </p:spPr>
        <p:txBody>
          <a:bodyPr wrap="square" lIns="0" tIns="0" rIns="0" bIns="0" rtlCol="0" anchor="t"/>
          <a:lstStyle/>
          <a:p>
            <a:pPr marL="0" indent="0" algn="l">
              <a:buNone/>
            </a:pPr>
            <a:r>
              <a:rPr lang="en-US" sz="1200" b="1" dirty="0">
                <a:solidFill>
                  <a:schemeClr val="accent5"/>
                </a:solidFill>
              </a:rPr>
              <a:t>APRÈS</a:t>
            </a:r>
            <a:endParaRPr lang="en-US" sz="1200" dirty="0"/>
          </a:p>
        </p:txBody>
      </p:sp>
      <p:sp>
        <p:nvSpPr>
          <p:cNvPr id="9" name="Texte après"/>
          <p:cNvSpPr txBox="1"/>
          <p:nvPr/>
        </p:nvSpPr>
        <p:spPr>
          <a:xfrm>
            <a:off x="6720840" y="1920240"/>
            <a:ext cx="4690872" cy="1005840"/>
          </a:xfrm>
          <a:prstGeom prst="rect">
            <a:avLst/>
          </a:prstGeom>
          <a:noFill/>
          <a:ln/>
        </p:spPr>
        <p:txBody>
          <a:bodyPr wrap="square" lIns="0" tIns="0" rIns="0" bIns="0" rtlCol="0" anchor="t"/>
          <a:lstStyle/>
          <a:p>
            <a:pPr marL="0" indent="0" algn="l">
              <a:buNone/>
            </a:pPr>
            <a:r>
              <a:rPr lang="en-US" sz="1800" b="1" dirty="0">
                <a:solidFill>
                  <a:schemeClr val="bg1"/>
                </a:solidFill>
              </a:rPr>
              <a:t>young hero discov magic power not afraid</a:t>
            </a:r>
            <a:endParaRPr lang="en-US" sz="1800" dirty="0"/>
          </a:p>
        </p:txBody>
      </p:sp>
      <p:sp>
        <p:nvSpPr>
          <p:cNvPr id="10" name="Carte Minuscules"/>
          <p:cNvSpPr/>
          <p:nvPr/>
        </p:nvSpPr>
        <p:spPr>
          <a:xfrm>
            <a:off x="548640" y="3337560"/>
            <a:ext cx="2560320" cy="1783080"/>
          </a:xfrm>
          <a:prstGeom prst="roundRect">
            <a:avLst>
              <a:gd name="adj" fmla="val 7692"/>
            </a:avLst>
          </a:prstGeom>
          <a:solidFill>
            <a:schemeClr val="bg2"/>
          </a:solidFill>
          <a:ln w="12700">
            <a:solidFill>
              <a:schemeClr val="bg2"/>
            </a:solidFill>
            <a:prstDash val="solid"/>
          </a:ln>
        </p:spPr>
      </p:sp>
      <p:sp>
        <p:nvSpPr>
          <p:cNvPr id="11" name="Numéro Minuscules"/>
          <p:cNvSpPr/>
          <p:nvPr/>
        </p:nvSpPr>
        <p:spPr>
          <a:xfrm>
            <a:off x="731520" y="3493008"/>
            <a:ext cx="457200" cy="457200"/>
          </a:xfrm>
          <a:prstGeom prst="ellipse">
            <a:avLst/>
          </a:prstGeom>
          <a:solidFill>
            <a:schemeClr val="accent1"/>
          </a:solidFill>
          <a:ln w="12700">
            <a:solidFill>
              <a:schemeClr val="accent1"/>
            </a:solidFill>
            <a:prstDash val="solid"/>
          </a:ln>
        </p:spPr>
      </p:sp>
      <p:sp>
        <p:nvSpPr>
          <p:cNvPr id="12" name="Chiffre Minuscules"/>
          <p:cNvSpPr txBox="1"/>
          <p:nvPr/>
        </p:nvSpPr>
        <p:spPr>
          <a:xfrm>
            <a:off x="731520" y="3493008"/>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13" name="Titre Minuscules"/>
          <p:cNvSpPr txBox="1"/>
          <p:nvPr/>
        </p:nvSpPr>
        <p:spPr>
          <a:xfrm>
            <a:off x="1325880" y="3493008"/>
            <a:ext cx="1691640" cy="457200"/>
          </a:xfrm>
          <a:prstGeom prst="rect">
            <a:avLst/>
          </a:prstGeom>
          <a:noFill/>
          <a:ln/>
        </p:spPr>
        <p:txBody>
          <a:bodyPr wrap="square" lIns="0" tIns="0" rIns="0" bIns="0" rtlCol="0" anchor="ctr"/>
          <a:lstStyle/>
          <a:p>
            <a:pPr marL="0" indent="0" algn="l">
              <a:buNone/>
            </a:pPr>
            <a:r>
              <a:rPr lang="en-US" sz="1600" b="1" dirty="0">
                <a:solidFill>
                  <a:schemeClr val="tx1"/>
                </a:solidFill>
              </a:rPr>
              <a:t>Minuscules</a:t>
            </a:r>
            <a:endParaRPr lang="en-US" sz="1600" dirty="0"/>
          </a:p>
        </p:txBody>
      </p:sp>
      <p:sp>
        <p:nvSpPr>
          <p:cNvPr id="14" name="Texte Minuscules"/>
          <p:cNvSpPr txBox="1"/>
          <p:nvPr/>
        </p:nvSpPr>
        <p:spPr>
          <a:xfrm>
            <a:off x="731520" y="4069080"/>
            <a:ext cx="2240280" cy="1005840"/>
          </a:xfrm>
          <a:prstGeom prst="rect">
            <a:avLst/>
          </a:prstGeom>
          <a:noFill/>
          <a:ln/>
        </p:spPr>
        <p:txBody>
          <a:bodyPr wrap="square" lIns="0" tIns="0" rIns="0" bIns="0" rtlCol="0" anchor="t"/>
          <a:lstStyle/>
          <a:p>
            <a:pPr marL="0" indent="0" algn="l">
              <a:buNone/>
            </a:pPr>
            <a:r>
              <a:rPr lang="en-US" sz="1400" dirty="0">
                <a:solidFill>
                  <a:schemeClr val="tx1"/>
                </a:solidFill>
              </a:rPr>
              <a:t>Tous les mots en petites lettres</a:t>
            </a:r>
            <a:endParaRPr lang="en-US" sz="1400" dirty="0"/>
          </a:p>
        </p:txBody>
      </p:sp>
      <p:sp>
        <p:nvSpPr>
          <p:cNvPr id="15" name="Carte Ponctuation"/>
          <p:cNvSpPr/>
          <p:nvPr/>
        </p:nvSpPr>
        <p:spPr>
          <a:xfrm>
            <a:off x="3392424" y="3337560"/>
            <a:ext cx="2560320" cy="1783080"/>
          </a:xfrm>
          <a:prstGeom prst="roundRect">
            <a:avLst>
              <a:gd name="adj" fmla="val 7692"/>
            </a:avLst>
          </a:prstGeom>
          <a:solidFill>
            <a:schemeClr val="bg2"/>
          </a:solidFill>
          <a:ln w="12700">
            <a:solidFill>
              <a:schemeClr val="bg2"/>
            </a:solidFill>
            <a:prstDash val="solid"/>
          </a:ln>
        </p:spPr>
      </p:sp>
      <p:sp>
        <p:nvSpPr>
          <p:cNvPr id="16" name="Numéro Ponctuation"/>
          <p:cNvSpPr/>
          <p:nvPr/>
        </p:nvSpPr>
        <p:spPr>
          <a:xfrm>
            <a:off x="3575304" y="3493008"/>
            <a:ext cx="457200" cy="457200"/>
          </a:xfrm>
          <a:prstGeom prst="ellipse">
            <a:avLst/>
          </a:prstGeom>
          <a:solidFill>
            <a:schemeClr val="accent1"/>
          </a:solidFill>
          <a:ln w="12700">
            <a:solidFill>
              <a:schemeClr val="accent1"/>
            </a:solidFill>
            <a:prstDash val="solid"/>
          </a:ln>
        </p:spPr>
      </p:sp>
      <p:sp>
        <p:nvSpPr>
          <p:cNvPr id="17" name="Chiffre Ponctuation"/>
          <p:cNvSpPr txBox="1"/>
          <p:nvPr/>
        </p:nvSpPr>
        <p:spPr>
          <a:xfrm>
            <a:off x="3575304" y="3493008"/>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8" name="Titre Ponctuation"/>
          <p:cNvSpPr txBox="1"/>
          <p:nvPr/>
        </p:nvSpPr>
        <p:spPr>
          <a:xfrm>
            <a:off x="4169664" y="3493008"/>
            <a:ext cx="1691640" cy="457200"/>
          </a:xfrm>
          <a:prstGeom prst="rect">
            <a:avLst/>
          </a:prstGeom>
          <a:noFill/>
          <a:ln/>
        </p:spPr>
        <p:txBody>
          <a:bodyPr wrap="square" lIns="0" tIns="0" rIns="0" bIns="0" rtlCol="0" anchor="ctr"/>
          <a:lstStyle/>
          <a:p>
            <a:pPr marL="0" indent="0" algn="l">
              <a:buNone/>
            </a:pPr>
            <a:r>
              <a:rPr lang="en-US" sz="1600" b="1" dirty="0">
                <a:solidFill>
                  <a:schemeClr val="tx1"/>
                </a:solidFill>
              </a:rPr>
              <a:t>Ponctuation</a:t>
            </a:r>
            <a:endParaRPr lang="en-US" sz="1600" dirty="0"/>
          </a:p>
        </p:txBody>
      </p:sp>
      <p:sp>
        <p:nvSpPr>
          <p:cNvPr id="19" name="Texte Ponctuation"/>
          <p:cNvSpPr txBox="1"/>
          <p:nvPr/>
        </p:nvSpPr>
        <p:spPr>
          <a:xfrm>
            <a:off x="3575304" y="4069080"/>
            <a:ext cx="2240280" cy="1005840"/>
          </a:xfrm>
          <a:prstGeom prst="rect">
            <a:avLst/>
          </a:prstGeom>
          <a:noFill/>
          <a:ln/>
        </p:spPr>
        <p:txBody>
          <a:bodyPr wrap="square" lIns="0" tIns="0" rIns="0" bIns="0" rtlCol="0" anchor="t"/>
          <a:lstStyle/>
          <a:p>
            <a:pPr marL="0" indent="0" algn="l">
              <a:buNone/>
            </a:pPr>
            <a:r>
              <a:rPr lang="en-US" sz="1400" dirty="0">
                <a:solidFill>
                  <a:schemeClr val="tx1"/>
                </a:solidFill>
              </a:rPr>
              <a:t>On enlève les signes inutiles</a:t>
            </a:r>
            <a:endParaRPr lang="en-US" sz="1400" dirty="0"/>
          </a:p>
        </p:txBody>
      </p:sp>
      <p:sp>
        <p:nvSpPr>
          <p:cNvPr id="20" name="Carte Stopwords"/>
          <p:cNvSpPr/>
          <p:nvPr/>
        </p:nvSpPr>
        <p:spPr>
          <a:xfrm>
            <a:off x="6236208" y="3337560"/>
            <a:ext cx="2560320" cy="1783080"/>
          </a:xfrm>
          <a:prstGeom prst="roundRect">
            <a:avLst>
              <a:gd name="adj" fmla="val 7692"/>
            </a:avLst>
          </a:prstGeom>
          <a:solidFill>
            <a:schemeClr val="bg2"/>
          </a:solidFill>
          <a:ln w="12700">
            <a:solidFill>
              <a:schemeClr val="bg2"/>
            </a:solidFill>
            <a:prstDash val="solid"/>
          </a:ln>
        </p:spPr>
      </p:sp>
      <p:sp>
        <p:nvSpPr>
          <p:cNvPr id="21" name="Numéro Stopwords"/>
          <p:cNvSpPr/>
          <p:nvPr/>
        </p:nvSpPr>
        <p:spPr>
          <a:xfrm>
            <a:off x="6419088" y="3493008"/>
            <a:ext cx="457200" cy="457200"/>
          </a:xfrm>
          <a:prstGeom prst="ellipse">
            <a:avLst/>
          </a:prstGeom>
          <a:solidFill>
            <a:schemeClr val="accent1"/>
          </a:solidFill>
          <a:ln w="12700">
            <a:solidFill>
              <a:schemeClr val="accent1"/>
            </a:solidFill>
            <a:prstDash val="solid"/>
          </a:ln>
        </p:spPr>
      </p:sp>
      <p:sp>
        <p:nvSpPr>
          <p:cNvPr id="22" name="Chiffre Stopwords"/>
          <p:cNvSpPr txBox="1"/>
          <p:nvPr/>
        </p:nvSpPr>
        <p:spPr>
          <a:xfrm>
            <a:off x="6419088" y="3493008"/>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23" name="Titre Stopwords"/>
          <p:cNvSpPr txBox="1"/>
          <p:nvPr/>
        </p:nvSpPr>
        <p:spPr>
          <a:xfrm>
            <a:off x="7013448" y="3493008"/>
            <a:ext cx="1691640" cy="457200"/>
          </a:xfrm>
          <a:prstGeom prst="rect">
            <a:avLst/>
          </a:prstGeom>
          <a:noFill/>
          <a:ln/>
        </p:spPr>
        <p:txBody>
          <a:bodyPr wrap="square" lIns="0" tIns="0" rIns="0" bIns="0" rtlCol="0" anchor="ctr"/>
          <a:lstStyle/>
          <a:p>
            <a:pPr marL="0" indent="0" algn="l">
              <a:buNone/>
            </a:pPr>
            <a:r>
              <a:rPr lang="en-US" sz="1600" b="1" dirty="0">
                <a:solidFill>
                  <a:schemeClr val="tx1"/>
                </a:solidFill>
              </a:rPr>
              <a:t>Stopwords</a:t>
            </a:r>
            <a:endParaRPr lang="en-US" sz="1600" dirty="0"/>
          </a:p>
        </p:txBody>
      </p:sp>
      <p:sp>
        <p:nvSpPr>
          <p:cNvPr id="24" name="Texte Stopwords"/>
          <p:cNvSpPr txBox="1"/>
          <p:nvPr/>
        </p:nvSpPr>
        <p:spPr>
          <a:xfrm>
            <a:off x="6419088" y="4069080"/>
            <a:ext cx="2240280" cy="1005840"/>
          </a:xfrm>
          <a:prstGeom prst="rect">
            <a:avLst/>
          </a:prstGeom>
          <a:noFill/>
          <a:ln/>
        </p:spPr>
        <p:txBody>
          <a:bodyPr wrap="square" lIns="0" tIns="0" rIns="0" bIns="0" rtlCol="0" anchor="t"/>
          <a:lstStyle/>
          <a:p>
            <a:pPr marL="0" indent="0" algn="l">
              <a:buNone/>
            </a:pPr>
            <a:r>
              <a:rPr lang="en-US" sz="1400" dirty="0">
                <a:solidFill>
                  <a:schemeClr val="tx1"/>
                </a:solidFill>
              </a:rPr>
              <a:t>On retire « the », « and »… mais on garde « not », « no », « never »</a:t>
            </a:r>
            <a:endParaRPr lang="en-US" sz="1400" dirty="0"/>
          </a:p>
        </p:txBody>
      </p:sp>
      <p:sp>
        <p:nvSpPr>
          <p:cNvPr id="25" name="Carte Stemming"/>
          <p:cNvSpPr/>
          <p:nvPr/>
        </p:nvSpPr>
        <p:spPr>
          <a:xfrm>
            <a:off x="9079992" y="3337560"/>
            <a:ext cx="2560320" cy="1783080"/>
          </a:xfrm>
          <a:prstGeom prst="roundRect">
            <a:avLst>
              <a:gd name="adj" fmla="val 7692"/>
            </a:avLst>
          </a:prstGeom>
          <a:solidFill>
            <a:schemeClr val="bg2"/>
          </a:solidFill>
          <a:ln w="12700">
            <a:solidFill>
              <a:schemeClr val="bg2"/>
            </a:solidFill>
            <a:prstDash val="solid"/>
          </a:ln>
        </p:spPr>
      </p:sp>
      <p:sp>
        <p:nvSpPr>
          <p:cNvPr id="26" name="Numéro Stemming"/>
          <p:cNvSpPr/>
          <p:nvPr/>
        </p:nvSpPr>
        <p:spPr>
          <a:xfrm>
            <a:off x="9262872" y="3493008"/>
            <a:ext cx="457200" cy="457200"/>
          </a:xfrm>
          <a:prstGeom prst="ellipse">
            <a:avLst/>
          </a:prstGeom>
          <a:solidFill>
            <a:schemeClr val="accent1"/>
          </a:solidFill>
          <a:ln w="12700">
            <a:solidFill>
              <a:schemeClr val="accent1"/>
            </a:solidFill>
            <a:prstDash val="solid"/>
          </a:ln>
        </p:spPr>
      </p:sp>
      <p:sp>
        <p:nvSpPr>
          <p:cNvPr id="27" name="Chiffre Stemming"/>
          <p:cNvSpPr txBox="1"/>
          <p:nvPr/>
        </p:nvSpPr>
        <p:spPr>
          <a:xfrm>
            <a:off x="9262872" y="3493008"/>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28" name="Titre Stemming"/>
          <p:cNvSpPr txBox="1"/>
          <p:nvPr/>
        </p:nvSpPr>
        <p:spPr>
          <a:xfrm>
            <a:off x="9857232" y="3493008"/>
            <a:ext cx="1691640" cy="457200"/>
          </a:xfrm>
          <a:prstGeom prst="rect">
            <a:avLst/>
          </a:prstGeom>
          <a:noFill/>
          <a:ln/>
        </p:spPr>
        <p:txBody>
          <a:bodyPr wrap="square" lIns="0" tIns="0" rIns="0" bIns="0" rtlCol="0" anchor="ctr"/>
          <a:lstStyle/>
          <a:p>
            <a:pPr marL="0" indent="0" algn="l">
              <a:buNone/>
            </a:pPr>
            <a:r>
              <a:rPr lang="en-US" sz="1600" b="1" dirty="0">
                <a:solidFill>
                  <a:schemeClr val="tx1"/>
                </a:solidFill>
              </a:rPr>
              <a:t>Stemming</a:t>
            </a:r>
            <a:endParaRPr lang="en-US" sz="1600" dirty="0"/>
          </a:p>
        </p:txBody>
      </p:sp>
      <p:sp>
        <p:nvSpPr>
          <p:cNvPr id="29" name="Texte Stemming"/>
          <p:cNvSpPr txBox="1"/>
          <p:nvPr/>
        </p:nvSpPr>
        <p:spPr>
          <a:xfrm>
            <a:off x="9262872" y="4069080"/>
            <a:ext cx="2240280" cy="1005840"/>
          </a:xfrm>
          <a:prstGeom prst="rect">
            <a:avLst/>
          </a:prstGeom>
          <a:noFill/>
          <a:ln/>
        </p:spPr>
        <p:txBody>
          <a:bodyPr wrap="square" lIns="0" tIns="0" rIns="0" bIns="0" rtlCol="0" anchor="t"/>
          <a:lstStyle/>
          <a:p>
            <a:pPr marL="0" indent="0" algn="l">
              <a:buNone/>
            </a:pPr>
            <a:r>
              <a:rPr lang="en-US" sz="1400" dirty="0">
                <a:solidFill>
                  <a:schemeClr val="tx1"/>
                </a:solidFill>
              </a:rPr>
              <a:t>On garde la racine : « heroes » devient « hero »</a:t>
            </a:r>
            <a:endParaRPr lang="en-US" sz="1400" dirty="0"/>
          </a:p>
        </p:txBody>
      </p:sp>
      <p:sp>
        <p:nvSpPr>
          <p:cNvPr id="30" name="Chiffre tokens"/>
          <p:cNvSpPr txBox="1"/>
          <p:nvPr/>
        </p:nvSpPr>
        <p:spPr>
          <a:xfrm>
            <a:off x="548640" y="5349240"/>
            <a:ext cx="1463040" cy="640080"/>
          </a:xfrm>
          <a:prstGeom prst="rect">
            <a:avLst/>
          </a:prstGeom>
          <a:noFill/>
          <a:ln/>
        </p:spPr>
        <p:txBody>
          <a:bodyPr wrap="square" lIns="0" tIns="0" rIns="0" bIns="0" rtlCol="0" anchor="ctr"/>
          <a:lstStyle/>
          <a:p>
            <a:pPr marL="0" indent="0" algn="l">
              <a:buNone/>
            </a:pPr>
            <a:r>
              <a:rPr lang="en-US" sz="3200" b="1" dirty="0">
                <a:solidFill>
                  <a:schemeClr val="accent4"/>
                </a:solidFill>
              </a:rPr>
              <a:t>78,3</a:t>
            </a:r>
            <a:endParaRPr lang="en-US" sz="3200" dirty="0"/>
          </a:p>
        </p:txBody>
      </p:sp>
      <p:sp>
        <p:nvSpPr>
          <p:cNvPr id="31" name="Libellé tokens"/>
          <p:cNvSpPr txBox="1"/>
          <p:nvPr/>
        </p:nvSpPr>
        <p:spPr>
          <a:xfrm>
            <a:off x="2011680" y="5349240"/>
            <a:ext cx="2011680" cy="640080"/>
          </a:xfrm>
          <a:prstGeom prst="rect">
            <a:avLst/>
          </a:prstGeom>
          <a:noFill/>
          <a:ln/>
        </p:spPr>
        <p:txBody>
          <a:bodyPr wrap="square" lIns="0" tIns="0" rIns="0" bIns="0" rtlCol="0" anchor="ctr"/>
          <a:lstStyle/>
          <a:p>
            <a:pPr marL="0" indent="0" algn="l">
              <a:buNone/>
            </a:pPr>
            <a:r>
              <a:rPr lang="en-US" sz="1400" dirty="0">
                <a:solidFill>
                  <a:schemeClr val="tx1"/>
                </a:solidFill>
              </a:rPr>
              <a:t>mots par livre après nettoyage</a:t>
            </a:r>
            <a:endParaRPr lang="en-US" sz="1400" dirty="0"/>
          </a:p>
        </p:txBody>
      </p:sp>
      <p:sp>
        <p:nvSpPr>
          <p:cNvPr id="32" name="Chiffre vocabulaire"/>
          <p:cNvSpPr txBox="1"/>
          <p:nvPr/>
        </p:nvSpPr>
        <p:spPr>
          <a:xfrm>
            <a:off x="4297680" y="5349240"/>
            <a:ext cx="1920240" cy="640080"/>
          </a:xfrm>
          <a:prstGeom prst="rect">
            <a:avLst/>
          </a:prstGeom>
          <a:noFill/>
          <a:ln/>
        </p:spPr>
        <p:txBody>
          <a:bodyPr wrap="square" lIns="0" tIns="0" rIns="0" bIns="0" rtlCol="0" anchor="ctr"/>
          <a:lstStyle/>
          <a:p>
            <a:pPr marL="0" indent="0" algn="l">
              <a:buNone/>
            </a:pPr>
            <a:r>
              <a:rPr lang="en-US" sz="3200" b="1" dirty="0">
                <a:solidFill>
                  <a:schemeClr val="accent4"/>
                </a:solidFill>
              </a:rPr>
              <a:t>32 189</a:t>
            </a:r>
            <a:endParaRPr lang="en-US" sz="3200" dirty="0"/>
          </a:p>
        </p:txBody>
      </p:sp>
      <p:sp>
        <p:nvSpPr>
          <p:cNvPr id="33" name="Libellé vocabulaire"/>
          <p:cNvSpPr txBox="1"/>
          <p:nvPr/>
        </p:nvSpPr>
        <p:spPr>
          <a:xfrm>
            <a:off x="6263640" y="5349240"/>
            <a:ext cx="2103120" cy="640080"/>
          </a:xfrm>
          <a:prstGeom prst="rect">
            <a:avLst/>
          </a:prstGeom>
          <a:noFill/>
          <a:ln/>
        </p:spPr>
        <p:txBody>
          <a:bodyPr wrap="square" lIns="0" tIns="0" rIns="0" bIns="0" rtlCol="0" anchor="ctr"/>
          <a:lstStyle/>
          <a:p>
            <a:pPr marL="0" indent="0" algn="l">
              <a:buNone/>
            </a:pPr>
            <a:r>
              <a:rPr lang="en-US" sz="1400" dirty="0">
                <a:solidFill>
                  <a:schemeClr val="tx1"/>
                </a:solidFill>
              </a:rPr>
              <a:t>mots uniques dans le vocabulaire</a:t>
            </a:r>
            <a:endParaRPr lang="en-US" sz="1400" dirty="0"/>
          </a:p>
        </p:txBody>
      </p:sp>
      <p:pic>
        <p:nvPicPr>
          <p:cNvPr id="34" name="Icône info" descr="Information"/>
          <p:cNvPicPr>
            <a:picLocks noChangeAspect="1"/>
          </p:cNvPicPr>
          <p:nvPr/>
        </p:nvPicPr>
        <p:blipFill>
          <a:blip r:embed="rId3"/>
          <a:stretch>
            <a:fillRect/>
          </a:stretch>
        </p:blipFill>
        <p:spPr>
          <a:xfrm>
            <a:off x="8778240" y="5486400"/>
            <a:ext cx="365760" cy="365760"/>
          </a:xfrm>
          <a:prstGeom prst="rect">
            <a:avLst/>
          </a:prstGeom>
        </p:spPr>
      </p:pic>
      <p:sp>
        <p:nvSpPr>
          <p:cNvPr id="35" name="Note embeddings"/>
          <p:cNvSpPr txBox="1"/>
          <p:nvPr/>
        </p:nvSpPr>
        <p:spPr>
          <a:xfrm>
            <a:off x="9281160" y="5349240"/>
            <a:ext cx="2359152" cy="640080"/>
          </a:xfrm>
          <a:prstGeom prst="rect">
            <a:avLst/>
          </a:prstGeom>
          <a:noFill/>
          <a:ln/>
        </p:spPr>
        <p:txBody>
          <a:bodyPr wrap="square" lIns="0" tIns="0" rIns="0" bIns="0" rtlCol="0" anchor="ctr"/>
          <a:lstStyle/>
          <a:p>
            <a:pPr marL="0" indent="0" algn="l">
              <a:buNone/>
            </a:pPr>
            <a:r>
              <a:rPr lang="en-US" sz="1400" dirty="0">
                <a:solidFill>
                  <a:schemeClr val="tx1"/>
                </a:solidFill>
              </a:rPr>
              <a:t>Pour les embeddings, on garde le texte presque brut.</a:t>
            </a:r>
            <a:endParaRPr lang="en-US" sz="1400" dirty="0"/>
          </a:p>
        </p:txBody>
      </p:sp>
      <p:sp>
        <p:nvSpPr>
          <p:cNvPr id="36" name="Slide Number Placeholder 0"/>
          <p:cNvSpPr>
            <a:spLocks noGrp="1"/>
          </p:cNvSpPr>
          <p:nvPr>
            <p:ph type="sldNum" sz="quarter" idx="4294967295"/>
          </p:nvPr>
        </p:nvSpPr>
        <p:spPr>
          <a:xfrm>
            <a:off x="11137392"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400" b="1" dirty="0">
                <a:solidFill>
                  <a:schemeClr val="tx1"/>
                </a:solidFill>
              </a:rPr>
              <a:t>Méthode 1 : TF-IDF</a:t>
            </a:r>
            <a:endParaRPr lang="en-US" sz="3400" dirty="0"/>
          </a:p>
        </p:txBody>
      </p:sp>
      <p:sp>
        <p:nvSpPr>
          <p:cNvPr id="3" name="Carte L’idée"/>
          <p:cNvSpPr/>
          <p:nvPr/>
        </p:nvSpPr>
        <p:spPr>
          <a:xfrm>
            <a:off x="548640" y="1463040"/>
            <a:ext cx="6126480" cy="1417320"/>
          </a:xfrm>
          <a:prstGeom prst="roundRect">
            <a:avLst>
              <a:gd name="adj" fmla="val 9677"/>
            </a:avLst>
          </a:prstGeom>
          <a:solidFill>
            <a:schemeClr val="bg2"/>
          </a:solidFill>
          <a:ln w="12700">
            <a:solidFill>
              <a:schemeClr val="bg2"/>
            </a:solidFill>
            <a:prstDash val="solid"/>
          </a:ln>
        </p:spPr>
      </p:sp>
      <p:sp>
        <p:nvSpPr>
          <p:cNvPr id="4" name="Icône L’idée cercle"/>
          <p:cNvSpPr/>
          <p:nvPr/>
        </p:nvSpPr>
        <p:spPr>
          <a:xfrm>
            <a:off x="777240" y="1810512"/>
            <a:ext cx="731520" cy="731520"/>
          </a:xfrm>
          <a:prstGeom prst="ellipse">
            <a:avLst/>
          </a:prstGeom>
          <a:solidFill>
            <a:schemeClr val="accent4"/>
          </a:solidFill>
          <a:ln w="12700">
            <a:solidFill>
              <a:schemeClr val="accent4"/>
            </a:solidFill>
            <a:prstDash val="solid"/>
          </a:ln>
        </p:spPr>
      </p:sp>
      <p:pic>
        <p:nvPicPr>
          <p:cNvPr id="5" name="Icône L’idée" descr="Icône L’idée"/>
          <p:cNvPicPr>
            <a:picLocks noChangeAspect="1"/>
          </p:cNvPicPr>
          <p:nvPr/>
        </p:nvPicPr>
        <p:blipFill>
          <a:blip r:embed="rId3"/>
          <a:stretch>
            <a:fillRect/>
          </a:stretch>
        </p:blipFill>
        <p:spPr>
          <a:xfrm>
            <a:off x="967435" y="2000707"/>
            <a:ext cx="351130" cy="351130"/>
          </a:xfrm>
          <a:prstGeom prst="rect">
            <a:avLst/>
          </a:prstGeom>
        </p:spPr>
      </p:pic>
      <p:sp>
        <p:nvSpPr>
          <p:cNvPr id="6" name="Titre L’idée"/>
          <p:cNvSpPr txBox="1"/>
          <p:nvPr/>
        </p:nvSpPr>
        <p:spPr>
          <a:xfrm>
            <a:off x="1783080" y="1664208"/>
            <a:ext cx="4663440" cy="365760"/>
          </a:xfrm>
          <a:prstGeom prst="rect">
            <a:avLst/>
          </a:prstGeom>
          <a:noFill/>
          <a:ln/>
        </p:spPr>
        <p:txBody>
          <a:bodyPr wrap="square" lIns="0" tIns="0" rIns="0" bIns="0" rtlCol="0" anchor="t"/>
          <a:lstStyle/>
          <a:p>
            <a:pPr marL="0" indent="0" algn="l">
              <a:buNone/>
            </a:pPr>
            <a:r>
              <a:rPr lang="en-US" sz="2000" b="1" dirty="0">
                <a:solidFill>
                  <a:schemeClr val="tx1"/>
                </a:solidFill>
              </a:rPr>
              <a:t>L’idée</a:t>
            </a:r>
            <a:endParaRPr lang="en-US" sz="2000" dirty="0"/>
          </a:p>
        </p:txBody>
      </p:sp>
      <p:sp>
        <p:nvSpPr>
          <p:cNvPr id="7" name="Texte L’idée"/>
          <p:cNvSpPr txBox="1"/>
          <p:nvPr/>
        </p:nvSpPr>
        <p:spPr>
          <a:xfrm>
            <a:off x="1783080" y="2103120"/>
            <a:ext cx="4663440" cy="731520"/>
          </a:xfrm>
          <a:prstGeom prst="rect">
            <a:avLst/>
          </a:prstGeom>
          <a:noFill/>
          <a:ln/>
        </p:spPr>
        <p:txBody>
          <a:bodyPr wrap="square" lIns="0" tIns="0" rIns="0" bIns="0" rtlCol="0" anchor="t"/>
          <a:lstStyle/>
          <a:p>
            <a:pPr marL="0" indent="0" algn="l">
              <a:buNone/>
            </a:pPr>
            <a:r>
              <a:rPr lang="en-US" sz="1600" dirty="0">
                <a:solidFill>
                  <a:schemeClr val="tx1"/>
                </a:solidFill>
              </a:rPr>
              <a:t>Un mot rare est plus important qu’un mot très fréquent.</a:t>
            </a:r>
            <a:endParaRPr lang="en-US" sz="1600" dirty="0"/>
          </a:p>
        </p:txBody>
      </p:sp>
      <p:sp>
        <p:nvSpPr>
          <p:cNvPr id="8" name="Carte Les bigrammes"/>
          <p:cNvSpPr/>
          <p:nvPr/>
        </p:nvSpPr>
        <p:spPr>
          <a:xfrm>
            <a:off x="548640" y="3063240"/>
            <a:ext cx="6126480" cy="1417320"/>
          </a:xfrm>
          <a:prstGeom prst="roundRect">
            <a:avLst>
              <a:gd name="adj" fmla="val 9677"/>
            </a:avLst>
          </a:prstGeom>
          <a:solidFill>
            <a:schemeClr val="bg2"/>
          </a:solidFill>
          <a:ln w="12700">
            <a:solidFill>
              <a:schemeClr val="bg2"/>
            </a:solidFill>
            <a:prstDash val="solid"/>
          </a:ln>
        </p:spPr>
      </p:sp>
      <p:sp>
        <p:nvSpPr>
          <p:cNvPr id="9" name="Icône Les bigrammes cercle"/>
          <p:cNvSpPr/>
          <p:nvPr/>
        </p:nvSpPr>
        <p:spPr>
          <a:xfrm>
            <a:off x="777240" y="3410712"/>
            <a:ext cx="731520" cy="731520"/>
          </a:xfrm>
          <a:prstGeom prst="ellipse">
            <a:avLst/>
          </a:prstGeom>
          <a:solidFill>
            <a:schemeClr val="accent4"/>
          </a:solidFill>
          <a:ln w="12700">
            <a:solidFill>
              <a:schemeClr val="accent4"/>
            </a:solidFill>
            <a:prstDash val="solid"/>
          </a:ln>
        </p:spPr>
      </p:sp>
      <p:pic>
        <p:nvPicPr>
          <p:cNvPr id="10" name="Icône Les bigrammes" descr="Icône Les bigrammes"/>
          <p:cNvPicPr>
            <a:picLocks noChangeAspect="1"/>
          </p:cNvPicPr>
          <p:nvPr/>
        </p:nvPicPr>
        <p:blipFill>
          <a:blip r:embed="rId4"/>
          <a:stretch>
            <a:fillRect/>
          </a:stretch>
        </p:blipFill>
        <p:spPr>
          <a:xfrm>
            <a:off x="967435" y="3600907"/>
            <a:ext cx="351130" cy="351130"/>
          </a:xfrm>
          <a:prstGeom prst="rect">
            <a:avLst/>
          </a:prstGeom>
        </p:spPr>
      </p:pic>
      <p:sp>
        <p:nvSpPr>
          <p:cNvPr id="11" name="Titre Les bigrammes"/>
          <p:cNvSpPr txBox="1"/>
          <p:nvPr/>
        </p:nvSpPr>
        <p:spPr>
          <a:xfrm>
            <a:off x="1783080" y="3264408"/>
            <a:ext cx="4663440" cy="365760"/>
          </a:xfrm>
          <a:prstGeom prst="rect">
            <a:avLst/>
          </a:prstGeom>
          <a:noFill/>
          <a:ln/>
        </p:spPr>
        <p:txBody>
          <a:bodyPr wrap="square" lIns="0" tIns="0" rIns="0" bIns="0" rtlCol="0" anchor="t"/>
          <a:lstStyle/>
          <a:p>
            <a:pPr marL="0" indent="0" algn="l">
              <a:buNone/>
            </a:pPr>
            <a:r>
              <a:rPr lang="en-US" sz="2000" b="1" dirty="0">
                <a:solidFill>
                  <a:schemeClr val="tx1"/>
                </a:solidFill>
              </a:rPr>
              <a:t>Les bigrammes</a:t>
            </a:r>
            <a:endParaRPr lang="en-US" sz="2000" dirty="0"/>
          </a:p>
        </p:txBody>
      </p:sp>
      <p:sp>
        <p:nvSpPr>
          <p:cNvPr id="12" name="Texte Les bigrammes"/>
          <p:cNvSpPr txBox="1"/>
          <p:nvPr/>
        </p:nvSpPr>
        <p:spPr>
          <a:xfrm>
            <a:off x="1783080" y="3703320"/>
            <a:ext cx="4663440" cy="731520"/>
          </a:xfrm>
          <a:prstGeom prst="rect">
            <a:avLst/>
          </a:prstGeom>
          <a:noFill/>
          <a:ln/>
        </p:spPr>
        <p:txBody>
          <a:bodyPr wrap="square" lIns="0" tIns="0" rIns="0" bIns="0" rtlCol="0" anchor="t"/>
          <a:lstStyle/>
          <a:p>
            <a:pPr marL="0" indent="0" algn="l">
              <a:buNone/>
            </a:pPr>
            <a:r>
              <a:rPr lang="en-US" sz="1600" dirty="0">
                <a:solidFill>
                  <a:schemeClr val="tx1"/>
                </a:solidFill>
              </a:rPr>
              <a:t>On regarde aussi deux mots qui se suivent, par exemple « dragon magic ».</a:t>
            </a:r>
            <a:endParaRPr lang="en-US" sz="1600" dirty="0"/>
          </a:p>
        </p:txBody>
      </p:sp>
      <p:sp>
        <p:nvSpPr>
          <p:cNvPr id="13" name="Carte Le résultat"/>
          <p:cNvSpPr/>
          <p:nvPr/>
        </p:nvSpPr>
        <p:spPr>
          <a:xfrm>
            <a:off x="548640" y="4663440"/>
            <a:ext cx="6126480" cy="1417320"/>
          </a:xfrm>
          <a:prstGeom prst="roundRect">
            <a:avLst>
              <a:gd name="adj" fmla="val 9677"/>
            </a:avLst>
          </a:prstGeom>
          <a:solidFill>
            <a:schemeClr val="bg2"/>
          </a:solidFill>
          <a:ln w="12700">
            <a:solidFill>
              <a:schemeClr val="bg2"/>
            </a:solidFill>
            <a:prstDash val="solid"/>
          </a:ln>
        </p:spPr>
      </p:sp>
      <p:sp>
        <p:nvSpPr>
          <p:cNvPr id="14" name="Icône Le résultat cercle"/>
          <p:cNvSpPr/>
          <p:nvPr/>
        </p:nvSpPr>
        <p:spPr>
          <a:xfrm>
            <a:off x="777240" y="5010912"/>
            <a:ext cx="731520" cy="731520"/>
          </a:xfrm>
          <a:prstGeom prst="ellipse">
            <a:avLst/>
          </a:prstGeom>
          <a:solidFill>
            <a:schemeClr val="accent4"/>
          </a:solidFill>
          <a:ln w="12700">
            <a:solidFill>
              <a:schemeClr val="accent4"/>
            </a:solidFill>
            <a:prstDash val="solid"/>
          </a:ln>
        </p:spPr>
      </p:sp>
      <p:pic>
        <p:nvPicPr>
          <p:cNvPr id="15" name="Icône Le résultat" descr="Icône Le résultat"/>
          <p:cNvPicPr>
            <a:picLocks noChangeAspect="1"/>
          </p:cNvPicPr>
          <p:nvPr/>
        </p:nvPicPr>
        <p:blipFill>
          <a:blip r:embed="rId5"/>
          <a:stretch>
            <a:fillRect/>
          </a:stretch>
        </p:blipFill>
        <p:spPr>
          <a:xfrm>
            <a:off x="967435" y="5201107"/>
            <a:ext cx="351130" cy="351130"/>
          </a:xfrm>
          <a:prstGeom prst="rect">
            <a:avLst/>
          </a:prstGeom>
        </p:spPr>
      </p:pic>
      <p:sp>
        <p:nvSpPr>
          <p:cNvPr id="16" name="Titre Le résultat"/>
          <p:cNvSpPr txBox="1"/>
          <p:nvPr/>
        </p:nvSpPr>
        <p:spPr>
          <a:xfrm>
            <a:off x="1783080" y="4864608"/>
            <a:ext cx="4663440" cy="365760"/>
          </a:xfrm>
          <a:prstGeom prst="rect">
            <a:avLst/>
          </a:prstGeom>
          <a:noFill/>
          <a:ln/>
        </p:spPr>
        <p:txBody>
          <a:bodyPr wrap="square" lIns="0" tIns="0" rIns="0" bIns="0" rtlCol="0" anchor="t"/>
          <a:lstStyle/>
          <a:p>
            <a:pPr marL="0" indent="0" algn="l">
              <a:buNone/>
            </a:pPr>
            <a:r>
              <a:rPr lang="en-US" sz="2000" b="1" dirty="0">
                <a:solidFill>
                  <a:schemeClr val="tx1"/>
                </a:solidFill>
              </a:rPr>
              <a:t>Le résultat</a:t>
            </a:r>
            <a:endParaRPr lang="en-US" sz="2000" dirty="0"/>
          </a:p>
        </p:txBody>
      </p:sp>
      <p:sp>
        <p:nvSpPr>
          <p:cNvPr id="17" name="Texte Le résultat"/>
          <p:cNvSpPr txBox="1"/>
          <p:nvPr/>
        </p:nvSpPr>
        <p:spPr>
          <a:xfrm>
            <a:off x="1783080" y="5303520"/>
            <a:ext cx="4663440" cy="731520"/>
          </a:xfrm>
          <a:prstGeom prst="rect">
            <a:avLst/>
          </a:prstGeom>
          <a:noFill/>
          <a:ln/>
        </p:spPr>
        <p:txBody>
          <a:bodyPr wrap="square" lIns="0" tIns="0" rIns="0" bIns="0" rtlCol="0" anchor="t"/>
          <a:lstStyle/>
          <a:p>
            <a:pPr marL="0" indent="0" algn="l">
              <a:buNone/>
            </a:pPr>
            <a:r>
              <a:rPr lang="en-US" sz="1600" dirty="0">
                <a:solidFill>
                  <a:schemeClr val="tx1"/>
                </a:solidFill>
              </a:rPr>
              <a:t>Chaque livre devient une liste de nombres : un vecteur.</a:t>
            </a:r>
            <a:endParaRPr lang="en-US" sz="1600" dirty="0"/>
          </a:p>
        </p:txBody>
      </p:sp>
      <p:sp>
        <p:nvSpPr>
          <p:cNvPr id="18" name="Panneau matrice"/>
          <p:cNvSpPr/>
          <p:nvPr/>
        </p:nvSpPr>
        <p:spPr>
          <a:xfrm>
            <a:off x="7040880" y="1463040"/>
            <a:ext cx="4599432" cy="4617720"/>
          </a:xfrm>
          <a:prstGeom prst="roundRect">
            <a:avLst>
              <a:gd name="adj" fmla="val 2982"/>
            </a:avLst>
          </a:prstGeom>
          <a:solidFill>
            <a:schemeClr val="bg2"/>
          </a:solidFill>
          <a:ln w="12700">
            <a:solidFill>
              <a:schemeClr val="bg2"/>
            </a:solidFill>
            <a:prstDash val="solid"/>
          </a:ln>
        </p:spPr>
      </p:sp>
      <p:sp>
        <p:nvSpPr>
          <p:cNvPr id="19" name="Cellule 0-0"/>
          <p:cNvSpPr/>
          <p:nvPr/>
        </p:nvSpPr>
        <p:spPr>
          <a:xfrm>
            <a:off x="7388352" y="1783080"/>
            <a:ext cx="274320" cy="274320"/>
          </a:xfrm>
          <a:prstGeom prst="rect">
            <a:avLst/>
          </a:prstGeom>
          <a:solidFill>
            <a:schemeClr val="bg1"/>
          </a:solidFill>
          <a:ln w="12700">
            <a:solidFill>
              <a:schemeClr val="bg1"/>
            </a:solidFill>
            <a:prstDash val="solid"/>
          </a:ln>
        </p:spPr>
      </p:sp>
      <p:sp>
        <p:nvSpPr>
          <p:cNvPr id="20" name="Cellule 0-1"/>
          <p:cNvSpPr/>
          <p:nvPr/>
        </p:nvSpPr>
        <p:spPr>
          <a:xfrm>
            <a:off x="7717536" y="1783080"/>
            <a:ext cx="274320" cy="274320"/>
          </a:xfrm>
          <a:prstGeom prst="rect">
            <a:avLst/>
          </a:prstGeom>
          <a:solidFill>
            <a:schemeClr val="bg1"/>
          </a:solidFill>
          <a:ln w="12700">
            <a:solidFill>
              <a:schemeClr val="bg1"/>
            </a:solidFill>
            <a:prstDash val="solid"/>
          </a:ln>
        </p:spPr>
      </p:sp>
      <p:sp>
        <p:nvSpPr>
          <p:cNvPr id="21" name="Cellule 0-2"/>
          <p:cNvSpPr/>
          <p:nvPr/>
        </p:nvSpPr>
        <p:spPr>
          <a:xfrm>
            <a:off x="8046720" y="1783080"/>
            <a:ext cx="274320" cy="274320"/>
          </a:xfrm>
          <a:prstGeom prst="rect">
            <a:avLst/>
          </a:prstGeom>
          <a:solidFill>
            <a:schemeClr val="bg1"/>
          </a:solidFill>
          <a:ln w="12700">
            <a:solidFill>
              <a:schemeClr val="bg1"/>
            </a:solidFill>
            <a:prstDash val="solid"/>
          </a:ln>
        </p:spPr>
      </p:sp>
      <p:sp>
        <p:nvSpPr>
          <p:cNvPr id="22" name="Cellule 0-3"/>
          <p:cNvSpPr/>
          <p:nvPr/>
        </p:nvSpPr>
        <p:spPr>
          <a:xfrm>
            <a:off x="8375904" y="1783080"/>
            <a:ext cx="274320" cy="274320"/>
          </a:xfrm>
          <a:prstGeom prst="rect">
            <a:avLst/>
          </a:prstGeom>
          <a:solidFill>
            <a:schemeClr val="bg1"/>
          </a:solidFill>
          <a:ln w="12700">
            <a:solidFill>
              <a:schemeClr val="bg1"/>
            </a:solidFill>
            <a:prstDash val="solid"/>
          </a:ln>
        </p:spPr>
      </p:sp>
      <p:sp>
        <p:nvSpPr>
          <p:cNvPr id="23" name="Cellule 0-4"/>
          <p:cNvSpPr/>
          <p:nvPr/>
        </p:nvSpPr>
        <p:spPr>
          <a:xfrm>
            <a:off x="8705088" y="1783080"/>
            <a:ext cx="274320" cy="274320"/>
          </a:xfrm>
          <a:prstGeom prst="rect">
            <a:avLst/>
          </a:prstGeom>
          <a:solidFill>
            <a:schemeClr val="bg1"/>
          </a:solidFill>
          <a:ln w="12700">
            <a:solidFill>
              <a:schemeClr val="bg1"/>
            </a:solidFill>
            <a:prstDash val="solid"/>
          </a:ln>
        </p:spPr>
      </p:sp>
      <p:sp>
        <p:nvSpPr>
          <p:cNvPr id="24" name="Cellule 0-5"/>
          <p:cNvSpPr/>
          <p:nvPr/>
        </p:nvSpPr>
        <p:spPr>
          <a:xfrm>
            <a:off x="9034272" y="1783080"/>
            <a:ext cx="274320" cy="274320"/>
          </a:xfrm>
          <a:prstGeom prst="rect">
            <a:avLst/>
          </a:prstGeom>
          <a:solidFill>
            <a:schemeClr val="bg1"/>
          </a:solidFill>
          <a:ln w="12700">
            <a:solidFill>
              <a:schemeClr val="bg1"/>
            </a:solidFill>
            <a:prstDash val="solid"/>
          </a:ln>
        </p:spPr>
      </p:sp>
      <p:sp>
        <p:nvSpPr>
          <p:cNvPr id="25" name="Cellule 0-6"/>
          <p:cNvSpPr/>
          <p:nvPr/>
        </p:nvSpPr>
        <p:spPr>
          <a:xfrm>
            <a:off x="9363456" y="1783080"/>
            <a:ext cx="274320" cy="274320"/>
          </a:xfrm>
          <a:prstGeom prst="rect">
            <a:avLst/>
          </a:prstGeom>
          <a:solidFill>
            <a:schemeClr val="bg1"/>
          </a:solidFill>
          <a:ln w="12700">
            <a:solidFill>
              <a:schemeClr val="bg1"/>
            </a:solidFill>
            <a:prstDash val="solid"/>
          </a:ln>
        </p:spPr>
      </p:sp>
      <p:sp>
        <p:nvSpPr>
          <p:cNvPr id="26" name="Cellule 0-7"/>
          <p:cNvSpPr/>
          <p:nvPr/>
        </p:nvSpPr>
        <p:spPr>
          <a:xfrm>
            <a:off x="9692640" y="1783080"/>
            <a:ext cx="274320" cy="274320"/>
          </a:xfrm>
          <a:prstGeom prst="rect">
            <a:avLst/>
          </a:prstGeom>
          <a:solidFill>
            <a:schemeClr val="bg1"/>
          </a:solidFill>
          <a:ln w="12700">
            <a:solidFill>
              <a:schemeClr val="bg1"/>
            </a:solidFill>
            <a:prstDash val="solid"/>
          </a:ln>
        </p:spPr>
      </p:sp>
      <p:sp>
        <p:nvSpPr>
          <p:cNvPr id="27" name="Cellule 0-8"/>
          <p:cNvSpPr/>
          <p:nvPr/>
        </p:nvSpPr>
        <p:spPr>
          <a:xfrm>
            <a:off x="10021824" y="1783080"/>
            <a:ext cx="274320" cy="274320"/>
          </a:xfrm>
          <a:prstGeom prst="rect">
            <a:avLst/>
          </a:prstGeom>
          <a:solidFill>
            <a:schemeClr val="accent4"/>
          </a:solidFill>
          <a:ln w="12700">
            <a:solidFill>
              <a:schemeClr val="accent4"/>
            </a:solidFill>
            <a:prstDash val="solid"/>
          </a:ln>
        </p:spPr>
      </p:sp>
      <p:sp>
        <p:nvSpPr>
          <p:cNvPr id="28" name="Cellule 0-9"/>
          <p:cNvSpPr/>
          <p:nvPr/>
        </p:nvSpPr>
        <p:spPr>
          <a:xfrm>
            <a:off x="10351008" y="1783080"/>
            <a:ext cx="274320" cy="274320"/>
          </a:xfrm>
          <a:prstGeom prst="rect">
            <a:avLst/>
          </a:prstGeom>
          <a:solidFill>
            <a:schemeClr val="bg1"/>
          </a:solidFill>
          <a:ln w="12700">
            <a:solidFill>
              <a:schemeClr val="bg1"/>
            </a:solidFill>
            <a:prstDash val="solid"/>
          </a:ln>
        </p:spPr>
      </p:sp>
      <p:sp>
        <p:nvSpPr>
          <p:cNvPr id="29" name="Cellule 0-10"/>
          <p:cNvSpPr/>
          <p:nvPr/>
        </p:nvSpPr>
        <p:spPr>
          <a:xfrm>
            <a:off x="10680192" y="1783080"/>
            <a:ext cx="274320" cy="274320"/>
          </a:xfrm>
          <a:prstGeom prst="rect">
            <a:avLst/>
          </a:prstGeom>
          <a:solidFill>
            <a:schemeClr val="bg1"/>
          </a:solidFill>
          <a:ln w="12700">
            <a:solidFill>
              <a:schemeClr val="bg1"/>
            </a:solidFill>
            <a:prstDash val="solid"/>
          </a:ln>
        </p:spPr>
      </p:sp>
      <p:sp>
        <p:nvSpPr>
          <p:cNvPr id="30" name="Cellule 0-11"/>
          <p:cNvSpPr/>
          <p:nvPr/>
        </p:nvSpPr>
        <p:spPr>
          <a:xfrm>
            <a:off x="11009376" y="1783080"/>
            <a:ext cx="274320" cy="274320"/>
          </a:xfrm>
          <a:prstGeom prst="rect">
            <a:avLst/>
          </a:prstGeom>
          <a:solidFill>
            <a:schemeClr val="bg1"/>
          </a:solidFill>
          <a:ln w="12700">
            <a:solidFill>
              <a:schemeClr val="bg1"/>
            </a:solidFill>
            <a:prstDash val="solid"/>
          </a:ln>
        </p:spPr>
      </p:sp>
      <p:sp>
        <p:nvSpPr>
          <p:cNvPr id="31" name="Cellule 1-0"/>
          <p:cNvSpPr/>
          <p:nvPr/>
        </p:nvSpPr>
        <p:spPr>
          <a:xfrm>
            <a:off x="7388352" y="2112264"/>
            <a:ext cx="274320" cy="274320"/>
          </a:xfrm>
          <a:prstGeom prst="rect">
            <a:avLst/>
          </a:prstGeom>
          <a:solidFill>
            <a:schemeClr val="bg1"/>
          </a:solidFill>
          <a:ln w="12700">
            <a:solidFill>
              <a:schemeClr val="bg1"/>
            </a:solidFill>
            <a:prstDash val="solid"/>
          </a:ln>
        </p:spPr>
      </p:sp>
      <p:sp>
        <p:nvSpPr>
          <p:cNvPr id="32" name="Cellule 1-1"/>
          <p:cNvSpPr/>
          <p:nvPr/>
        </p:nvSpPr>
        <p:spPr>
          <a:xfrm>
            <a:off x="7717536" y="2112264"/>
            <a:ext cx="274320" cy="274320"/>
          </a:xfrm>
          <a:prstGeom prst="rect">
            <a:avLst/>
          </a:prstGeom>
          <a:solidFill>
            <a:schemeClr val="accent4"/>
          </a:solidFill>
          <a:ln w="12700">
            <a:solidFill>
              <a:schemeClr val="accent4"/>
            </a:solidFill>
            <a:prstDash val="solid"/>
          </a:ln>
        </p:spPr>
      </p:sp>
      <p:sp>
        <p:nvSpPr>
          <p:cNvPr id="33" name="Cellule 1-2"/>
          <p:cNvSpPr/>
          <p:nvPr/>
        </p:nvSpPr>
        <p:spPr>
          <a:xfrm>
            <a:off x="8046720" y="2112264"/>
            <a:ext cx="274320" cy="274320"/>
          </a:xfrm>
          <a:prstGeom prst="rect">
            <a:avLst/>
          </a:prstGeom>
          <a:solidFill>
            <a:schemeClr val="bg1"/>
          </a:solidFill>
          <a:ln w="12700">
            <a:solidFill>
              <a:schemeClr val="bg1"/>
            </a:solidFill>
            <a:prstDash val="solid"/>
          </a:ln>
        </p:spPr>
      </p:sp>
      <p:sp>
        <p:nvSpPr>
          <p:cNvPr id="34" name="Cellule 1-3"/>
          <p:cNvSpPr/>
          <p:nvPr/>
        </p:nvSpPr>
        <p:spPr>
          <a:xfrm>
            <a:off x="8375904" y="2112264"/>
            <a:ext cx="274320" cy="274320"/>
          </a:xfrm>
          <a:prstGeom prst="rect">
            <a:avLst/>
          </a:prstGeom>
          <a:solidFill>
            <a:schemeClr val="accent4"/>
          </a:solidFill>
          <a:ln w="12700">
            <a:solidFill>
              <a:schemeClr val="accent4"/>
            </a:solidFill>
            <a:prstDash val="solid"/>
          </a:ln>
        </p:spPr>
      </p:sp>
      <p:sp>
        <p:nvSpPr>
          <p:cNvPr id="35" name="Cellule 1-4"/>
          <p:cNvSpPr/>
          <p:nvPr/>
        </p:nvSpPr>
        <p:spPr>
          <a:xfrm>
            <a:off x="8705088" y="2112264"/>
            <a:ext cx="274320" cy="274320"/>
          </a:xfrm>
          <a:prstGeom prst="rect">
            <a:avLst/>
          </a:prstGeom>
          <a:solidFill>
            <a:schemeClr val="accent4"/>
          </a:solidFill>
          <a:ln w="12700">
            <a:solidFill>
              <a:schemeClr val="accent4"/>
            </a:solidFill>
            <a:prstDash val="solid"/>
          </a:ln>
        </p:spPr>
      </p:sp>
      <p:sp>
        <p:nvSpPr>
          <p:cNvPr id="36" name="Cellule 1-5"/>
          <p:cNvSpPr/>
          <p:nvPr/>
        </p:nvSpPr>
        <p:spPr>
          <a:xfrm>
            <a:off x="9034272" y="2112264"/>
            <a:ext cx="274320" cy="274320"/>
          </a:xfrm>
          <a:prstGeom prst="rect">
            <a:avLst/>
          </a:prstGeom>
          <a:solidFill>
            <a:schemeClr val="bg1"/>
          </a:solidFill>
          <a:ln w="12700">
            <a:solidFill>
              <a:schemeClr val="bg1"/>
            </a:solidFill>
            <a:prstDash val="solid"/>
          </a:ln>
        </p:spPr>
      </p:sp>
      <p:sp>
        <p:nvSpPr>
          <p:cNvPr id="37" name="Cellule 1-6"/>
          <p:cNvSpPr/>
          <p:nvPr/>
        </p:nvSpPr>
        <p:spPr>
          <a:xfrm>
            <a:off x="9363456" y="2112264"/>
            <a:ext cx="274320" cy="274320"/>
          </a:xfrm>
          <a:prstGeom prst="rect">
            <a:avLst/>
          </a:prstGeom>
          <a:solidFill>
            <a:schemeClr val="bg1"/>
          </a:solidFill>
          <a:ln w="12700">
            <a:solidFill>
              <a:schemeClr val="bg1"/>
            </a:solidFill>
            <a:prstDash val="solid"/>
          </a:ln>
        </p:spPr>
      </p:sp>
      <p:sp>
        <p:nvSpPr>
          <p:cNvPr id="38" name="Cellule 1-7"/>
          <p:cNvSpPr/>
          <p:nvPr/>
        </p:nvSpPr>
        <p:spPr>
          <a:xfrm>
            <a:off x="9692640" y="2112264"/>
            <a:ext cx="274320" cy="274320"/>
          </a:xfrm>
          <a:prstGeom prst="rect">
            <a:avLst/>
          </a:prstGeom>
          <a:solidFill>
            <a:schemeClr val="bg1"/>
          </a:solidFill>
          <a:ln w="12700">
            <a:solidFill>
              <a:schemeClr val="bg1"/>
            </a:solidFill>
            <a:prstDash val="solid"/>
          </a:ln>
        </p:spPr>
      </p:sp>
      <p:sp>
        <p:nvSpPr>
          <p:cNvPr id="39" name="Cellule 1-8"/>
          <p:cNvSpPr/>
          <p:nvPr/>
        </p:nvSpPr>
        <p:spPr>
          <a:xfrm>
            <a:off x="10021824" y="2112264"/>
            <a:ext cx="274320" cy="274320"/>
          </a:xfrm>
          <a:prstGeom prst="rect">
            <a:avLst/>
          </a:prstGeom>
          <a:solidFill>
            <a:schemeClr val="bg1"/>
          </a:solidFill>
          <a:ln w="12700">
            <a:solidFill>
              <a:schemeClr val="bg1"/>
            </a:solidFill>
            <a:prstDash val="solid"/>
          </a:ln>
        </p:spPr>
      </p:sp>
      <p:sp>
        <p:nvSpPr>
          <p:cNvPr id="40" name="Cellule 1-9"/>
          <p:cNvSpPr/>
          <p:nvPr/>
        </p:nvSpPr>
        <p:spPr>
          <a:xfrm>
            <a:off x="10351008" y="2112264"/>
            <a:ext cx="274320" cy="274320"/>
          </a:xfrm>
          <a:prstGeom prst="rect">
            <a:avLst/>
          </a:prstGeom>
          <a:solidFill>
            <a:schemeClr val="accent4"/>
          </a:solidFill>
          <a:ln w="12700">
            <a:solidFill>
              <a:schemeClr val="accent4"/>
            </a:solidFill>
            <a:prstDash val="solid"/>
          </a:ln>
        </p:spPr>
      </p:sp>
      <p:sp>
        <p:nvSpPr>
          <p:cNvPr id="41" name="Cellule 1-10"/>
          <p:cNvSpPr/>
          <p:nvPr/>
        </p:nvSpPr>
        <p:spPr>
          <a:xfrm>
            <a:off x="10680192" y="2112264"/>
            <a:ext cx="274320" cy="274320"/>
          </a:xfrm>
          <a:prstGeom prst="rect">
            <a:avLst/>
          </a:prstGeom>
          <a:solidFill>
            <a:schemeClr val="bg1"/>
          </a:solidFill>
          <a:ln w="12700">
            <a:solidFill>
              <a:schemeClr val="bg1"/>
            </a:solidFill>
            <a:prstDash val="solid"/>
          </a:ln>
        </p:spPr>
      </p:sp>
      <p:sp>
        <p:nvSpPr>
          <p:cNvPr id="42" name="Cellule 1-11"/>
          <p:cNvSpPr/>
          <p:nvPr/>
        </p:nvSpPr>
        <p:spPr>
          <a:xfrm>
            <a:off x="11009376" y="2112264"/>
            <a:ext cx="274320" cy="274320"/>
          </a:xfrm>
          <a:prstGeom prst="rect">
            <a:avLst/>
          </a:prstGeom>
          <a:solidFill>
            <a:schemeClr val="bg1"/>
          </a:solidFill>
          <a:ln w="12700">
            <a:solidFill>
              <a:schemeClr val="bg1"/>
            </a:solidFill>
            <a:prstDash val="solid"/>
          </a:ln>
        </p:spPr>
      </p:sp>
      <p:sp>
        <p:nvSpPr>
          <p:cNvPr id="43" name="Cellule 2-0"/>
          <p:cNvSpPr/>
          <p:nvPr/>
        </p:nvSpPr>
        <p:spPr>
          <a:xfrm>
            <a:off x="7388352" y="2441448"/>
            <a:ext cx="274320" cy="274320"/>
          </a:xfrm>
          <a:prstGeom prst="rect">
            <a:avLst/>
          </a:prstGeom>
          <a:solidFill>
            <a:schemeClr val="bg1"/>
          </a:solidFill>
          <a:ln w="12700">
            <a:solidFill>
              <a:schemeClr val="bg1"/>
            </a:solidFill>
            <a:prstDash val="solid"/>
          </a:ln>
        </p:spPr>
      </p:sp>
      <p:sp>
        <p:nvSpPr>
          <p:cNvPr id="44" name="Cellule 2-1"/>
          <p:cNvSpPr/>
          <p:nvPr/>
        </p:nvSpPr>
        <p:spPr>
          <a:xfrm>
            <a:off x="7717536" y="2441448"/>
            <a:ext cx="274320" cy="274320"/>
          </a:xfrm>
          <a:prstGeom prst="rect">
            <a:avLst/>
          </a:prstGeom>
          <a:solidFill>
            <a:schemeClr val="bg1"/>
          </a:solidFill>
          <a:ln w="12700">
            <a:solidFill>
              <a:schemeClr val="bg1"/>
            </a:solidFill>
            <a:prstDash val="solid"/>
          </a:ln>
        </p:spPr>
      </p:sp>
      <p:sp>
        <p:nvSpPr>
          <p:cNvPr id="45" name="Cellule 2-2"/>
          <p:cNvSpPr/>
          <p:nvPr/>
        </p:nvSpPr>
        <p:spPr>
          <a:xfrm>
            <a:off x="8046720" y="2441448"/>
            <a:ext cx="274320" cy="274320"/>
          </a:xfrm>
          <a:prstGeom prst="rect">
            <a:avLst/>
          </a:prstGeom>
          <a:solidFill>
            <a:schemeClr val="accent4"/>
          </a:solidFill>
          <a:ln w="12700">
            <a:solidFill>
              <a:schemeClr val="accent4"/>
            </a:solidFill>
            <a:prstDash val="solid"/>
          </a:ln>
        </p:spPr>
      </p:sp>
      <p:sp>
        <p:nvSpPr>
          <p:cNvPr id="46" name="Cellule 2-3"/>
          <p:cNvSpPr/>
          <p:nvPr/>
        </p:nvSpPr>
        <p:spPr>
          <a:xfrm>
            <a:off x="8375904" y="2441448"/>
            <a:ext cx="274320" cy="274320"/>
          </a:xfrm>
          <a:prstGeom prst="rect">
            <a:avLst/>
          </a:prstGeom>
          <a:solidFill>
            <a:schemeClr val="bg1"/>
          </a:solidFill>
          <a:ln w="12700">
            <a:solidFill>
              <a:schemeClr val="bg1"/>
            </a:solidFill>
            <a:prstDash val="solid"/>
          </a:ln>
        </p:spPr>
      </p:sp>
      <p:sp>
        <p:nvSpPr>
          <p:cNvPr id="47" name="Cellule 2-4"/>
          <p:cNvSpPr/>
          <p:nvPr/>
        </p:nvSpPr>
        <p:spPr>
          <a:xfrm>
            <a:off x="8705088" y="2441448"/>
            <a:ext cx="274320" cy="274320"/>
          </a:xfrm>
          <a:prstGeom prst="rect">
            <a:avLst/>
          </a:prstGeom>
          <a:solidFill>
            <a:schemeClr val="bg1"/>
          </a:solidFill>
          <a:ln w="12700">
            <a:solidFill>
              <a:schemeClr val="bg1"/>
            </a:solidFill>
            <a:prstDash val="solid"/>
          </a:ln>
        </p:spPr>
      </p:sp>
      <p:sp>
        <p:nvSpPr>
          <p:cNvPr id="48" name="Cellule 2-5"/>
          <p:cNvSpPr/>
          <p:nvPr/>
        </p:nvSpPr>
        <p:spPr>
          <a:xfrm>
            <a:off x="9034272" y="2441448"/>
            <a:ext cx="274320" cy="274320"/>
          </a:xfrm>
          <a:prstGeom prst="rect">
            <a:avLst/>
          </a:prstGeom>
          <a:solidFill>
            <a:schemeClr val="accent4"/>
          </a:solidFill>
          <a:ln w="12700">
            <a:solidFill>
              <a:schemeClr val="accent4"/>
            </a:solidFill>
            <a:prstDash val="solid"/>
          </a:ln>
        </p:spPr>
      </p:sp>
      <p:sp>
        <p:nvSpPr>
          <p:cNvPr id="49" name="Cellule 2-6"/>
          <p:cNvSpPr/>
          <p:nvPr/>
        </p:nvSpPr>
        <p:spPr>
          <a:xfrm>
            <a:off x="9363456" y="2441448"/>
            <a:ext cx="274320" cy="274320"/>
          </a:xfrm>
          <a:prstGeom prst="rect">
            <a:avLst/>
          </a:prstGeom>
          <a:solidFill>
            <a:schemeClr val="bg1"/>
          </a:solidFill>
          <a:ln w="12700">
            <a:solidFill>
              <a:schemeClr val="bg1"/>
            </a:solidFill>
            <a:prstDash val="solid"/>
          </a:ln>
        </p:spPr>
      </p:sp>
      <p:sp>
        <p:nvSpPr>
          <p:cNvPr id="50" name="Cellule 2-7"/>
          <p:cNvSpPr/>
          <p:nvPr/>
        </p:nvSpPr>
        <p:spPr>
          <a:xfrm>
            <a:off x="9692640" y="2441448"/>
            <a:ext cx="274320" cy="274320"/>
          </a:xfrm>
          <a:prstGeom prst="rect">
            <a:avLst/>
          </a:prstGeom>
          <a:solidFill>
            <a:schemeClr val="bg1"/>
          </a:solidFill>
          <a:ln w="12700">
            <a:solidFill>
              <a:schemeClr val="bg1"/>
            </a:solidFill>
            <a:prstDash val="solid"/>
          </a:ln>
        </p:spPr>
      </p:sp>
      <p:sp>
        <p:nvSpPr>
          <p:cNvPr id="51" name="Cellule 2-8"/>
          <p:cNvSpPr/>
          <p:nvPr/>
        </p:nvSpPr>
        <p:spPr>
          <a:xfrm>
            <a:off x="10021824" y="2441448"/>
            <a:ext cx="274320" cy="274320"/>
          </a:xfrm>
          <a:prstGeom prst="rect">
            <a:avLst/>
          </a:prstGeom>
          <a:solidFill>
            <a:schemeClr val="bg1"/>
          </a:solidFill>
          <a:ln w="12700">
            <a:solidFill>
              <a:schemeClr val="bg1"/>
            </a:solidFill>
            <a:prstDash val="solid"/>
          </a:ln>
        </p:spPr>
      </p:sp>
      <p:sp>
        <p:nvSpPr>
          <p:cNvPr id="52" name="Cellule 2-9"/>
          <p:cNvSpPr/>
          <p:nvPr/>
        </p:nvSpPr>
        <p:spPr>
          <a:xfrm>
            <a:off x="10351008" y="2441448"/>
            <a:ext cx="274320" cy="274320"/>
          </a:xfrm>
          <a:prstGeom prst="rect">
            <a:avLst/>
          </a:prstGeom>
          <a:solidFill>
            <a:schemeClr val="bg1"/>
          </a:solidFill>
          <a:ln w="12700">
            <a:solidFill>
              <a:schemeClr val="bg1"/>
            </a:solidFill>
            <a:prstDash val="solid"/>
          </a:ln>
        </p:spPr>
      </p:sp>
      <p:sp>
        <p:nvSpPr>
          <p:cNvPr id="53" name="Cellule 2-10"/>
          <p:cNvSpPr/>
          <p:nvPr/>
        </p:nvSpPr>
        <p:spPr>
          <a:xfrm>
            <a:off x="10680192" y="2441448"/>
            <a:ext cx="274320" cy="274320"/>
          </a:xfrm>
          <a:prstGeom prst="rect">
            <a:avLst/>
          </a:prstGeom>
          <a:solidFill>
            <a:schemeClr val="bg1"/>
          </a:solidFill>
          <a:ln w="12700">
            <a:solidFill>
              <a:schemeClr val="bg1"/>
            </a:solidFill>
            <a:prstDash val="solid"/>
          </a:ln>
        </p:spPr>
      </p:sp>
      <p:sp>
        <p:nvSpPr>
          <p:cNvPr id="54" name="Cellule 2-11"/>
          <p:cNvSpPr/>
          <p:nvPr/>
        </p:nvSpPr>
        <p:spPr>
          <a:xfrm>
            <a:off x="11009376" y="2441448"/>
            <a:ext cx="274320" cy="274320"/>
          </a:xfrm>
          <a:prstGeom prst="rect">
            <a:avLst/>
          </a:prstGeom>
          <a:solidFill>
            <a:schemeClr val="bg1"/>
          </a:solidFill>
          <a:ln w="12700">
            <a:solidFill>
              <a:schemeClr val="bg1"/>
            </a:solidFill>
            <a:prstDash val="solid"/>
          </a:ln>
        </p:spPr>
      </p:sp>
      <p:sp>
        <p:nvSpPr>
          <p:cNvPr id="55" name="Cellule 3-0"/>
          <p:cNvSpPr/>
          <p:nvPr/>
        </p:nvSpPr>
        <p:spPr>
          <a:xfrm>
            <a:off x="7388352" y="2770632"/>
            <a:ext cx="274320" cy="274320"/>
          </a:xfrm>
          <a:prstGeom prst="rect">
            <a:avLst/>
          </a:prstGeom>
          <a:solidFill>
            <a:schemeClr val="accent4"/>
          </a:solidFill>
          <a:ln w="12700">
            <a:solidFill>
              <a:schemeClr val="accent4"/>
            </a:solidFill>
            <a:prstDash val="solid"/>
          </a:ln>
        </p:spPr>
      </p:sp>
      <p:sp>
        <p:nvSpPr>
          <p:cNvPr id="56" name="Cellule 3-1"/>
          <p:cNvSpPr/>
          <p:nvPr/>
        </p:nvSpPr>
        <p:spPr>
          <a:xfrm>
            <a:off x="7717536" y="2770632"/>
            <a:ext cx="274320" cy="274320"/>
          </a:xfrm>
          <a:prstGeom prst="rect">
            <a:avLst/>
          </a:prstGeom>
          <a:solidFill>
            <a:schemeClr val="bg1"/>
          </a:solidFill>
          <a:ln w="12700">
            <a:solidFill>
              <a:schemeClr val="bg1"/>
            </a:solidFill>
            <a:prstDash val="solid"/>
          </a:ln>
        </p:spPr>
      </p:sp>
      <p:sp>
        <p:nvSpPr>
          <p:cNvPr id="57" name="Cellule 3-2"/>
          <p:cNvSpPr/>
          <p:nvPr/>
        </p:nvSpPr>
        <p:spPr>
          <a:xfrm>
            <a:off x="8046720" y="2770632"/>
            <a:ext cx="274320" cy="274320"/>
          </a:xfrm>
          <a:prstGeom prst="rect">
            <a:avLst/>
          </a:prstGeom>
          <a:solidFill>
            <a:schemeClr val="bg1"/>
          </a:solidFill>
          <a:ln w="12700">
            <a:solidFill>
              <a:schemeClr val="bg1"/>
            </a:solidFill>
            <a:prstDash val="solid"/>
          </a:ln>
        </p:spPr>
      </p:sp>
      <p:sp>
        <p:nvSpPr>
          <p:cNvPr id="58" name="Cellule 3-3"/>
          <p:cNvSpPr/>
          <p:nvPr/>
        </p:nvSpPr>
        <p:spPr>
          <a:xfrm>
            <a:off x="8375904" y="2770632"/>
            <a:ext cx="274320" cy="274320"/>
          </a:xfrm>
          <a:prstGeom prst="rect">
            <a:avLst/>
          </a:prstGeom>
          <a:solidFill>
            <a:schemeClr val="bg1"/>
          </a:solidFill>
          <a:ln w="12700">
            <a:solidFill>
              <a:schemeClr val="bg1"/>
            </a:solidFill>
            <a:prstDash val="solid"/>
          </a:ln>
        </p:spPr>
      </p:sp>
      <p:sp>
        <p:nvSpPr>
          <p:cNvPr id="59" name="Cellule 3-4"/>
          <p:cNvSpPr/>
          <p:nvPr/>
        </p:nvSpPr>
        <p:spPr>
          <a:xfrm>
            <a:off x="8705088" y="2770632"/>
            <a:ext cx="274320" cy="274320"/>
          </a:xfrm>
          <a:prstGeom prst="rect">
            <a:avLst/>
          </a:prstGeom>
          <a:solidFill>
            <a:schemeClr val="bg1"/>
          </a:solidFill>
          <a:ln w="12700">
            <a:solidFill>
              <a:schemeClr val="bg1"/>
            </a:solidFill>
            <a:prstDash val="solid"/>
          </a:ln>
        </p:spPr>
      </p:sp>
      <p:sp>
        <p:nvSpPr>
          <p:cNvPr id="60" name="Cellule 3-5"/>
          <p:cNvSpPr/>
          <p:nvPr/>
        </p:nvSpPr>
        <p:spPr>
          <a:xfrm>
            <a:off x="9034272" y="2770632"/>
            <a:ext cx="274320" cy="274320"/>
          </a:xfrm>
          <a:prstGeom prst="rect">
            <a:avLst/>
          </a:prstGeom>
          <a:solidFill>
            <a:schemeClr val="bg1"/>
          </a:solidFill>
          <a:ln w="12700">
            <a:solidFill>
              <a:schemeClr val="bg1"/>
            </a:solidFill>
            <a:prstDash val="solid"/>
          </a:ln>
        </p:spPr>
      </p:sp>
      <p:sp>
        <p:nvSpPr>
          <p:cNvPr id="61" name="Cellule 3-6"/>
          <p:cNvSpPr/>
          <p:nvPr/>
        </p:nvSpPr>
        <p:spPr>
          <a:xfrm>
            <a:off x="9363456" y="2770632"/>
            <a:ext cx="274320" cy="274320"/>
          </a:xfrm>
          <a:prstGeom prst="rect">
            <a:avLst/>
          </a:prstGeom>
          <a:solidFill>
            <a:schemeClr val="bg1"/>
          </a:solidFill>
          <a:ln w="12700">
            <a:solidFill>
              <a:schemeClr val="bg1"/>
            </a:solidFill>
            <a:prstDash val="solid"/>
          </a:ln>
        </p:spPr>
      </p:sp>
      <p:sp>
        <p:nvSpPr>
          <p:cNvPr id="62" name="Cellule 3-7"/>
          <p:cNvSpPr/>
          <p:nvPr/>
        </p:nvSpPr>
        <p:spPr>
          <a:xfrm>
            <a:off x="9692640" y="2770632"/>
            <a:ext cx="274320" cy="274320"/>
          </a:xfrm>
          <a:prstGeom prst="rect">
            <a:avLst/>
          </a:prstGeom>
          <a:solidFill>
            <a:schemeClr val="bg1"/>
          </a:solidFill>
          <a:ln w="12700">
            <a:solidFill>
              <a:schemeClr val="bg1"/>
            </a:solidFill>
            <a:prstDash val="solid"/>
          </a:ln>
        </p:spPr>
      </p:sp>
      <p:sp>
        <p:nvSpPr>
          <p:cNvPr id="63" name="Cellule 3-8"/>
          <p:cNvSpPr/>
          <p:nvPr/>
        </p:nvSpPr>
        <p:spPr>
          <a:xfrm>
            <a:off x="10021824" y="2770632"/>
            <a:ext cx="274320" cy="274320"/>
          </a:xfrm>
          <a:prstGeom prst="rect">
            <a:avLst/>
          </a:prstGeom>
          <a:solidFill>
            <a:schemeClr val="bg1"/>
          </a:solidFill>
          <a:ln w="12700">
            <a:solidFill>
              <a:schemeClr val="bg1"/>
            </a:solidFill>
            <a:prstDash val="solid"/>
          </a:ln>
        </p:spPr>
      </p:sp>
      <p:sp>
        <p:nvSpPr>
          <p:cNvPr id="64" name="Cellule 3-9"/>
          <p:cNvSpPr/>
          <p:nvPr/>
        </p:nvSpPr>
        <p:spPr>
          <a:xfrm>
            <a:off x="10351008" y="2770632"/>
            <a:ext cx="274320" cy="274320"/>
          </a:xfrm>
          <a:prstGeom prst="rect">
            <a:avLst/>
          </a:prstGeom>
          <a:solidFill>
            <a:schemeClr val="bg1"/>
          </a:solidFill>
          <a:ln w="12700">
            <a:solidFill>
              <a:schemeClr val="bg1"/>
            </a:solidFill>
            <a:prstDash val="solid"/>
          </a:ln>
        </p:spPr>
      </p:sp>
      <p:sp>
        <p:nvSpPr>
          <p:cNvPr id="65" name="Cellule 3-10"/>
          <p:cNvSpPr/>
          <p:nvPr/>
        </p:nvSpPr>
        <p:spPr>
          <a:xfrm>
            <a:off x="10680192" y="2770632"/>
            <a:ext cx="274320" cy="274320"/>
          </a:xfrm>
          <a:prstGeom prst="rect">
            <a:avLst/>
          </a:prstGeom>
          <a:solidFill>
            <a:schemeClr val="bg1"/>
          </a:solidFill>
          <a:ln w="12700">
            <a:solidFill>
              <a:schemeClr val="bg1"/>
            </a:solidFill>
            <a:prstDash val="solid"/>
          </a:ln>
        </p:spPr>
      </p:sp>
      <p:sp>
        <p:nvSpPr>
          <p:cNvPr id="66" name="Cellule 3-11"/>
          <p:cNvSpPr/>
          <p:nvPr/>
        </p:nvSpPr>
        <p:spPr>
          <a:xfrm>
            <a:off x="11009376" y="2770632"/>
            <a:ext cx="274320" cy="274320"/>
          </a:xfrm>
          <a:prstGeom prst="rect">
            <a:avLst/>
          </a:prstGeom>
          <a:solidFill>
            <a:schemeClr val="bg1"/>
          </a:solidFill>
          <a:ln w="12700">
            <a:solidFill>
              <a:schemeClr val="bg1"/>
            </a:solidFill>
            <a:prstDash val="solid"/>
          </a:ln>
        </p:spPr>
      </p:sp>
      <p:sp>
        <p:nvSpPr>
          <p:cNvPr id="67" name="Cellule 4-0"/>
          <p:cNvSpPr/>
          <p:nvPr/>
        </p:nvSpPr>
        <p:spPr>
          <a:xfrm>
            <a:off x="7388352" y="3099816"/>
            <a:ext cx="274320" cy="274320"/>
          </a:xfrm>
          <a:prstGeom prst="rect">
            <a:avLst/>
          </a:prstGeom>
          <a:solidFill>
            <a:schemeClr val="bg1"/>
          </a:solidFill>
          <a:ln w="12700">
            <a:solidFill>
              <a:schemeClr val="bg1"/>
            </a:solidFill>
            <a:prstDash val="solid"/>
          </a:ln>
        </p:spPr>
      </p:sp>
      <p:sp>
        <p:nvSpPr>
          <p:cNvPr id="68" name="Cellule 4-1"/>
          <p:cNvSpPr/>
          <p:nvPr/>
        </p:nvSpPr>
        <p:spPr>
          <a:xfrm>
            <a:off x="7717536" y="3099816"/>
            <a:ext cx="274320" cy="274320"/>
          </a:xfrm>
          <a:prstGeom prst="rect">
            <a:avLst/>
          </a:prstGeom>
          <a:solidFill>
            <a:schemeClr val="bg1"/>
          </a:solidFill>
          <a:ln w="12700">
            <a:solidFill>
              <a:schemeClr val="bg1"/>
            </a:solidFill>
            <a:prstDash val="solid"/>
          </a:ln>
        </p:spPr>
      </p:sp>
      <p:sp>
        <p:nvSpPr>
          <p:cNvPr id="69" name="Cellule 4-2"/>
          <p:cNvSpPr/>
          <p:nvPr/>
        </p:nvSpPr>
        <p:spPr>
          <a:xfrm>
            <a:off x="8046720" y="3099816"/>
            <a:ext cx="274320" cy="274320"/>
          </a:xfrm>
          <a:prstGeom prst="rect">
            <a:avLst/>
          </a:prstGeom>
          <a:solidFill>
            <a:schemeClr val="bg1"/>
          </a:solidFill>
          <a:ln w="12700">
            <a:solidFill>
              <a:schemeClr val="bg1"/>
            </a:solidFill>
            <a:prstDash val="solid"/>
          </a:ln>
        </p:spPr>
      </p:sp>
      <p:sp>
        <p:nvSpPr>
          <p:cNvPr id="70" name="Cellule 4-3"/>
          <p:cNvSpPr/>
          <p:nvPr/>
        </p:nvSpPr>
        <p:spPr>
          <a:xfrm>
            <a:off x="8375904" y="3099816"/>
            <a:ext cx="274320" cy="274320"/>
          </a:xfrm>
          <a:prstGeom prst="rect">
            <a:avLst/>
          </a:prstGeom>
          <a:solidFill>
            <a:schemeClr val="bg1"/>
          </a:solidFill>
          <a:ln w="12700">
            <a:solidFill>
              <a:schemeClr val="bg1"/>
            </a:solidFill>
            <a:prstDash val="solid"/>
          </a:ln>
        </p:spPr>
      </p:sp>
      <p:sp>
        <p:nvSpPr>
          <p:cNvPr id="71" name="Cellule 4-4"/>
          <p:cNvSpPr/>
          <p:nvPr/>
        </p:nvSpPr>
        <p:spPr>
          <a:xfrm>
            <a:off x="8705088" y="3099816"/>
            <a:ext cx="274320" cy="274320"/>
          </a:xfrm>
          <a:prstGeom prst="rect">
            <a:avLst/>
          </a:prstGeom>
          <a:solidFill>
            <a:schemeClr val="bg1"/>
          </a:solidFill>
          <a:ln w="12700">
            <a:solidFill>
              <a:schemeClr val="bg1"/>
            </a:solidFill>
            <a:prstDash val="solid"/>
          </a:ln>
        </p:spPr>
      </p:sp>
      <p:sp>
        <p:nvSpPr>
          <p:cNvPr id="72" name="Cellule 4-5"/>
          <p:cNvSpPr/>
          <p:nvPr/>
        </p:nvSpPr>
        <p:spPr>
          <a:xfrm>
            <a:off x="9034272" y="3099816"/>
            <a:ext cx="274320" cy="274320"/>
          </a:xfrm>
          <a:prstGeom prst="rect">
            <a:avLst/>
          </a:prstGeom>
          <a:solidFill>
            <a:schemeClr val="bg1"/>
          </a:solidFill>
          <a:ln w="12700">
            <a:solidFill>
              <a:schemeClr val="bg1"/>
            </a:solidFill>
            <a:prstDash val="solid"/>
          </a:ln>
        </p:spPr>
      </p:sp>
      <p:sp>
        <p:nvSpPr>
          <p:cNvPr id="73" name="Cellule 4-6"/>
          <p:cNvSpPr/>
          <p:nvPr/>
        </p:nvSpPr>
        <p:spPr>
          <a:xfrm>
            <a:off x="9363456" y="3099816"/>
            <a:ext cx="274320" cy="274320"/>
          </a:xfrm>
          <a:prstGeom prst="rect">
            <a:avLst/>
          </a:prstGeom>
          <a:solidFill>
            <a:schemeClr val="bg1"/>
          </a:solidFill>
          <a:ln w="12700">
            <a:solidFill>
              <a:schemeClr val="bg1"/>
            </a:solidFill>
            <a:prstDash val="solid"/>
          </a:ln>
        </p:spPr>
      </p:sp>
      <p:sp>
        <p:nvSpPr>
          <p:cNvPr id="74" name="Cellule 4-7"/>
          <p:cNvSpPr/>
          <p:nvPr/>
        </p:nvSpPr>
        <p:spPr>
          <a:xfrm>
            <a:off x="9692640" y="3099816"/>
            <a:ext cx="274320" cy="274320"/>
          </a:xfrm>
          <a:prstGeom prst="rect">
            <a:avLst/>
          </a:prstGeom>
          <a:solidFill>
            <a:schemeClr val="bg1"/>
          </a:solidFill>
          <a:ln w="12700">
            <a:solidFill>
              <a:schemeClr val="bg1"/>
            </a:solidFill>
            <a:prstDash val="solid"/>
          </a:ln>
        </p:spPr>
      </p:sp>
      <p:sp>
        <p:nvSpPr>
          <p:cNvPr id="75" name="Cellule 4-8"/>
          <p:cNvSpPr/>
          <p:nvPr/>
        </p:nvSpPr>
        <p:spPr>
          <a:xfrm>
            <a:off x="10021824" y="3099816"/>
            <a:ext cx="274320" cy="274320"/>
          </a:xfrm>
          <a:prstGeom prst="rect">
            <a:avLst/>
          </a:prstGeom>
          <a:solidFill>
            <a:schemeClr val="bg1"/>
          </a:solidFill>
          <a:ln w="12700">
            <a:solidFill>
              <a:schemeClr val="bg1"/>
            </a:solidFill>
            <a:prstDash val="solid"/>
          </a:ln>
        </p:spPr>
      </p:sp>
      <p:sp>
        <p:nvSpPr>
          <p:cNvPr id="76" name="Cellule 4-9"/>
          <p:cNvSpPr/>
          <p:nvPr/>
        </p:nvSpPr>
        <p:spPr>
          <a:xfrm>
            <a:off x="10351008" y="3099816"/>
            <a:ext cx="274320" cy="274320"/>
          </a:xfrm>
          <a:prstGeom prst="rect">
            <a:avLst/>
          </a:prstGeom>
          <a:solidFill>
            <a:schemeClr val="bg1"/>
          </a:solidFill>
          <a:ln w="12700">
            <a:solidFill>
              <a:schemeClr val="bg1"/>
            </a:solidFill>
            <a:prstDash val="solid"/>
          </a:ln>
        </p:spPr>
      </p:sp>
      <p:sp>
        <p:nvSpPr>
          <p:cNvPr id="77" name="Cellule 4-10"/>
          <p:cNvSpPr/>
          <p:nvPr/>
        </p:nvSpPr>
        <p:spPr>
          <a:xfrm>
            <a:off x="10680192" y="3099816"/>
            <a:ext cx="274320" cy="274320"/>
          </a:xfrm>
          <a:prstGeom prst="rect">
            <a:avLst/>
          </a:prstGeom>
          <a:solidFill>
            <a:schemeClr val="bg1"/>
          </a:solidFill>
          <a:ln w="12700">
            <a:solidFill>
              <a:schemeClr val="bg1"/>
            </a:solidFill>
            <a:prstDash val="solid"/>
          </a:ln>
        </p:spPr>
      </p:sp>
      <p:sp>
        <p:nvSpPr>
          <p:cNvPr id="78" name="Cellule 4-11"/>
          <p:cNvSpPr/>
          <p:nvPr/>
        </p:nvSpPr>
        <p:spPr>
          <a:xfrm>
            <a:off x="11009376" y="3099816"/>
            <a:ext cx="274320" cy="274320"/>
          </a:xfrm>
          <a:prstGeom prst="rect">
            <a:avLst/>
          </a:prstGeom>
          <a:solidFill>
            <a:schemeClr val="accent4"/>
          </a:solidFill>
          <a:ln w="12700">
            <a:solidFill>
              <a:schemeClr val="accent4"/>
            </a:solidFill>
            <a:prstDash val="solid"/>
          </a:ln>
        </p:spPr>
      </p:sp>
      <p:sp>
        <p:nvSpPr>
          <p:cNvPr id="79" name="Cellule 5-0"/>
          <p:cNvSpPr/>
          <p:nvPr/>
        </p:nvSpPr>
        <p:spPr>
          <a:xfrm>
            <a:off x="7388352" y="3429000"/>
            <a:ext cx="274320" cy="274320"/>
          </a:xfrm>
          <a:prstGeom prst="rect">
            <a:avLst/>
          </a:prstGeom>
          <a:solidFill>
            <a:schemeClr val="bg1"/>
          </a:solidFill>
          <a:ln w="12700">
            <a:solidFill>
              <a:schemeClr val="bg1"/>
            </a:solidFill>
            <a:prstDash val="solid"/>
          </a:ln>
        </p:spPr>
      </p:sp>
      <p:sp>
        <p:nvSpPr>
          <p:cNvPr id="80" name="Cellule 5-1"/>
          <p:cNvSpPr/>
          <p:nvPr/>
        </p:nvSpPr>
        <p:spPr>
          <a:xfrm>
            <a:off x="7717536" y="3429000"/>
            <a:ext cx="274320" cy="274320"/>
          </a:xfrm>
          <a:prstGeom prst="rect">
            <a:avLst/>
          </a:prstGeom>
          <a:solidFill>
            <a:schemeClr val="bg1"/>
          </a:solidFill>
          <a:ln w="12700">
            <a:solidFill>
              <a:schemeClr val="bg1"/>
            </a:solidFill>
            <a:prstDash val="solid"/>
          </a:ln>
        </p:spPr>
      </p:sp>
      <p:sp>
        <p:nvSpPr>
          <p:cNvPr id="81" name="Cellule 5-2"/>
          <p:cNvSpPr/>
          <p:nvPr/>
        </p:nvSpPr>
        <p:spPr>
          <a:xfrm>
            <a:off x="8046720" y="3429000"/>
            <a:ext cx="274320" cy="274320"/>
          </a:xfrm>
          <a:prstGeom prst="rect">
            <a:avLst/>
          </a:prstGeom>
          <a:solidFill>
            <a:schemeClr val="bg1"/>
          </a:solidFill>
          <a:ln w="12700">
            <a:solidFill>
              <a:schemeClr val="bg1"/>
            </a:solidFill>
            <a:prstDash val="solid"/>
          </a:ln>
        </p:spPr>
      </p:sp>
      <p:sp>
        <p:nvSpPr>
          <p:cNvPr id="82" name="Cellule 5-3"/>
          <p:cNvSpPr/>
          <p:nvPr/>
        </p:nvSpPr>
        <p:spPr>
          <a:xfrm>
            <a:off x="8375904" y="3429000"/>
            <a:ext cx="274320" cy="274320"/>
          </a:xfrm>
          <a:prstGeom prst="rect">
            <a:avLst/>
          </a:prstGeom>
          <a:solidFill>
            <a:schemeClr val="bg1"/>
          </a:solidFill>
          <a:ln w="12700">
            <a:solidFill>
              <a:schemeClr val="bg1"/>
            </a:solidFill>
            <a:prstDash val="solid"/>
          </a:ln>
        </p:spPr>
      </p:sp>
      <p:sp>
        <p:nvSpPr>
          <p:cNvPr id="83" name="Cellule 5-4"/>
          <p:cNvSpPr/>
          <p:nvPr/>
        </p:nvSpPr>
        <p:spPr>
          <a:xfrm>
            <a:off x="8705088" y="3429000"/>
            <a:ext cx="274320" cy="274320"/>
          </a:xfrm>
          <a:prstGeom prst="rect">
            <a:avLst/>
          </a:prstGeom>
          <a:solidFill>
            <a:schemeClr val="bg1"/>
          </a:solidFill>
          <a:ln w="12700">
            <a:solidFill>
              <a:schemeClr val="bg1"/>
            </a:solidFill>
            <a:prstDash val="solid"/>
          </a:ln>
        </p:spPr>
      </p:sp>
      <p:sp>
        <p:nvSpPr>
          <p:cNvPr id="84" name="Cellule 5-5"/>
          <p:cNvSpPr/>
          <p:nvPr/>
        </p:nvSpPr>
        <p:spPr>
          <a:xfrm>
            <a:off x="9034272" y="3429000"/>
            <a:ext cx="274320" cy="274320"/>
          </a:xfrm>
          <a:prstGeom prst="rect">
            <a:avLst/>
          </a:prstGeom>
          <a:solidFill>
            <a:schemeClr val="accent4"/>
          </a:solidFill>
          <a:ln w="12700">
            <a:solidFill>
              <a:schemeClr val="accent4"/>
            </a:solidFill>
            <a:prstDash val="solid"/>
          </a:ln>
        </p:spPr>
      </p:sp>
      <p:sp>
        <p:nvSpPr>
          <p:cNvPr id="85" name="Cellule 5-6"/>
          <p:cNvSpPr/>
          <p:nvPr/>
        </p:nvSpPr>
        <p:spPr>
          <a:xfrm>
            <a:off x="9363456" y="3429000"/>
            <a:ext cx="274320" cy="274320"/>
          </a:xfrm>
          <a:prstGeom prst="rect">
            <a:avLst/>
          </a:prstGeom>
          <a:solidFill>
            <a:schemeClr val="bg1"/>
          </a:solidFill>
          <a:ln w="12700">
            <a:solidFill>
              <a:schemeClr val="bg1"/>
            </a:solidFill>
            <a:prstDash val="solid"/>
          </a:ln>
        </p:spPr>
      </p:sp>
      <p:sp>
        <p:nvSpPr>
          <p:cNvPr id="86" name="Cellule 5-7"/>
          <p:cNvSpPr/>
          <p:nvPr/>
        </p:nvSpPr>
        <p:spPr>
          <a:xfrm>
            <a:off x="9692640" y="3429000"/>
            <a:ext cx="274320" cy="274320"/>
          </a:xfrm>
          <a:prstGeom prst="rect">
            <a:avLst/>
          </a:prstGeom>
          <a:solidFill>
            <a:schemeClr val="bg1"/>
          </a:solidFill>
          <a:ln w="12700">
            <a:solidFill>
              <a:schemeClr val="bg1"/>
            </a:solidFill>
            <a:prstDash val="solid"/>
          </a:ln>
        </p:spPr>
      </p:sp>
      <p:sp>
        <p:nvSpPr>
          <p:cNvPr id="87" name="Cellule 5-8"/>
          <p:cNvSpPr/>
          <p:nvPr/>
        </p:nvSpPr>
        <p:spPr>
          <a:xfrm>
            <a:off x="10021824" y="3429000"/>
            <a:ext cx="274320" cy="274320"/>
          </a:xfrm>
          <a:prstGeom prst="rect">
            <a:avLst/>
          </a:prstGeom>
          <a:solidFill>
            <a:schemeClr val="bg1"/>
          </a:solidFill>
          <a:ln w="12700">
            <a:solidFill>
              <a:schemeClr val="bg1"/>
            </a:solidFill>
            <a:prstDash val="solid"/>
          </a:ln>
        </p:spPr>
      </p:sp>
      <p:sp>
        <p:nvSpPr>
          <p:cNvPr id="88" name="Cellule 5-9"/>
          <p:cNvSpPr/>
          <p:nvPr/>
        </p:nvSpPr>
        <p:spPr>
          <a:xfrm>
            <a:off x="10351008" y="3429000"/>
            <a:ext cx="274320" cy="274320"/>
          </a:xfrm>
          <a:prstGeom prst="rect">
            <a:avLst/>
          </a:prstGeom>
          <a:solidFill>
            <a:schemeClr val="bg1"/>
          </a:solidFill>
          <a:ln w="12700">
            <a:solidFill>
              <a:schemeClr val="bg1"/>
            </a:solidFill>
            <a:prstDash val="solid"/>
          </a:ln>
        </p:spPr>
      </p:sp>
      <p:sp>
        <p:nvSpPr>
          <p:cNvPr id="89" name="Cellule 5-10"/>
          <p:cNvSpPr/>
          <p:nvPr/>
        </p:nvSpPr>
        <p:spPr>
          <a:xfrm>
            <a:off x="10680192" y="3429000"/>
            <a:ext cx="274320" cy="274320"/>
          </a:xfrm>
          <a:prstGeom prst="rect">
            <a:avLst/>
          </a:prstGeom>
          <a:solidFill>
            <a:schemeClr val="bg1"/>
          </a:solidFill>
          <a:ln w="12700">
            <a:solidFill>
              <a:schemeClr val="bg1"/>
            </a:solidFill>
            <a:prstDash val="solid"/>
          </a:ln>
        </p:spPr>
      </p:sp>
      <p:sp>
        <p:nvSpPr>
          <p:cNvPr id="90" name="Cellule 5-11"/>
          <p:cNvSpPr/>
          <p:nvPr/>
        </p:nvSpPr>
        <p:spPr>
          <a:xfrm>
            <a:off x="11009376" y="3429000"/>
            <a:ext cx="274320" cy="274320"/>
          </a:xfrm>
          <a:prstGeom prst="rect">
            <a:avLst/>
          </a:prstGeom>
          <a:solidFill>
            <a:schemeClr val="bg1"/>
          </a:solidFill>
          <a:ln w="12700">
            <a:solidFill>
              <a:schemeClr val="bg1"/>
            </a:solidFill>
            <a:prstDash val="solid"/>
          </a:ln>
        </p:spPr>
      </p:sp>
      <p:sp>
        <p:nvSpPr>
          <p:cNvPr id="91" name="Cellule 6-0"/>
          <p:cNvSpPr/>
          <p:nvPr/>
        </p:nvSpPr>
        <p:spPr>
          <a:xfrm>
            <a:off x="7388352" y="3758184"/>
            <a:ext cx="274320" cy="274320"/>
          </a:xfrm>
          <a:prstGeom prst="rect">
            <a:avLst/>
          </a:prstGeom>
          <a:solidFill>
            <a:schemeClr val="bg1"/>
          </a:solidFill>
          <a:ln w="12700">
            <a:solidFill>
              <a:schemeClr val="bg1"/>
            </a:solidFill>
            <a:prstDash val="solid"/>
          </a:ln>
        </p:spPr>
      </p:sp>
      <p:sp>
        <p:nvSpPr>
          <p:cNvPr id="92" name="Cellule 6-1"/>
          <p:cNvSpPr/>
          <p:nvPr/>
        </p:nvSpPr>
        <p:spPr>
          <a:xfrm>
            <a:off x="7717536" y="3758184"/>
            <a:ext cx="274320" cy="274320"/>
          </a:xfrm>
          <a:prstGeom prst="rect">
            <a:avLst/>
          </a:prstGeom>
          <a:solidFill>
            <a:schemeClr val="bg1"/>
          </a:solidFill>
          <a:ln w="12700">
            <a:solidFill>
              <a:schemeClr val="bg1"/>
            </a:solidFill>
            <a:prstDash val="solid"/>
          </a:ln>
        </p:spPr>
      </p:sp>
      <p:sp>
        <p:nvSpPr>
          <p:cNvPr id="93" name="Cellule 6-2"/>
          <p:cNvSpPr/>
          <p:nvPr/>
        </p:nvSpPr>
        <p:spPr>
          <a:xfrm>
            <a:off x="8046720" y="3758184"/>
            <a:ext cx="274320" cy="274320"/>
          </a:xfrm>
          <a:prstGeom prst="rect">
            <a:avLst/>
          </a:prstGeom>
          <a:solidFill>
            <a:schemeClr val="bg1"/>
          </a:solidFill>
          <a:ln w="12700">
            <a:solidFill>
              <a:schemeClr val="bg1"/>
            </a:solidFill>
            <a:prstDash val="solid"/>
          </a:ln>
        </p:spPr>
      </p:sp>
      <p:sp>
        <p:nvSpPr>
          <p:cNvPr id="94" name="Cellule 6-3"/>
          <p:cNvSpPr/>
          <p:nvPr/>
        </p:nvSpPr>
        <p:spPr>
          <a:xfrm>
            <a:off x="8375904" y="3758184"/>
            <a:ext cx="274320" cy="274320"/>
          </a:xfrm>
          <a:prstGeom prst="rect">
            <a:avLst/>
          </a:prstGeom>
          <a:solidFill>
            <a:schemeClr val="bg1"/>
          </a:solidFill>
          <a:ln w="12700">
            <a:solidFill>
              <a:schemeClr val="bg1"/>
            </a:solidFill>
            <a:prstDash val="solid"/>
          </a:ln>
        </p:spPr>
      </p:sp>
      <p:sp>
        <p:nvSpPr>
          <p:cNvPr id="95" name="Cellule 6-4"/>
          <p:cNvSpPr/>
          <p:nvPr/>
        </p:nvSpPr>
        <p:spPr>
          <a:xfrm>
            <a:off x="8705088" y="3758184"/>
            <a:ext cx="274320" cy="274320"/>
          </a:xfrm>
          <a:prstGeom prst="rect">
            <a:avLst/>
          </a:prstGeom>
          <a:solidFill>
            <a:schemeClr val="bg1"/>
          </a:solidFill>
          <a:ln w="12700">
            <a:solidFill>
              <a:schemeClr val="bg1"/>
            </a:solidFill>
            <a:prstDash val="solid"/>
          </a:ln>
        </p:spPr>
      </p:sp>
      <p:sp>
        <p:nvSpPr>
          <p:cNvPr id="96" name="Cellule 6-5"/>
          <p:cNvSpPr/>
          <p:nvPr/>
        </p:nvSpPr>
        <p:spPr>
          <a:xfrm>
            <a:off x="9034272" y="3758184"/>
            <a:ext cx="274320" cy="274320"/>
          </a:xfrm>
          <a:prstGeom prst="rect">
            <a:avLst/>
          </a:prstGeom>
          <a:solidFill>
            <a:schemeClr val="bg1"/>
          </a:solidFill>
          <a:ln w="12700">
            <a:solidFill>
              <a:schemeClr val="bg1"/>
            </a:solidFill>
            <a:prstDash val="solid"/>
          </a:ln>
        </p:spPr>
      </p:sp>
      <p:sp>
        <p:nvSpPr>
          <p:cNvPr id="97" name="Cellule 6-6"/>
          <p:cNvSpPr/>
          <p:nvPr/>
        </p:nvSpPr>
        <p:spPr>
          <a:xfrm>
            <a:off x="9363456" y="3758184"/>
            <a:ext cx="274320" cy="274320"/>
          </a:xfrm>
          <a:prstGeom prst="rect">
            <a:avLst/>
          </a:prstGeom>
          <a:solidFill>
            <a:schemeClr val="bg1"/>
          </a:solidFill>
          <a:ln w="12700">
            <a:solidFill>
              <a:schemeClr val="bg1"/>
            </a:solidFill>
            <a:prstDash val="solid"/>
          </a:ln>
        </p:spPr>
      </p:sp>
      <p:sp>
        <p:nvSpPr>
          <p:cNvPr id="98" name="Cellule 6-7"/>
          <p:cNvSpPr/>
          <p:nvPr/>
        </p:nvSpPr>
        <p:spPr>
          <a:xfrm>
            <a:off x="9692640" y="3758184"/>
            <a:ext cx="274320" cy="274320"/>
          </a:xfrm>
          <a:prstGeom prst="rect">
            <a:avLst/>
          </a:prstGeom>
          <a:solidFill>
            <a:schemeClr val="bg1"/>
          </a:solidFill>
          <a:ln w="12700">
            <a:solidFill>
              <a:schemeClr val="bg1"/>
            </a:solidFill>
            <a:prstDash val="solid"/>
          </a:ln>
        </p:spPr>
      </p:sp>
      <p:sp>
        <p:nvSpPr>
          <p:cNvPr id="99" name="Cellule 6-8"/>
          <p:cNvSpPr/>
          <p:nvPr/>
        </p:nvSpPr>
        <p:spPr>
          <a:xfrm>
            <a:off x="10021824" y="3758184"/>
            <a:ext cx="274320" cy="274320"/>
          </a:xfrm>
          <a:prstGeom prst="rect">
            <a:avLst/>
          </a:prstGeom>
          <a:solidFill>
            <a:schemeClr val="bg1"/>
          </a:solidFill>
          <a:ln w="12700">
            <a:solidFill>
              <a:schemeClr val="bg1"/>
            </a:solidFill>
            <a:prstDash val="solid"/>
          </a:ln>
        </p:spPr>
      </p:sp>
      <p:sp>
        <p:nvSpPr>
          <p:cNvPr id="100" name="Cellule 6-9"/>
          <p:cNvSpPr/>
          <p:nvPr/>
        </p:nvSpPr>
        <p:spPr>
          <a:xfrm>
            <a:off x="10351008" y="3758184"/>
            <a:ext cx="274320" cy="274320"/>
          </a:xfrm>
          <a:prstGeom prst="rect">
            <a:avLst/>
          </a:prstGeom>
          <a:solidFill>
            <a:schemeClr val="accent4"/>
          </a:solidFill>
          <a:ln w="12700">
            <a:solidFill>
              <a:schemeClr val="accent4"/>
            </a:solidFill>
            <a:prstDash val="solid"/>
          </a:ln>
        </p:spPr>
      </p:sp>
      <p:sp>
        <p:nvSpPr>
          <p:cNvPr id="101" name="Cellule 6-10"/>
          <p:cNvSpPr/>
          <p:nvPr/>
        </p:nvSpPr>
        <p:spPr>
          <a:xfrm>
            <a:off x="10680192" y="3758184"/>
            <a:ext cx="274320" cy="274320"/>
          </a:xfrm>
          <a:prstGeom prst="rect">
            <a:avLst/>
          </a:prstGeom>
          <a:solidFill>
            <a:schemeClr val="bg1"/>
          </a:solidFill>
          <a:ln w="12700">
            <a:solidFill>
              <a:schemeClr val="bg1"/>
            </a:solidFill>
            <a:prstDash val="solid"/>
          </a:ln>
        </p:spPr>
      </p:sp>
      <p:sp>
        <p:nvSpPr>
          <p:cNvPr id="102" name="Cellule 6-11"/>
          <p:cNvSpPr/>
          <p:nvPr/>
        </p:nvSpPr>
        <p:spPr>
          <a:xfrm>
            <a:off x="11009376" y="3758184"/>
            <a:ext cx="274320" cy="274320"/>
          </a:xfrm>
          <a:prstGeom prst="rect">
            <a:avLst/>
          </a:prstGeom>
          <a:solidFill>
            <a:schemeClr val="bg1"/>
          </a:solidFill>
          <a:ln w="12700">
            <a:solidFill>
              <a:schemeClr val="bg1"/>
            </a:solidFill>
            <a:prstDash val="solid"/>
          </a:ln>
        </p:spPr>
      </p:sp>
      <p:sp>
        <p:nvSpPr>
          <p:cNvPr id="103" name="Cellule 7-0"/>
          <p:cNvSpPr/>
          <p:nvPr/>
        </p:nvSpPr>
        <p:spPr>
          <a:xfrm>
            <a:off x="7388352" y="4087368"/>
            <a:ext cx="274320" cy="274320"/>
          </a:xfrm>
          <a:prstGeom prst="rect">
            <a:avLst/>
          </a:prstGeom>
          <a:solidFill>
            <a:schemeClr val="bg1"/>
          </a:solidFill>
          <a:ln w="12700">
            <a:solidFill>
              <a:schemeClr val="bg1"/>
            </a:solidFill>
            <a:prstDash val="solid"/>
          </a:ln>
        </p:spPr>
      </p:sp>
      <p:sp>
        <p:nvSpPr>
          <p:cNvPr id="104" name="Cellule 7-1"/>
          <p:cNvSpPr/>
          <p:nvPr/>
        </p:nvSpPr>
        <p:spPr>
          <a:xfrm>
            <a:off x="7717536" y="4087368"/>
            <a:ext cx="274320" cy="274320"/>
          </a:xfrm>
          <a:prstGeom prst="rect">
            <a:avLst/>
          </a:prstGeom>
          <a:solidFill>
            <a:schemeClr val="bg1"/>
          </a:solidFill>
          <a:ln w="12700">
            <a:solidFill>
              <a:schemeClr val="bg1"/>
            </a:solidFill>
            <a:prstDash val="solid"/>
          </a:ln>
        </p:spPr>
      </p:sp>
      <p:sp>
        <p:nvSpPr>
          <p:cNvPr id="105" name="Cellule 7-2"/>
          <p:cNvSpPr/>
          <p:nvPr/>
        </p:nvSpPr>
        <p:spPr>
          <a:xfrm>
            <a:off x="8046720" y="4087368"/>
            <a:ext cx="274320" cy="274320"/>
          </a:xfrm>
          <a:prstGeom prst="rect">
            <a:avLst/>
          </a:prstGeom>
          <a:solidFill>
            <a:schemeClr val="bg1"/>
          </a:solidFill>
          <a:ln w="12700">
            <a:solidFill>
              <a:schemeClr val="bg1"/>
            </a:solidFill>
            <a:prstDash val="solid"/>
          </a:ln>
        </p:spPr>
      </p:sp>
      <p:sp>
        <p:nvSpPr>
          <p:cNvPr id="106" name="Cellule 7-3"/>
          <p:cNvSpPr/>
          <p:nvPr/>
        </p:nvSpPr>
        <p:spPr>
          <a:xfrm>
            <a:off x="8375904" y="4087368"/>
            <a:ext cx="274320" cy="274320"/>
          </a:xfrm>
          <a:prstGeom prst="rect">
            <a:avLst/>
          </a:prstGeom>
          <a:solidFill>
            <a:schemeClr val="bg1"/>
          </a:solidFill>
          <a:ln w="12700">
            <a:solidFill>
              <a:schemeClr val="bg1"/>
            </a:solidFill>
            <a:prstDash val="solid"/>
          </a:ln>
        </p:spPr>
      </p:sp>
      <p:sp>
        <p:nvSpPr>
          <p:cNvPr id="107" name="Cellule 7-4"/>
          <p:cNvSpPr/>
          <p:nvPr/>
        </p:nvSpPr>
        <p:spPr>
          <a:xfrm>
            <a:off x="8705088" y="4087368"/>
            <a:ext cx="274320" cy="274320"/>
          </a:xfrm>
          <a:prstGeom prst="rect">
            <a:avLst/>
          </a:prstGeom>
          <a:solidFill>
            <a:schemeClr val="bg1"/>
          </a:solidFill>
          <a:ln w="12700">
            <a:solidFill>
              <a:schemeClr val="bg1"/>
            </a:solidFill>
            <a:prstDash val="solid"/>
          </a:ln>
        </p:spPr>
      </p:sp>
      <p:sp>
        <p:nvSpPr>
          <p:cNvPr id="108" name="Cellule 7-5"/>
          <p:cNvSpPr/>
          <p:nvPr/>
        </p:nvSpPr>
        <p:spPr>
          <a:xfrm>
            <a:off x="9034272" y="4087368"/>
            <a:ext cx="274320" cy="274320"/>
          </a:xfrm>
          <a:prstGeom prst="rect">
            <a:avLst/>
          </a:prstGeom>
          <a:solidFill>
            <a:schemeClr val="bg1"/>
          </a:solidFill>
          <a:ln w="12700">
            <a:solidFill>
              <a:schemeClr val="bg1"/>
            </a:solidFill>
            <a:prstDash val="solid"/>
          </a:ln>
        </p:spPr>
      </p:sp>
      <p:sp>
        <p:nvSpPr>
          <p:cNvPr id="109" name="Cellule 7-6"/>
          <p:cNvSpPr/>
          <p:nvPr/>
        </p:nvSpPr>
        <p:spPr>
          <a:xfrm>
            <a:off x="9363456" y="4087368"/>
            <a:ext cx="274320" cy="274320"/>
          </a:xfrm>
          <a:prstGeom prst="rect">
            <a:avLst/>
          </a:prstGeom>
          <a:solidFill>
            <a:schemeClr val="bg1"/>
          </a:solidFill>
          <a:ln w="12700">
            <a:solidFill>
              <a:schemeClr val="bg1"/>
            </a:solidFill>
            <a:prstDash val="solid"/>
          </a:ln>
        </p:spPr>
      </p:sp>
      <p:sp>
        <p:nvSpPr>
          <p:cNvPr id="110" name="Cellule 7-7"/>
          <p:cNvSpPr/>
          <p:nvPr/>
        </p:nvSpPr>
        <p:spPr>
          <a:xfrm>
            <a:off x="9692640" y="4087368"/>
            <a:ext cx="274320" cy="274320"/>
          </a:xfrm>
          <a:prstGeom prst="rect">
            <a:avLst/>
          </a:prstGeom>
          <a:solidFill>
            <a:schemeClr val="bg1"/>
          </a:solidFill>
          <a:ln w="12700">
            <a:solidFill>
              <a:schemeClr val="bg1"/>
            </a:solidFill>
            <a:prstDash val="solid"/>
          </a:ln>
        </p:spPr>
      </p:sp>
      <p:sp>
        <p:nvSpPr>
          <p:cNvPr id="111" name="Cellule 7-8"/>
          <p:cNvSpPr/>
          <p:nvPr/>
        </p:nvSpPr>
        <p:spPr>
          <a:xfrm>
            <a:off x="10021824" y="4087368"/>
            <a:ext cx="274320" cy="274320"/>
          </a:xfrm>
          <a:prstGeom prst="rect">
            <a:avLst/>
          </a:prstGeom>
          <a:solidFill>
            <a:schemeClr val="bg1"/>
          </a:solidFill>
          <a:ln w="12700">
            <a:solidFill>
              <a:schemeClr val="bg1"/>
            </a:solidFill>
            <a:prstDash val="solid"/>
          </a:ln>
        </p:spPr>
      </p:sp>
      <p:sp>
        <p:nvSpPr>
          <p:cNvPr id="112" name="Cellule 7-9"/>
          <p:cNvSpPr/>
          <p:nvPr/>
        </p:nvSpPr>
        <p:spPr>
          <a:xfrm>
            <a:off x="10351008" y="4087368"/>
            <a:ext cx="274320" cy="274320"/>
          </a:xfrm>
          <a:prstGeom prst="rect">
            <a:avLst/>
          </a:prstGeom>
          <a:solidFill>
            <a:schemeClr val="accent4"/>
          </a:solidFill>
          <a:ln w="12700">
            <a:solidFill>
              <a:schemeClr val="accent4"/>
            </a:solidFill>
            <a:prstDash val="solid"/>
          </a:ln>
        </p:spPr>
      </p:sp>
      <p:sp>
        <p:nvSpPr>
          <p:cNvPr id="113" name="Cellule 7-10"/>
          <p:cNvSpPr/>
          <p:nvPr/>
        </p:nvSpPr>
        <p:spPr>
          <a:xfrm>
            <a:off x="10680192" y="4087368"/>
            <a:ext cx="274320" cy="274320"/>
          </a:xfrm>
          <a:prstGeom prst="rect">
            <a:avLst/>
          </a:prstGeom>
          <a:solidFill>
            <a:schemeClr val="bg1"/>
          </a:solidFill>
          <a:ln w="12700">
            <a:solidFill>
              <a:schemeClr val="bg1"/>
            </a:solidFill>
            <a:prstDash val="solid"/>
          </a:ln>
        </p:spPr>
      </p:sp>
      <p:sp>
        <p:nvSpPr>
          <p:cNvPr id="114" name="Cellule 7-11"/>
          <p:cNvSpPr/>
          <p:nvPr/>
        </p:nvSpPr>
        <p:spPr>
          <a:xfrm>
            <a:off x="11009376" y="4087368"/>
            <a:ext cx="274320" cy="274320"/>
          </a:xfrm>
          <a:prstGeom prst="rect">
            <a:avLst/>
          </a:prstGeom>
          <a:solidFill>
            <a:schemeClr val="bg1"/>
          </a:solidFill>
          <a:ln w="12700">
            <a:solidFill>
              <a:schemeClr val="bg1"/>
            </a:solidFill>
            <a:prstDash val="solid"/>
          </a:ln>
        </p:spPr>
      </p:sp>
      <p:sp>
        <p:nvSpPr>
          <p:cNvPr id="115" name="Légende matrice"/>
          <p:cNvSpPr txBox="1"/>
          <p:nvPr/>
        </p:nvSpPr>
        <p:spPr>
          <a:xfrm>
            <a:off x="7388352" y="4434840"/>
            <a:ext cx="3931920" cy="274320"/>
          </a:xfrm>
          <a:prstGeom prst="rect">
            <a:avLst/>
          </a:prstGeom>
          <a:noFill/>
          <a:ln/>
        </p:spPr>
        <p:txBody>
          <a:bodyPr wrap="square" lIns="0" tIns="0" rIns="0" bIns="0" rtlCol="0" anchor="t"/>
          <a:lstStyle/>
          <a:p>
            <a:pPr marL="0" indent="0" algn="l">
              <a:buNone/>
            </a:pPr>
            <a:r>
              <a:rPr lang="en-US" sz="1200" dirty="0">
                <a:solidFill>
                  <a:schemeClr val="accent6"/>
                </a:solidFill>
              </a:rPr>
              <a:t>Schéma simplifié : presque toutes les cases sont vides</a:t>
            </a:r>
            <a:endParaRPr lang="en-US" sz="1200" dirty="0"/>
          </a:p>
        </p:txBody>
      </p:sp>
      <p:sp>
        <p:nvSpPr>
          <p:cNvPr id="116" name="Taille matrice"/>
          <p:cNvSpPr txBox="1"/>
          <p:nvPr/>
        </p:nvSpPr>
        <p:spPr>
          <a:xfrm>
            <a:off x="7388352" y="4846320"/>
            <a:ext cx="4023360" cy="548640"/>
          </a:xfrm>
          <a:prstGeom prst="rect">
            <a:avLst/>
          </a:prstGeom>
          <a:noFill/>
          <a:ln/>
        </p:spPr>
        <p:txBody>
          <a:bodyPr wrap="square" lIns="0" tIns="0" rIns="0" bIns="0" rtlCol="0" anchor="t"/>
          <a:lstStyle/>
          <a:p>
            <a:pPr marL="0" indent="0" algn="l">
              <a:buNone/>
            </a:pPr>
            <a:r>
              <a:rPr lang="en-US" sz="3000" b="1" dirty="0">
                <a:solidFill>
                  <a:schemeClr val="accent4"/>
                </a:solidFill>
              </a:rPr>
              <a:t>10 000 × 136 985</a:t>
            </a:r>
            <a:endParaRPr lang="en-US" sz="3000" dirty="0"/>
          </a:p>
        </p:txBody>
      </p:sp>
      <p:sp>
        <p:nvSpPr>
          <p:cNvPr id="117" name="Explication matrice"/>
          <p:cNvSpPr txBox="1"/>
          <p:nvPr/>
        </p:nvSpPr>
        <p:spPr>
          <a:xfrm>
            <a:off x="7388352" y="5394960"/>
            <a:ext cx="4023360" cy="548640"/>
          </a:xfrm>
          <a:prstGeom prst="rect">
            <a:avLst/>
          </a:prstGeom>
          <a:noFill/>
          <a:ln/>
        </p:spPr>
        <p:txBody>
          <a:bodyPr wrap="square" lIns="0" tIns="0" rIns="0" bIns="0" rtlCol="0" anchor="t"/>
          <a:lstStyle/>
          <a:p>
            <a:pPr marL="0" indent="0" algn="l">
              <a:buNone/>
            </a:pPr>
            <a:r>
              <a:rPr lang="en-US" sz="1400" dirty="0">
                <a:solidFill>
                  <a:schemeClr val="tx1"/>
                </a:solidFill>
              </a:rPr>
              <a:t>livres × mots et bigrammes. Moins de 0,1 % des cases ont une valeur.</a:t>
            </a:r>
            <a:endParaRPr lang="en-US" sz="1400" dirty="0"/>
          </a:p>
        </p:txBody>
      </p:sp>
      <p:sp>
        <p:nvSpPr>
          <p:cNvPr id="118" name="Slide Number Placeholder 0"/>
          <p:cNvSpPr>
            <a:spLocks noGrp="1"/>
          </p:cNvSpPr>
          <p:nvPr>
            <p:ph type="sldNum" sz="quarter" idx="4294967295"/>
          </p:nvPr>
        </p:nvSpPr>
        <p:spPr>
          <a:xfrm>
            <a:off x="11137392"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400" b="1" dirty="0">
                <a:solidFill>
                  <a:schemeClr val="tx1"/>
                </a:solidFill>
              </a:rPr>
              <a:t>Méthode 2 : les embeddings</a:t>
            </a:r>
            <a:endParaRPr lang="en-US" sz="3400" dirty="0"/>
          </a:p>
        </p:txBody>
      </p:sp>
      <p:sp>
        <p:nvSpPr>
          <p:cNvPr id="3" name="Boîte texte"/>
          <p:cNvSpPr/>
          <p:nvPr/>
        </p:nvSpPr>
        <p:spPr>
          <a:xfrm>
            <a:off x="548640" y="1463040"/>
            <a:ext cx="3108960" cy="1645920"/>
          </a:xfrm>
          <a:prstGeom prst="roundRect">
            <a:avLst>
              <a:gd name="adj" fmla="val 8333"/>
            </a:avLst>
          </a:prstGeom>
          <a:solidFill>
            <a:schemeClr val="bg2"/>
          </a:solidFill>
          <a:ln w="12700">
            <a:solidFill>
              <a:schemeClr val="bg2"/>
            </a:solidFill>
            <a:prstDash val="solid"/>
          </a:ln>
        </p:spPr>
      </p:sp>
      <p:sp>
        <p:nvSpPr>
          <p:cNvPr id="4" name="Titre texte"/>
          <p:cNvSpPr txBox="1"/>
          <p:nvPr/>
        </p:nvSpPr>
        <p:spPr>
          <a:xfrm>
            <a:off x="777240" y="1645920"/>
            <a:ext cx="2651760" cy="365760"/>
          </a:xfrm>
          <a:prstGeom prst="rect">
            <a:avLst/>
          </a:prstGeom>
          <a:noFill/>
          <a:ln/>
        </p:spPr>
        <p:txBody>
          <a:bodyPr wrap="square" lIns="0" tIns="0" rIns="0" bIns="0" rtlCol="0" anchor="t"/>
          <a:lstStyle/>
          <a:p>
            <a:pPr marL="0" indent="0" algn="l">
              <a:buNone/>
            </a:pPr>
            <a:r>
              <a:rPr lang="en-US" sz="2000" b="1" dirty="0">
                <a:solidFill>
                  <a:schemeClr val="tx1"/>
                </a:solidFill>
              </a:rPr>
              <a:t>Texte</a:t>
            </a:r>
            <a:endParaRPr lang="en-US" sz="2000" dirty="0"/>
          </a:p>
        </p:txBody>
      </p:sp>
      <p:sp>
        <p:nvSpPr>
          <p:cNvPr id="5" name="Texte texte"/>
          <p:cNvSpPr txBox="1"/>
          <p:nvPr/>
        </p:nvSpPr>
        <p:spPr>
          <a:xfrm>
            <a:off x="777240" y="2103120"/>
            <a:ext cx="2651760" cy="822960"/>
          </a:xfrm>
          <a:prstGeom prst="rect">
            <a:avLst/>
          </a:prstGeom>
          <a:noFill/>
          <a:ln/>
        </p:spPr>
        <p:txBody>
          <a:bodyPr wrap="square" lIns="0" tIns="0" rIns="0" bIns="0" rtlCol="0" anchor="t"/>
          <a:lstStyle/>
          <a:p>
            <a:pPr marL="0" indent="0" algn="l">
              <a:buNone/>
            </a:pPr>
            <a:r>
              <a:rPr lang="en-US" sz="1600" dirty="0">
                <a:solidFill>
                  <a:schemeClr val="tx1"/>
                </a:solidFill>
              </a:rPr>
              <a:t>Titre et résumé du livre</a:t>
            </a:r>
            <a:endParaRPr lang="en-US" sz="1600" dirty="0"/>
          </a:p>
        </p:txBody>
      </p:sp>
      <p:sp>
        <p:nvSpPr>
          <p:cNvPr id="6" name="Flèche 1"/>
          <p:cNvSpPr/>
          <p:nvPr/>
        </p:nvSpPr>
        <p:spPr>
          <a:xfrm>
            <a:off x="3749040" y="2057400"/>
            <a:ext cx="365760" cy="457200"/>
          </a:xfrm>
          <a:prstGeom prst="rightArrow">
            <a:avLst/>
          </a:prstGeom>
          <a:solidFill>
            <a:schemeClr val="accent1"/>
          </a:solidFill>
          <a:ln w="12700">
            <a:solidFill>
              <a:schemeClr val="accent1"/>
            </a:solidFill>
            <a:prstDash val="solid"/>
          </a:ln>
        </p:spPr>
      </p:sp>
      <p:sp>
        <p:nvSpPr>
          <p:cNvPr id="7" name="Boîte modèle"/>
          <p:cNvSpPr/>
          <p:nvPr/>
        </p:nvSpPr>
        <p:spPr>
          <a:xfrm>
            <a:off x="4206240" y="1463040"/>
            <a:ext cx="3566160" cy="1645920"/>
          </a:xfrm>
          <a:prstGeom prst="roundRect">
            <a:avLst>
              <a:gd name="adj" fmla="val 8333"/>
            </a:avLst>
          </a:prstGeom>
          <a:solidFill>
            <a:schemeClr val="accent2"/>
          </a:solidFill>
          <a:ln w="12700">
            <a:solidFill>
              <a:schemeClr val="accent2"/>
            </a:solidFill>
            <a:prstDash val="solid"/>
          </a:ln>
        </p:spPr>
      </p:sp>
      <p:sp>
        <p:nvSpPr>
          <p:cNvPr id="8" name="Titre modèle"/>
          <p:cNvSpPr txBox="1"/>
          <p:nvPr/>
        </p:nvSpPr>
        <p:spPr>
          <a:xfrm>
            <a:off x="4434840" y="1645920"/>
            <a:ext cx="3108960" cy="365760"/>
          </a:xfrm>
          <a:prstGeom prst="rect">
            <a:avLst/>
          </a:prstGeom>
          <a:noFill/>
          <a:ln/>
        </p:spPr>
        <p:txBody>
          <a:bodyPr wrap="square" lIns="0" tIns="0" rIns="0" bIns="0" rtlCol="0" anchor="t"/>
          <a:lstStyle/>
          <a:p>
            <a:pPr marL="0" indent="0" algn="l">
              <a:buNone/>
            </a:pPr>
            <a:r>
              <a:rPr lang="en-US" sz="2000" b="1" dirty="0">
                <a:solidFill>
                  <a:schemeClr val="bg1"/>
                </a:solidFill>
              </a:rPr>
              <a:t>Modèle</a:t>
            </a:r>
            <a:endParaRPr lang="en-US" sz="2000" dirty="0"/>
          </a:p>
        </p:txBody>
      </p:sp>
      <p:sp>
        <p:nvSpPr>
          <p:cNvPr id="9" name="Texte modèle"/>
          <p:cNvSpPr txBox="1"/>
          <p:nvPr/>
        </p:nvSpPr>
        <p:spPr>
          <a:xfrm>
            <a:off x="4434840" y="2103120"/>
            <a:ext cx="3108960" cy="822960"/>
          </a:xfrm>
          <a:prstGeom prst="rect">
            <a:avLst/>
          </a:prstGeom>
          <a:noFill/>
          <a:ln/>
        </p:spPr>
        <p:txBody>
          <a:bodyPr wrap="square" lIns="0" tIns="0" rIns="0" bIns="0" rtlCol="0" anchor="t"/>
          <a:lstStyle/>
          <a:p>
            <a:pPr marL="0" indent="0" algn="l">
              <a:buNone/>
            </a:pPr>
            <a:r>
              <a:rPr lang="en-US" sz="1600" dirty="0">
                <a:solidFill>
                  <a:schemeClr val="bg1"/>
                </a:solidFill>
              </a:rPr>
              <a:t>all-MiniLM-L6-v2 (Sentence-BERT)</a:t>
            </a:r>
            <a:endParaRPr lang="en-US" sz="1600" dirty="0"/>
          </a:p>
        </p:txBody>
      </p:sp>
      <p:sp>
        <p:nvSpPr>
          <p:cNvPr id="10" name="Flèche 2"/>
          <p:cNvSpPr/>
          <p:nvPr/>
        </p:nvSpPr>
        <p:spPr>
          <a:xfrm>
            <a:off x="7863840" y="2057400"/>
            <a:ext cx="365760" cy="457200"/>
          </a:xfrm>
          <a:prstGeom prst="rightArrow">
            <a:avLst/>
          </a:prstGeom>
          <a:solidFill>
            <a:schemeClr val="accent1"/>
          </a:solidFill>
          <a:ln w="12700">
            <a:solidFill>
              <a:schemeClr val="accent1"/>
            </a:solidFill>
            <a:prstDash val="solid"/>
          </a:ln>
        </p:spPr>
      </p:sp>
      <p:sp>
        <p:nvSpPr>
          <p:cNvPr id="11" name="Boîte vecteur"/>
          <p:cNvSpPr/>
          <p:nvPr/>
        </p:nvSpPr>
        <p:spPr>
          <a:xfrm>
            <a:off x="8321040" y="1463040"/>
            <a:ext cx="3319272" cy="1645920"/>
          </a:xfrm>
          <a:prstGeom prst="roundRect">
            <a:avLst>
              <a:gd name="adj" fmla="val 8333"/>
            </a:avLst>
          </a:prstGeom>
          <a:solidFill>
            <a:schemeClr val="accent4"/>
          </a:solidFill>
          <a:ln w="12700">
            <a:solidFill>
              <a:schemeClr val="accent4"/>
            </a:solidFill>
            <a:prstDash val="solid"/>
          </a:ln>
        </p:spPr>
      </p:sp>
      <p:sp>
        <p:nvSpPr>
          <p:cNvPr id="12" name="Titre vecteur"/>
          <p:cNvSpPr txBox="1"/>
          <p:nvPr/>
        </p:nvSpPr>
        <p:spPr>
          <a:xfrm>
            <a:off x="8549640" y="1645920"/>
            <a:ext cx="2834640" cy="365760"/>
          </a:xfrm>
          <a:prstGeom prst="rect">
            <a:avLst/>
          </a:prstGeom>
          <a:noFill/>
          <a:ln/>
        </p:spPr>
        <p:txBody>
          <a:bodyPr wrap="square" lIns="0" tIns="0" rIns="0" bIns="0" rtlCol="0" anchor="t"/>
          <a:lstStyle/>
          <a:p>
            <a:pPr marL="0" indent="0" algn="l">
              <a:buNone/>
            </a:pPr>
            <a:r>
              <a:rPr lang="en-US" sz="2000" b="1" dirty="0">
                <a:solidFill>
                  <a:schemeClr val="bg1"/>
                </a:solidFill>
              </a:rPr>
              <a:t>Vecteur</a:t>
            </a:r>
            <a:endParaRPr lang="en-US" sz="2000" dirty="0"/>
          </a:p>
        </p:txBody>
      </p:sp>
      <p:sp>
        <p:nvSpPr>
          <p:cNvPr id="13" name="Texte vecteur"/>
          <p:cNvSpPr txBox="1"/>
          <p:nvPr/>
        </p:nvSpPr>
        <p:spPr>
          <a:xfrm>
            <a:off x="8549640" y="2103120"/>
            <a:ext cx="2834640" cy="822960"/>
          </a:xfrm>
          <a:prstGeom prst="rect">
            <a:avLst/>
          </a:prstGeom>
          <a:noFill/>
          <a:ln/>
        </p:spPr>
        <p:txBody>
          <a:bodyPr wrap="square" lIns="0" tIns="0" rIns="0" bIns="0" rtlCol="0" anchor="t"/>
          <a:lstStyle/>
          <a:p>
            <a:pPr marL="0" indent="0" algn="l">
              <a:buNone/>
            </a:pPr>
            <a:r>
              <a:rPr lang="en-US" sz="1600" dirty="0">
                <a:solidFill>
                  <a:schemeClr val="bg1"/>
                </a:solidFill>
              </a:rPr>
              <a:t>384 nombres qui résument le sens</a:t>
            </a:r>
            <a:endParaRPr lang="en-US" sz="1600" dirty="0"/>
          </a:p>
        </p:txBody>
      </p:sp>
      <p:sp>
        <p:nvSpPr>
          <p:cNvPr id="14" name="Carte Il comprend le sens"/>
          <p:cNvSpPr/>
          <p:nvPr/>
        </p:nvSpPr>
        <p:spPr>
          <a:xfrm>
            <a:off x="548639" y="3474720"/>
            <a:ext cx="5357165" cy="2606040"/>
          </a:xfrm>
          <a:prstGeom prst="roundRect">
            <a:avLst>
              <a:gd name="adj" fmla="val 5263"/>
            </a:avLst>
          </a:prstGeom>
          <a:solidFill>
            <a:schemeClr val="bg2"/>
          </a:solidFill>
          <a:ln w="12700">
            <a:solidFill>
              <a:schemeClr val="bg2"/>
            </a:solidFill>
            <a:prstDash val="solid"/>
          </a:ln>
        </p:spPr>
      </p:sp>
      <p:sp>
        <p:nvSpPr>
          <p:cNvPr id="15" name="Icône Il comprend le sens cercle"/>
          <p:cNvSpPr/>
          <p:nvPr/>
        </p:nvSpPr>
        <p:spPr>
          <a:xfrm>
            <a:off x="777240" y="3703320"/>
            <a:ext cx="731520" cy="731520"/>
          </a:xfrm>
          <a:prstGeom prst="ellipse">
            <a:avLst/>
          </a:prstGeom>
          <a:solidFill>
            <a:schemeClr val="accent2"/>
          </a:solidFill>
          <a:ln w="12700">
            <a:solidFill>
              <a:schemeClr val="accent2"/>
            </a:solidFill>
            <a:prstDash val="solid"/>
          </a:ln>
        </p:spPr>
      </p:sp>
      <p:pic>
        <p:nvPicPr>
          <p:cNvPr id="16" name="Icône Il comprend le sens" descr="Icône Il comprend le sens"/>
          <p:cNvPicPr>
            <a:picLocks noChangeAspect="1"/>
          </p:cNvPicPr>
          <p:nvPr/>
        </p:nvPicPr>
        <p:blipFill>
          <a:blip r:embed="rId3"/>
          <a:stretch>
            <a:fillRect/>
          </a:stretch>
        </p:blipFill>
        <p:spPr>
          <a:xfrm>
            <a:off x="967435" y="3893515"/>
            <a:ext cx="351130" cy="351130"/>
          </a:xfrm>
          <a:prstGeom prst="rect">
            <a:avLst/>
          </a:prstGeom>
        </p:spPr>
      </p:pic>
      <p:sp>
        <p:nvSpPr>
          <p:cNvPr id="17" name="Titre Il comprend le sens"/>
          <p:cNvSpPr txBox="1"/>
          <p:nvPr/>
        </p:nvSpPr>
        <p:spPr>
          <a:xfrm>
            <a:off x="777240" y="4572000"/>
            <a:ext cx="3108960" cy="365760"/>
          </a:xfrm>
          <a:prstGeom prst="rect">
            <a:avLst/>
          </a:prstGeom>
          <a:noFill/>
          <a:ln/>
        </p:spPr>
        <p:txBody>
          <a:bodyPr wrap="square" lIns="0" tIns="0" rIns="0" bIns="0" rtlCol="0" anchor="t"/>
          <a:lstStyle/>
          <a:p>
            <a:pPr marL="0" indent="0" algn="l">
              <a:buNone/>
            </a:pPr>
            <a:r>
              <a:rPr lang="en-US" sz="2000" b="1" dirty="0">
                <a:solidFill>
                  <a:schemeClr val="tx1"/>
                </a:solidFill>
              </a:rPr>
              <a:t>Il comprend le sens</a:t>
            </a:r>
            <a:endParaRPr lang="en-US" sz="2000" dirty="0"/>
          </a:p>
        </p:txBody>
      </p:sp>
      <p:sp>
        <p:nvSpPr>
          <p:cNvPr id="18" name="Texte Il comprend le sens"/>
          <p:cNvSpPr txBox="1"/>
          <p:nvPr/>
        </p:nvSpPr>
        <p:spPr>
          <a:xfrm>
            <a:off x="777240" y="5029200"/>
            <a:ext cx="3108960" cy="960120"/>
          </a:xfrm>
          <a:prstGeom prst="rect">
            <a:avLst/>
          </a:prstGeom>
          <a:noFill/>
          <a:ln/>
        </p:spPr>
        <p:txBody>
          <a:bodyPr wrap="square" lIns="0" tIns="0" rIns="0" bIns="0" rtlCol="0" anchor="t"/>
          <a:lstStyle/>
          <a:p>
            <a:pPr marL="0" indent="0" algn="l">
              <a:buNone/>
            </a:pPr>
            <a:r>
              <a:rPr lang="en-US" sz="1400" dirty="0">
                <a:solidFill>
                  <a:schemeClr val="tx1"/>
                </a:solidFill>
              </a:rPr>
              <a:t>Deux textes proches en sens ont des vecteurs proches, même sans mot en commun.</a:t>
            </a:r>
            <a:endParaRPr lang="en-US" sz="1400" dirty="0"/>
          </a:p>
        </p:txBody>
      </p:sp>
      <p:sp>
        <p:nvSpPr>
          <p:cNvPr id="24" name="Carte Sauvegarde"/>
          <p:cNvSpPr/>
          <p:nvPr/>
        </p:nvSpPr>
        <p:spPr>
          <a:xfrm>
            <a:off x="6096000" y="3474720"/>
            <a:ext cx="5544312" cy="2606040"/>
          </a:xfrm>
          <a:prstGeom prst="roundRect">
            <a:avLst>
              <a:gd name="adj" fmla="val 5263"/>
            </a:avLst>
          </a:prstGeom>
          <a:solidFill>
            <a:schemeClr val="bg2"/>
          </a:solidFill>
          <a:ln w="12700">
            <a:solidFill>
              <a:schemeClr val="bg2"/>
            </a:solidFill>
            <a:prstDash val="solid"/>
          </a:ln>
        </p:spPr>
      </p:sp>
      <p:sp>
        <p:nvSpPr>
          <p:cNvPr id="25" name="Icône Sauvegarde cercle"/>
          <p:cNvSpPr/>
          <p:nvPr/>
        </p:nvSpPr>
        <p:spPr>
          <a:xfrm>
            <a:off x="6309360" y="3703320"/>
            <a:ext cx="731520" cy="731520"/>
          </a:xfrm>
          <a:prstGeom prst="ellipse">
            <a:avLst/>
          </a:prstGeom>
          <a:solidFill>
            <a:schemeClr val="accent2"/>
          </a:solidFill>
          <a:ln w="12700">
            <a:solidFill>
              <a:schemeClr val="accent2"/>
            </a:solidFill>
            <a:prstDash val="solid"/>
          </a:ln>
        </p:spPr>
      </p:sp>
      <p:pic>
        <p:nvPicPr>
          <p:cNvPr id="26" name="Icône Sauvegarde" descr="Icône Sauvegarde"/>
          <p:cNvPicPr>
            <a:picLocks noChangeAspect="1"/>
          </p:cNvPicPr>
          <p:nvPr/>
        </p:nvPicPr>
        <p:blipFill>
          <a:blip r:embed="rId4"/>
          <a:stretch>
            <a:fillRect/>
          </a:stretch>
        </p:blipFill>
        <p:spPr>
          <a:xfrm>
            <a:off x="6499555" y="3893515"/>
            <a:ext cx="351130" cy="351130"/>
          </a:xfrm>
          <a:prstGeom prst="rect">
            <a:avLst/>
          </a:prstGeom>
        </p:spPr>
      </p:pic>
      <p:sp>
        <p:nvSpPr>
          <p:cNvPr id="27" name="Titre Sauvegarde"/>
          <p:cNvSpPr txBox="1"/>
          <p:nvPr/>
        </p:nvSpPr>
        <p:spPr>
          <a:xfrm>
            <a:off x="6309360" y="4572000"/>
            <a:ext cx="3108960" cy="365760"/>
          </a:xfrm>
          <a:prstGeom prst="rect">
            <a:avLst/>
          </a:prstGeom>
          <a:noFill/>
          <a:ln/>
        </p:spPr>
        <p:txBody>
          <a:bodyPr wrap="square" lIns="0" tIns="0" rIns="0" bIns="0" rtlCol="0" anchor="t"/>
          <a:lstStyle/>
          <a:p>
            <a:pPr marL="0" indent="0" algn="l">
              <a:buNone/>
            </a:pPr>
            <a:r>
              <a:rPr lang="en-US" sz="2000" b="1" dirty="0">
                <a:solidFill>
                  <a:schemeClr val="tx1"/>
                </a:solidFill>
              </a:rPr>
              <a:t>Sauvegarde</a:t>
            </a:r>
            <a:endParaRPr lang="en-US" sz="2000" dirty="0"/>
          </a:p>
        </p:txBody>
      </p:sp>
      <p:sp>
        <p:nvSpPr>
          <p:cNvPr id="28" name="Texte Sauvegarde"/>
          <p:cNvSpPr txBox="1"/>
          <p:nvPr/>
        </p:nvSpPr>
        <p:spPr>
          <a:xfrm>
            <a:off x="6309360" y="5029200"/>
            <a:ext cx="3108960" cy="960120"/>
          </a:xfrm>
          <a:prstGeom prst="rect">
            <a:avLst/>
          </a:prstGeom>
          <a:noFill/>
          <a:ln/>
        </p:spPr>
        <p:txBody>
          <a:bodyPr wrap="square" lIns="0" tIns="0" rIns="0" bIns="0" rtlCol="0" anchor="t"/>
          <a:lstStyle/>
          <a:p>
            <a:pPr marL="0" indent="0" algn="l">
              <a:buNone/>
            </a:pPr>
            <a:r>
              <a:rPr lang="en-US" sz="1400" dirty="0">
                <a:solidFill>
                  <a:schemeClr val="tx1"/>
                </a:solidFill>
              </a:rPr>
              <a:t>Les vecteurs sont gardés dans un fichier. On les recharge tout de suite.</a:t>
            </a:r>
            <a:endParaRPr lang="en-US" sz="1400" dirty="0"/>
          </a:p>
        </p:txBody>
      </p:sp>
      <p:sp>
        <p:nvSpPr>
          <p:cNvPr id="29" name="Slide Number Placeholder 0"/>
          <p:cNvSpPr>
            <a:spLocks noGrp="1"/>
          </p:cNvSpPr>
          <p:nvPr>
            <p:ph type="sldNum" sz="quarter" idx="4294967295"/>
          </p:nvPr>
        </p:nvSpPr>
        <p:spPr>
          <a:xfrm>
            <a:off x="11137392"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400" b="1" dirty="0">
                <a:solidFill>
                  <a:schemeClr val="tx1"/>
                </a:solidFill>
              </a:rPr>
              <a:t>Comment on cherche dans l’index</a:t>
            </a:r>
            <a:endParaRPr lang="en-US" sz="3400" dirty="0"/>
          </a:p>
        </p:txBody>
      </p:sp>
      <p:sp>
        <p:nvSpPr>
          <p:cNvPr id="3" name="Carte TF-IDF"/>
          <p:cNvSpPr/>
          <p:nvPr/>
        </p:nvSpPr>
        <p:spPr>
          <a:xfrm>
            <a:off x="548640" y="1463040"/>
            <a:ext cx="5394960" cy="3657600"/>
          </a:xfrm>
          <a:prstGeom prst="roundRect">
            <a:avLst>
              <a:gd name="adj" fmla="val 3750"/>
            </a:avLst>
          </a:prstGeom>
          <a:solidFill>
            <a:schemeClr val="bg2"/>
          </a:solidFill>
          <a:ln w="12700">
            <a:solidFill>
              <a:schemeClr val="bg2"/>
            </a:solidFill>
            <a:prstDash val="solid"/>
          </a:ln>
        </p:spPr>
      </p:sp>
      <p:sp>
        <p:nvSpPr>
          <p:cNvPr id="4" name="Étiquette TF-IDF"/>
          <p:cNvSpPr/>
          <p:nvPr/>
        </p:nvSpPr>
        <p:spPr>
          <a:xfrm>
            <a:off x="822960" y="1737360"/>
            <a:ext cx="1828800" cy="457200"/>
          </a:xfrm>
          <a:prstGeom prst="roundRect">
            <a:avLst>
              <a:gd name="adj" fmla="val 50000"/>
            </a:avLst>
          </a:prstGeom>
          <a:solidFill>
            <a:schemeClr val="accent4"/>
          </a:solidFill>
          <a:ln w="12700">
            <a:solidFill>
              <a:schemeClr val="accent4"/>
            </a:solidFill>
            <a:prstDash val="solid"/>
          </a:ln>
        </p:spPr>
      </p:sp>
      <p:sp>
        <p:nvSpPr>
          <p:cNvPr id="5" name="Étiquette TF-IDF texte"/>
          <p:cNvSpPr txBox="1"/>
          <p:nvPr/>
        </p:nvSpPr>
        <p:spPr>
          <a:xfrm>
            <a:off x="822960" y="1737360"/>
            <a:ext cx="1828800" cy="457200"/>
          </a:xfrm>
          <a:prstGeom prst="rect">
            <a:avLst/>
          </a:prstGeom>
          <a:noFill/>
          <a:ln/>
        </p:spPr>
        <p:txBody>
          <a:bodyPr wrap="square" lIns="0" tIns="0" rIns="0" bIns="0" rtlCol="0" anchor="ctr"/>
          <a:lstStyle/>
          <a:p>
            <a:pPr marL="0" indent="0" algn="ctr">
              <a:buNone/>
            </a:pPr>
            <a:r>
              <a:rPr lang="en-US" sz="1600" b="1" dirty="0">
                <a:solidFill>
                  <a:schemeClr val="bg1"/>
                </a:solidFill>
              </a:rPr>
              <a:t>TF-IDF</a:t>
            </a:r>
            <a:endParaRPr lang="en-US" sz="1600" dirty="0"/>
          </a:p>
        </p:txBody>
      </p:sp>
      <p:sp>
        <p:nvSpPr>
          <p:cNvPr id="6" name="Titre TF-IDF"/>
          <p:cNvSpPr txBox="1"/>
          <p:nvPr/>
        </p:nvSpPr>
        <p:spPr>
          <a:xfrm>
            <a:off x="822960" y="2377440"/>
            <a:ext cx="4846320" cy="457200"/>
          </a:xfrm>
          <a:prstGeom prst="rect">
            <a:avLst/>
          </a:prstGeom>
          <a:noFill/>
          <a:ln/>
        </p:spPr>
        <p:txBody>
          <a:bodyPr wrap="square" lIns="0" tIns="0" rIns="0" bIns="0" rtlCol="0" anchor="t"/>
          <a:lstStyle/>
          <a:p>
            <a:pPr marL="0" indent="0" algn="l">
              <a:buNone/>
            </a:pPr>
            <a:r>
              <a:rPr lang="en-US" sz="2400" b="1" dirty="0">
                <a:solidFill>
                  <a:schemeClr val="tx1"/>
                </a:solidFill>
              </a:rPr>
              <a:t>Index inversé</a:t>
            </a:r>
            <a:endParaRPr lang="en-US" sz="2400" dirty="0"/>
          </a:p>
        </p:txBody>
      </p:sp>
      <p:sp>
        <p:nvSpPr>
          <p:cNvPr id="7" name="Liste TF-IDF"/>
          <p:cNvSpPr txBox="1"/>
          <p:nvPr/>
        </p:nvSpPr>
        <p:spPr>
          <a:xfrm>
            <a:off x="822960" y="3017520"/>
            <a:ext cx="4846320" cy="196596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Pour chaque mot, la liste des livres qui le contiennent</a:t>
            </a:r>
            <a:endParaRPr lang="en-US" sz="1800" dirty="0"/>
          </a:p>
          <a:p>
            <a:pPr marL="342900" indent="-342900">
              <a:spcAft>
                <a:spcPts val="1200"/>
              </a:spcAft>
              <a:buSzPct val="100000"/>
              <a:buChar char="•"/>
            </a:pPr>
            <a:r>
              <a:rPr lang="en-US" sz="1800" dirty="0">
                <a:solidFill>
                  <a:schemeClr val="tx1"/>
                </a:solidFill>
              </a:rPr>
              <a:t>Exemple : « magic » apparaît dans 852 livres</a:t>
            </a:r>
            <a:endParaRPr lang="en-US" sz="1800" dirty="0"/>
          </a:p>
          <a:p>
            <a:pPr marL="342900" indent="-342900">
              <a:spcAft>
                <a:spcPts val="1200"/>
              </a:spcAft>
              <a:buSzPct val="100000"/>
              <a:buChar char="•"/>
            </a:pPr>
            <a:r>
              <a:rPr lang="en-US" sz="1800" dirty="0">
                <a:solidFill>
                  <a:schemeClr val="tx1"/>
                </a:solidFill>
              </a:rPr>
              <a:t>On compare seulement ces livres candidats</a:t>
            </a:r>
            <a:endParaRPr lang="en-US" sz="1800" dirty="0"/>
          </a:p>
        </p:txBody>
      </p:sp>
      <p:sp>
        <p:nvSpPr>
          <p:cNvPr id="8" name="Carte Embeddings"/>
          <p:cNvSpPr/>
          <p:nvPr/>
        </p:nvSpPr>
        <p:spPr>
          <a:xfrm>
            <a:off x="6245352" y="1463040"/>
            <a:ext cx="5394960" cy="3657600"/>
          </a:xfrm>
          <a:prstGeom prst="roundRect">
            <a:avLst>
              <a:gd name="adj" fmla="val 3750"/>
            </a:avLst>
          </a:prstGeom>
          <a:solidFill>
            <a:schemeClr val="bg2"/>
          </a:solidFill>
          <a:ln w="12700">
            <a:solidFill>
              <a:schemeClr val="bg2"/>
            </a:solidFill>
            <a:prstDash val="solid"/>
          </a:ln>
        </p:spPr>
      </p:sp>
      <p:sp>
        <p:nvSpPr>
          <p:cNvPr id="9" name="Étiquette Embeddings"/>
          <p:cNvSpPr/>
          <p:nvPr/>
        </p:nvSpPr>
        <p:spPr>
          <a:xfrm>
            <a:off x="6519672" y="1737360"/>
            <a:ext cx="1828800" cy="457200"/>
          </a:xfrm>
          <a:prstGeom prst="roundRect">
            <a:avLst>
              <a:gd name="adj" fmla="val 50000"/>
            </a:avLst>
          </a:prstGeom>
          <a:solidFill>
            <a:schemeClr val="accent2"/>
          </a:solidFill>
          <a:ln w="12700">
            <a:solidFill>
              <a:schemeClr val="accent2"/>
            </a:solidFill>
            <a:prstDash val="solid"/>
          </a:ln>
        </p:spPr>
      </p:sp>
      <p:sp>
        <p:nvSpPr>
          <p:cNvPr id="10" name="Étiquette Embeddings texte"/>
          <p:cNvSpPr txBox="1"/>
          <p:nvPr/>
        </p:nvSpPr>
        <p:spPr>
          <a:xfrm>
            <a:off x="6519672" y="1737360"/>
            <a:ext cx="1828800" cy="457200"/>
          </a:xfrm>
          <a:prstGeom prst="rect">
            <a:avLst/>
          </a:prstGeom>
          <a:noFill/>
          <a:ln/>
        </p:spPr>
        <p:txBody>
          <a:bodyPr wrap="square" lIns="0" tIns="0" rIns="0" bIns="0" rtlCol="0" anchor="ctr"/>
          <a:lstStyle/>
          <a:p>
            <a:pPr marL="0" indent="0" algn="ctr">
              <a:buNone/>
            </a:pPr>
            <a:r>
              <a:rPr lang="en-US" sz="1600" b="1" dirty="0">
                <a:solidFill>
                  <a:schemeClr val="bg1"/>
                </a:solidFill>
              </a:rPr>
              <a:t>Embeddings</a:t>
            </a:r>
            <a:endParaRPr lang="en-US" sz="1600" dirty="0"/>
          </a:p>
        </p:txBody>
      </p:sp>
      <p:sp>
        <p:nvSpPr>
          <p:cNvPr id="11" name="Titre Embeddings"/>
          <p:cNvSpPr txBox="1"/>
          <p:nvPr/>
        </p:nvSpPr>
        <p:spPr>
          <a:xfrm>
            <a:off x="6519672" y="2377440"/>
            <a:ext cx="4846320" cy="457200"/>
          </a:xfrm>
          <a:prstGeom prst="rect">
            <a:avLst/>
          </a:prstGeom>
          <a:noFill/>
          <a:ln/>
        </p:spPr>
        <p:txBody>
          <a:bodyPr wrap="square" lIns="0" tIns="0" rIns="0" bIns="0" rtlCol="0" anchor="t"/>
          <a:lstStyle/>
          <a:p>
            <a:pPr marL="0" indent="0" algn="l">
              <a:buNone/>
            </a:pPr>
            <a:r>
              <a:rPr lang="en-US" sz="2400" b="1" dirty="0">
                <a:solidFill>
                  <a:schemeClr val="tx1"/>
                </a:solidFill>
              </a:rPr>
              <a:t>Voisins proches</a:t>
            </a:r>
            <a:endParaRPr lang="en-US" sz="2400" dirty="0"/>
          </a:p>
        </p:txBody>
      </p:sp>
      <p:sp>
        <p:nvSpPr>
          <p:cNvPr id="12" name="Liste Embeddings"/>
          <p:cNvSpPr txBox="1"/>
          <p:nvPr/>
        </p:nvSpPr>
        <p:spPr>
          <a:xfrm>
            <a:off x="6519672" y="3017520"/>
            <a:ext cx="4846320" cy="196596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La requête devient un vecteur de 384 nombres</a:t>
            </a:r>
            <a:endParaRPr lang="en-US" sz="1800" dirty="0"/>
          </a:p>
          <a:p>
            <a:pPr marL="342900" indent="-342900">
              <a:spcAft>
                <a:spcPts val="1200"/>
              </a:spcAft>
              <a:buSzPct val="100000"/>
              <a:buChar char="•"/>
            </a:pPr>
            <a:r>
              <a:rPr lang="en-US" sz="1800" dirty="0">
                <a:solidFill>
                  <a:schemeClr val="tx1"/>
                </a:solidFill>
              </a:rPr>
              <a:t>NearestNeighbors cherche les vecteurs les plus proches</a:t>
            </a:r>
            <a:endParaRPr lang="en-US" sz="1800" dirty="0"/>
          </a:p>
          <a:p>
            <a:pPr marL="342900" indent="-342900">
              <a:spcAft>
                <a:spcPts val="1200"/>
              </a:spcAft>
              <a:buSzPct val="100000"/>
              <a:buChar char="•"/>
            </a:pPr>
            <a:r>
              <a:rPr lang="en-US" sz="1800" dirty="0">
                <a:solidFill>
                  <a:schemeClr val="tx1"/>
                </a:solidFill>
              </a:rPr>
              <a:t>Distance cosinus, calcul sur tous les cœurs du CPU</a:t>
            </a:r>
            <a:endParaRPr lang="en-US" sz="1800" dirty="0"/>
          </a:p>
        </p:txBody>
      </p:sp>
      <p:sp>
        <p:nvSpPr>
          <p:cNvPr id="13" name="Bandeau score"/>
          <p:cNvSpPr/>
          <p:nvPr/>
        </p:nvSpPr>
        <p:spPr>
          <a:xfrm>
            <a:off x="548640" y="5349240"/>
            <a:ext cx="11091672" cy="777240"/>
          </a:xfrm>
          <a:prstGeom prst="roundRect">
            <a:avLst>
              <a:gd name="adj" fmla="val 17647"/>
            </a:avLst>
          </a:prstGeom>
          <a:solidFill>
            <a:schemeClr val="accent1"/>
          </a:solidFill>
          <a:ln w="12700">
            <a:solidFill>
              <a:schemeClr val="accent1"/>
            </a:solidFill>
            <a:prstDash val="solid"/>
          </a:ln>
        </p:spPr>
      </p:sp>
      <p:pic>
        <p:nvPicPr>
          <p:cNvPr id="14" name="Icône ampoule" descr="Ampoule"/>
          <p:cNvPicPr>
            <a:picLocks noChangeAspect="1"/>
          </p:cNvPicPr>
          <p:nvPr/>
        </p:nvPicPr>
        <p:blipFill>
          <a:blip r:embed="rId3"/>
          <a:stretch>
            <a:fillRect/>
          </a:stretch>
        </p:blipFill>
        <p:spPr>
          <a:xfrm>
            <a:off x="822960" y="5559552"/>
            <a:ext cx="365760" cy="365760"/>
          </a:xfrm>
          <a:prstGeom prst="rect">
            <a:avLst/>
          </a:prstGeom>
        </p:spPr>
      </p:pic>
      <p:sp>
        <p:nvSpPr>
          <p:cNvPr id="15" name="Texte score"/>
          <p:cNvSpPr txBox="1"/>
          <p:nvPr/>
        </p:nvSpPr>
        <p:spPr>
          <a:xfrm>
            <a:off x="1417320" y="5349240"/>
            <a:ext cx="9966960" cy="777240"/>
          </a:xfrm>
          <a:prstGeom prst="rect">
            <a:avLst/>
          </a:prstGeom>
          <a:noFill/>
          <a:ln/>
        </p:spPr>
        <p:txBody>
          <a:bodyPr wrap="square" lIns="0" tIns="0" rIns="0" bIns="0" rtlCol="0" anchor="ctr"/>
          <a:lstStyle/>
          <a:p>
            <a:pPr marL="0" indent="0" algn="l">
              <a:buNone/>
            </a:pPr>
            <a:r>
              <a:rPr lang="en-US" sz="1600" b="1" dirty="0">
                <a:solidFill>
                  <a:schemeClr val="tx1"/>
                </a:solidFill>
              </a:rPr>
              <a:t>Le score est la similarité cosinus : plus il est proche de 1, plus le livre est proche de la requête.</a:t>
            </a:r>
            <a:endParaRPr lang="en-US" sz="1600" dirty="0"/>
          </a:p>
        </p:txBody>
      </p:sp>
      <p:sp>
        <p:nvSpPr>
          <p:cNvPr id="25" name="Slide Number Placeholder 0"/>
          <p:cNvSpPr>
            <a:spLocks noGrp="1"/>
          </p:cNvSpPr>
          <p:nvPr>
            <p:ph type="sldNum" sz="quarter" idx="4294967295"/>
          </p:nvPr>
        </p:nvSpPr>
        <p:spPr>
          <a:xfrm>
            <a:off x="11137392"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400" b="1" dirty="0">
                <a:solidFill>
                  <a:schemeClr val="tx1"/>
                </a:solidFill>
              </a:rPr>
              <a:t>Un exemple de recherche</a:t>
            </a:r>
            <a:endParaRPr lang="en-US" sz="3400" dirty="0"/>
          </a:p>
        </p:txBody>
      </p:sp>
      <p:sp>
        <p:nvSpPr>
          <p:cNvPr id="3" name="Barre requête"/>
          <p:cNvSpPr/>
          <p:nvPr/>
        </p:nvSpPr>
        <p:spPr>
          <a:xfrm>
            <a:off x="548640" y="1417320"/>
            <a:ext cx="11091672" cy="685800"/>
          </a:xfrm>
          <a:prstGeom prst="roundRect">
            <a:avLst>
              <a:gd name="adj" fmla="val 20000"/>
            </a:avLst>
          </a:prstGeom>
          <a:solidFill>
            <a:schemeClr val="bg2"/>
          </a:solidFill>
          <a:ln w="12700">
            <a:solidFill>
              <a:schemeClr val="bg2"/>
            </a:solidFill>
            <a:prstDash val="solid"/>
          </a:ln>
        </p:spPr>
      </p:sp>
      <p:pic>
        <p:nvPicPr>
          <p:cNvPr id="4" name="Loupe requête" descr="Loupe"/>
          <p:cNvPicPr>
            <a:picLocks noChangeAspect="1"/>
          </p:cNvPicPr>
          <p:nvPr/>
        </p:nvPicPr>
        <p:blipFill>
          <a:blip r:embed="rId3"/>
          <a:stretch>
            <a:fillRect/>
          </a:stretch>
        </p:blipFill>
        <p:spPr>
          <a:xfrm>
            <a:off x="777240" y="1618488"/>
            <a:ext cx="274320" cy="274320"/>
          </a:xfrm>
          <a:prstGeom prst="rect">
            <a:avLst/>
          </a:prstGeom>
        </p:spPr>
      </p:pic>
      <p:sp>
        <p:nvSpPr>
          <p:cNvPr id="5" name="Texte requête"/>
          <p:cNvSpPr txBox="1"/>
          <p:nvPr/>
        </p:nvSpPr>
        <p:spPr>
          <a:xfrm>
            <a:off x="1234440" y="1417320"/>
            <a:ext cx="10058400" cy="685800"/>
          </a:xfrm>
          <a:prstGeom prst="rect">
            <a:avLst/>
          </a:prstGeom>
          <a:noFill/>
          <a:ln/>
        </p:spPr>
        <p:txBody>
          <a:bodyPr wrap="square" lIns="0" tIns="0" rIns="0" bIns="0" rtlCol="0" anchor="ctr"/>
          <a:lstStyle/>
          <a:p>
            <a:pPr marL="0" indent="0" algn="l">
              <a:buNone/>
            </a:pPr>
            <a:r>
              <a:rPr lang="en-US" sz="1800" i="1" dirty="0">
                <a:solidFill>
                  <a:schemeClr val="tx1"/>
                </a:solidFill>
              </a:rPr>
              <a:t>Requête : a fantasy adventure with dragons and magic</a:t>
            </a:r>
            <a:endParaRPr lang="en-US" sz="1800" dirty="0"/>
          </a:p>
        </p:txBody>
      </p:sp>
      <p:sp>
        <p:nvSpPr>
          <p:cNvPr id="6" name="Étiquette TF-IDF · mots exacts"/>
          <p:cNvSpPr/>
          <p:nvPr/>
        </p:nvSpPr>
        <p:spPr>
          <a:xfrm>
            <a:off x="548640" y="2331720"/>
            <a:ext cx="5394960" cy="502920"/>
          </a:xfrm>
          <a:prstGeom prst="roundRect">
            <a:avLst>
              <a:gd name="adj" fmla="val 50000"/>
            </a:avLst>
          </a:prstGeom>
          <a:solidFill>
            <a:schemeClr val="accent4"/>
          </a:solidFill>
          <a:ln w="12700">
            <a:solidFill>
              <a:schemeClr val="accent4"/>
            </a:solidFill>
            <a:prstDash val="solid"/>
          </a:ln>
        </p:spPr>
      </p:sp>
      <p:sp>
        <p:nvSpPr>
          <p:cNvPr id="7" name="Étiquette TF-IDF · mots exacts texte"/>
          <p:cNvSpPr txBox="1"/>
          <p:nvPr/>
        </p:nvSpPr>
        <p:spPr>
          <a:xfrm>
            <a:off x="548640" y="2331720"/>
            <a:ext cx="5394960" cy="502920"/>
          </a:xfrm>
          <a:prstGeom prst="rect">
            <a:avLst/>
          </a:prstGeom>
          <a:noFill/>
          <a:ln/>
        </p:spPr>
        <p:txBody>
          <a:bodyPr wrap="square" lIns="0" tIns="0" rIns="0" bIns="0" rtlCol="0" anchor="ctr"/>
          <a:lstStyle/>
          <a:p>
            <a:pPr marL="0" indent="0" algn="ctr">
              <a:buNone/>
            </a:pPr>
            <a:r>
              <a:rPr lang="en-US" sz="1600" b="1" dirty="0">
                <a:solidFill>
                  <a:schemeClr val="bg1"/>
                </a:solidFill>
              </a:rPr>
              <a:t>TF-IDF · mots exacts</a:t>
            </a:r>
            <a:endParaRPr lang="en-US" sz="1600" dirty="0"/>
          </a:p>
        </p:txBody>
      </p:sp>
      <p:sp>
        <p:nvSpPr>
          <p:cNvPr id="8" name="Résultat TF-IDF · mots exacts 1"/>
          <p:cNvSpPr/>
          <p:nvPr/>
        </p:nvSpPr>
        <p:spPr>
          <a:xfrm>
            <a:off x="548640" y="3017520"/>
            <a:ext cx="5394960" cy="777240"/>
          </a:xfrm>
          <a:prstGeom prst="roundRect">
            <a:avLst>
              <a:gd name="adj" fmla="val 17647"/>
            </a:avLst>
          </a:prstGeom>
          <a:solidFill>
            <a:schemeClr val="bg2"/>
          </a:solidFill>
          <a:ln w="12700">
            <a:solidFill>
              <a:schemeClr val="bg2"/>
            </a:solidFill>
            <a:prstDash val="solid"/>
          </a:ln>
        </p:spPr>
      </p:sp>
      <p:sp>
        <p:nvSpPr>
          <p:cNvPr id="9" name="Titre TF-IDF · mots exacts 1"/>
          <p:cNvSpPr txBox="1"/>
          <p:nvPr/>
        </p:nvSpPr>
        <p:spPr>
          <a:xfrm>
            <a:off x="777240" y="3017520"/>
            <a:ext cx="4206240" cy="777240"/>
          </a:xfrm>
          <a:prstGeom prst="rect">
            <a:avLst/>
          </a:prstGeom>
          <a:noFill/>
          <a:ln/>
        </p:spPr>
        <p:txBody>
          <a:bodyPr wrap="square" lIns="0" tIns="0" rIns="0" bIns="0" rtlCol="0" anchor="ctr"/>
          <a:lstStyle/>
          <a:p>
            <a:pPr marL="0" indent="0" algn="l">
              <a:buNone/>
            </a:pPr>
            <a:r>
              <a:rPr lang="en-US" sz="1400" b="1" dirty="0">
                <a:solidFill>
                  <a:schemeClr val="tx1"/>
                </a:solidFill>
              </a:rPr>
              <a:t>Zachary Pill Dragon Magic: Book 1</a:t>
            </a:r>
            <a:endParaRPr lang="en-US" sz="1400" dirty="0"/>
          </a:p>
        </p:txBody>
      </p:sp>
      <p:sp>
        <p:nvSpPr>
          <p:cNvPr id="10" name="Score TF-IDF · mots exacts 1"/>
          <p:cNvSpPr txBox="1"/>
          <p:nvPr/>
        </p:nvSpPr>
        <p:spPr>
          <a:xfrm>
            <a:off x="5074920" y="3017520"/>
            <a:ext cx="685800" cy="777240"/>
          </a:xfrm>
          <a:prstGeom prst="rect">
            <a:avLst/>
          </a:prstGeom>
          <a:noFill/>
          <a:ln/>
        </p:spPr>
        <p:txBody>
          <a:bodyPr wrap="square" lIns="0" tIns="0" rIns="0" bIns="0" rtlCol="0" anchor="ctr"/>
          <a:lstStyle/>
          <a:p>
            <a:pPr marL="0" indent="0" algn="r">
              <a:buNone/>
            </a:pPr>
            <a:r>
              <a:rPr lang="en-US" sz="2200" b="1" dirty="0">
                <a:solidFill>
                  <a:schemeClr val="accent4"/>
                </a:solidFill>
              </a:rPr>
              <a:t>0,17</a:t>
            </a:r>
            <a:endParaRPr lang="en-US" sz="2200" dirty="0"/>
          </a:p>
        </p:txBody>
      </p:sp>
      <p:sp>
        <p:nvSpPr>
          <p:cNvPr id="11" name="Résultat TF-IDF · mots exacts 2"/>
          <p:cNvSpPr/>
          <p:nvPr/>
        </p:nvSpPr>
        <p:spPr>
          <a:xfrm>
            <a:off x="548640" y="3931920"/>
            <a:ext cx="5394960" cy="777240"/>
          </a:xfrm>
          <a:prstGeom prst="roundRect">
            <a:avLst>
              <a:gd name="adj" fmla="val 17647"/>
            </a:avLst>
          </a:prstGeom>
          <a:solidFill>
            <a:schemeClr val="bg2"/>
          </a:solidFill>
          <a:ln w="12700">
            <a:solidFill>
              <a:schemeClr val="bg2"/>
            </a:solidFill>
            <a:prstDash val="solid"/>
          </a:ln>
        </p:spPr>
      </p:sp>
      <p:sp>
        <p:nvSpPr>
          <p:cNvPr id="12" name="Titre TF-IDF · mots exacts 2"/>
          <p:cNvSpPr txBox="1"/>
          <p:nvPr/>
        </p:nvSpPr>
        <p:spPr>
          <a:xfrm>
            <a:off x="777240" y="3931920"/>
            <a:ext cx="4206240" cy="777240"/>
          </a:xfrm>
          <a:prstGeom prst="rect">
            <a:avLst/>
          </a:prstGeom>
          <a:noFill/>
          <a:ln/>
        </p:spPr>
        <p:txBody>
          <a:bodyPr wrap="square" lIns="0" tIns="0" rIns="0" bIns="0" rtlCol="0" anchor="ctr"/>
          <a:lstStyle/>
          <a:p>
            <a:pPr marL="0" indent="0" algn="l">
              <a:buNone/>
            </a:pPr>
            <a:r>
              <a:rPr lang="en-US" sz="1400" b="1" dirty="0">
                <a:solidFill>
                  <a:schemeClr val="tx1"/>
                </a:solidFill>
              </a:rPr>
              <a:t>The Bridge to Nowhere (Magemother, #3)</a:t>
            </a:r>
            <a:endParaRPr lang="en-US" sz="1400" dirty="0"/>
          </a:p>
        </p:txBody>
      </p:sp>
      <p:sp>
        <p:nvSpPr>
          <p:cNvPr id="13" name="Score TF-IDF · mots exacts 2"/>
          <p:cNvSpPr txBox="1"/>
          <p:nvPr/>
        </p:nvSpPr>
        <p:spPr>
          <a:xfrm>
            <a:off x="5074920" y="3931920"/>
            <a:ext cx="685800" cy="777240"/>
          </a:xfrm>
          <a:prstGeom prst="rect">
            <a:avLst/>
          </a:prstGeom>
          <a:noFill/>
          <a:ln/>
        </p:spPr>
        <p:txBody>
          <a:bodyPr wrap="square" lIns="0" tIns="0" rIns="0" bIns="0" rtlCol="0" anchor="ctr"/>
          <a:lstStyle/>
          <a:p>
            <a:pPr marL="0" indent="0" algn="r">
              <a:buNone/>
            </a:pPr>
            <a:r>
              <a:rPr lang="en-US" sz="2200" b="1" dirty="0">
                <a:solidFill>
                  <a:schemeClr val="accent4"/>
                </a:solidFill>
              </a:rPr>
              <a:t>0,15</a:t>
            </a:r>
            <a:endParaRPr lang="en-US" sz="2200" dirty="0"/>
          </a:p>
        </p:txBody>
      </p:sp>
      <p:sp>
        <p:nvSpPr>
          <p:cNvPr id="14" name="Résultat TF-IDF · mots exacts 3"/>
          <p:cNvSpPr/>
          <p:nvPr/>
        </p:nvSpPr>
        <p:spPr>
          <a:xfrm>
            <a:off x="548640" y="4846320"/>
            <a:ext cx="5394960" cy="777240"/>
          </a:xfrm>
          <a:prstGeom prst="roundRect">
            <a:avLst>
              <a:gd name="adj" fmla="val 17647"/>
            </a:avLst>
          </a:prstGeom>
          <a:solidFill>
            <a:schemeClr val="bg2"/>
          </a:solidFill>
          <a:ln w="12700">
            <a:solidFill>
              <a:schemeClr val="bg2"/>
            </a:solidFill>
            <a:prstDash val="solid"/>
          </a:ln>
        </p:spPr>
      </p:sp>
      <p:sp>
        <p:nvSpPr>
          <p:cNvPr id="15" name="Titre TF-IDF · mots exacts 3"/>
          <p:cNvSpPr txBox="1"/>
          <p:nvPr/>
        </p:nvSpPr>
        <p:spPr>
          <a:xfrm>
            <a:off x="777240" y="4846320"/>
            <a:ext cx="4206240" cy="777240"/>
          </a:xfrm>
          <a:prstGeom prst="rect">
            <a:avLst/>
          </a:prstGeom>
          <a:noFill/>
          <a:ln/>
        </p:spPr>
        <p:txBody>
          <a:bodyPr wrap="square" lIns="0" tIns="0" rIns="0" bIns="0" rtlCol="0" anchor="ctr"/>
          <a:lstStyle/>
          <a:p>
            <a:pPr marL="0" indent="0" algn="l">
              <a:buNone/>
            </a:pPr>
            <a:r>
              <a:rPr lang="en-US" sz="1400" b="1" dirty="0">
                <a:solidFill>
                  <a:schemeClr val="tx1"/>
                </a:solidFill>
              </a:rPr>
              <a:t>The Prince Returns (The Keeper of Dragons #1)</a:t>
            </a:r>
            <a:endParaRPr lang="en-US" sz="1400" dirty="0"/>
          </a:p>
        </p:txBody>
      </p:sp>
      <p:sp>
        <p:nvSpPr>
          <p:cNvPr id="16" name="Score TF-IDF · mots exacts 3"/>
          <p:cNvSpPr txBox="1"/>
          <p:nvPr/>
        </p:nvSpPr>
        <p:spPr>
          <a:xfrm>
            <a:off x="5074920" y="4846320"/>
            <a:ext cx="685800" cy="777240"/>
          </a:xfrm>
          <a:prstGeom prst="rect">
            <a:avLst/>
          </a:prstGeom>
          <a:noFill/>
          <a:ln/>
        </p:spPr>
        <p:txBody>
          <a:bodyPr wrap="square" lIns="0" tIns="0" rIns="0" bIns="0" rtlCol="0" anchor="ctr"/>
          <a:lstStyle/>
          <a:p>
            <a:pPr marL="0" indent="0" algn="r">
              <a:buNone/>
            </a:pPr>
            <a:r>
              <a:rPr lang="en-US" sz="2200" b="1" dirty="0">
                <a:solidFill>
                  <a:schemeClr val="accent4"/>
                </a:solidFill>
              </a:rPr>
              <a:t>0,13</a:t>
            </a:r>
            <a:endParaRPr lang="en-US" sz="2200" dirty="0"/>
          </a:p>
        </p:txBody>
      </p:sp>
      <p:sp>
        <p:nvSpPr>
          <p:cNvPr id="17" name="Étiquette Embeddings · sens"/>
          <p:cNvSpPr/>
          <p:nvPr/>
        </p:nvSpPr>
        <p:spPr>
          <a:xfrm>
            <a:off x="6245352" y="2331720"/>
            <a:ext cx="5394960" cy="502920"/>
          </a:xfrm>
          <a:prstGeom prst="roundRect">
            <a:avLst>
              <a:gd name="adj" fmla="val 50000"/>
            </a:avLst>
          </a:prstGeom>
          <a:solidFill>
            <a:schemeClr val="accent2"/>
          </a:solidFill>
          <a:ln w="12700">
            <a:solidFill>
              <a:schemeClr val="accent2"/>
            </a:solidFill>
            <a:prstDash val="solid"/>
          </a:ln>
        </p:spPr>
      </p:sp>
      <p:sp>
        <p:nvSpPr>
          <p:cNvPr id="18" name="Étiquette Embeddings · sens texte"/>
          <p:cNvSpPr txBox="1"/>
          <p:nvPr/>
        </p:nvSpPr>
        <p:spPr>
          <a:xfrm>
            <a:off x="6245352" y="2331720"/>
            <a:ext cx="5394960" cy="502920"/>
          </a:xfrm>
          <a:prstGeom prst="rect">
            <a:avLst/>
          </a:prstGeom>
          <a:noFill/>
          <a:ln/>
        </p:spPr>
        <p:txBody>
          <a:bodyPr wrap="square" lIns="0" tIns="0" rIns="0" bIns="0" rtlCol="0" anchor="ctr"/>
          <a:lstStyle/>
          <a:p>
            <a:pPr marL="0" indent="0" algn="ctr">
              <a:buNone/>
            </a:pPr>
            <a:r>
              <a:rPr lang="en-US" sz="1600" b="1" dirty="0">
                <a:solidFill>
                  <a:schemeClr val="bg1"/>
                </a:solidFill>
              </a:rPr>
              <a:t>Embeddings · sens</a:t>
            </a:r>
            <a:endParaRPr lang="en-US" sz="1600" dirty="0"/>
          </a:p>
        </p:txBody>
      </p:sp>
      <p:sp>
        <p:nvSpPr>
          <p:cNvPr id="19" name="Résultat Embeddings · sens 1"/>
          <p:cNvSpPr/>
          <p:nvPr/>
        </p:nvSpPr>
        <p:spPr>
          <a:xfrm>
            <a:off x="6245352" y="3017520"/>
            <a:ext cx="5394960" cy="777240"/>
          </a:xfrm>
          <a:prstGeom prst="roundRect">
            <a:avLst>
              <a:gd name="adj" fmla="val 17647"/>
            </a:avLst>
          </a:prstGeom>
          <a:solidFill>
            <a:schemeClr val="bg2"/>
          </a:solidFill>
          <a:ln w="12700">
            <a:solidFill>
              <a:schemeClr val="bg2"/>
            </a:solidFill>
            <a:prstDash val="solid"/>
          </a:ln>
        </p:spPr>
      </p:sp>
      <p:sp>
        <p:nvSpPr>
          <p:cNvPr id="20" name="Titre Embeddings · sens 1"/>
          <p:cNvSpPr txBox="1"/>
          <p:nvPr/>
        </p:nvSpPr>
        <p:spPr>
          <a:xfrm>
            <a:off x="6473952" y="3017520"/>
            <a:ext cx="4206240" cy="777240"/>
          </a:xfrm>
          <a:prstGeom prst="rect">
            <a:avLst/>
          </a:prstGeom>
          <a:noFill/>
          <a:ln/>
        </p:spPr>
        <p:txBody>
          <a:bodyPr wrap="square" lIns="0" tIns="0" rIns="0" bIns="0" rtlCol="0" anchor="ctr"/>
          <a:lstStyle/>
          <a:p>
            <a:pPr marL="0" indent="0" algn="l">
              <a:buNone/>
            </a:pPr>
            <a:r>
              <a:rPr lang="en-US" sz="1400" b="1" dirty="0">
                <a:solidFill>
                  <a:schemeClr val="tx1"/>
                </a:solidFill>
              </a:rPr>
              <a:t>Searching for Dragons (Enchanted Forest Chronicles, #2)</a:t>
            </a:r>
            <a:endParaRPr lang="en-US" sz="1400" dirty="0"/>
          </a:p>
        </p:txBody>
      </p:sp>
      <p:sp>
        <p:nvSpPr>
          <p:cNvPr id="21" name="Score Embeddings · sens 1"/>
          <p:cNvSpPr txBox="1"/>
          <p:nvPr/>
        </p:nvSpPr>
        <p:spPr>
          <a:xfrm>
            <a:off x="10771632" y="3017520"/>
            <a:ext cx="685800" cy="777240"/>
          </a:xfrm>
          <a:prstGeom prst="rect">
            <a:avLst/>
          </a:prstGeom>
          <a:noFill/>
          <a:ln/>
        </p:spPr>
        <p:txBody>
          <a:bodyPr wrap="square" lIns="0" tIns="0" rIns="0" bIns="0" rtlCol="0" anchor="ctr"/>
          <a:lstStyle/>
          <a:p>
            <a:pPr marL="0" indent="0" algn="r">
              <a:buNone/>
            </a:pPr>
            <a:r>
              <a:rPr lang="en-US" sz="2200" b="1" dirty="0">
                <a:solidFill>
                  <a:schemeClr val="accent2"/>
                </a:solidFill>
              </a:rPr>
              <a:t>0,71</a:t>
            </a:r>
            <a:endParaRPr lang="en-US" sz="2200" dirty="0"/>
          </a:p>
        </p:txBody>
      </p:sp>
      <p:sp>
        <p:nvSpPr>
          <p:cNvPr id="22" name="Résultat Embeddings · sens 2"/>
          <p:cNvSpPr/>
          <p:nvPr/>
        </p:nvSpPr>
        <p:spPr>
          <a:xfrm>
            <a:off x="6245352" y="3931920"/>
            <a:ext cx="5394960" cy="777240"/>
          </a:xfrm>
          <a:prstGeom prst="roundRect">
            <a:avLst>
              <a:gd name="adj" fmla="val 17647"/>
            </a:avLst>
          </a:prstGeom>
          <a:solidFill>
            <a:schemeClr val="bg2"/>
          </a:solidFill>
          <a:ln w="12700">
            <a:solidFill>
              <a:schemeClr val="bg2"/>
            </a:solidFill>
            <a:prstDash val="solid"/>
          </a:ln>
        </p:spPr>
      </p:sp>
      <p:sp>
        <p:nvSpPr>
          <p:cNvPr id="23" name="Titre Embeddings · sens 2"/>
          <p:cNvSpPr txBox="1"/>
          <p:nvPr/>
        </p:nvSpPr>
        <p:spPr>
          <a:xfrm>
            <a:off x="6473952" y="3931920"/>
            <a:ext cx="4206240" cy="777240"/>
          </a:xfrm>
          <a:prstGeom prst="rect">
            <a:avLst/>
          </a:prstGeom>
          <a:noFill/>
          <a:ln/>
        </p:spPr>
        <p:txBody>
          <a:bodyPr wrap="square" lIns="0" tIns="0" rIns="0" bIns="0" rtlCol="0" anchor="ctr"/>
          <a:lstStyle/>
          <a:p>
            <a:pPr marL="0" indent="0" algn="l">
              <a:buNone/>
            </a:pPr>
            <a:r>
              <a:rPr lang="en-US" sz="1400" b="1" dirty="0">
                <a:solidFill>
                  <a:schemeClr val="tx1"/>
                </a:solidFill>
              </a:rPr>
              <a:t>Call of the Dragon (The Dragons of Mar, #1)</a:t>
            </a:r>
            <a:endParaRPr lang="en-US" sz="1400" dirty="0"/>
          </a:p>
        </p:txBody>
      </p:sp>
      <p:sp>
        <p:nvSpPr>
          <p:cNvPr id="24" name="Score Embeddings · sens 2"/>
          <p:cNvSpPr txBox="1"/>
          <p:nvPr/>
        </p:nvSpPr>
        <p:spPr>
          <a:xfrm>
            <a:off x="10771632" y="3931920"/>
            <a:ext cx="685800" cy="777240"/>
          </a:xfrm>
          <a:prstGeom prst="rect">
            <a:avLst/>
          </a:prstGeom>
          <a:noFill/>
          <a:ln/>
        </p:spPr>
        <p:txBody>
          <a:bodyPr wrap="square" lIns="0" tIns="0" rIns="0" bIns="0" rtlCol="0" anchor="ctr"/>
          <a:lstStyle/>
          <a:p>
            <a:pPr marL="0" indent="0" algn="r">
              <a:buNone/>
            </a:pPr>
            <a:r>
              <a:rPr lang="en-US" sz="2200" b="1" dirty="0">
                <a:solidFill>
                  <a:schemeClr val="accent2"/>
                </a:solidFill>
              </a:rPr>
              <a:t>0,58</a:t>
            </a:r>
            <a:endParaRPr lang="en-US" sz="2200" dirty="0"/>
          </a:p>
        </p:txBody>
      </p:sp>
      <p:sp>
        <p:nvSpPr>
          <p:cNvPr id="25" name="Résultat Embeddings · sens 3"/>
          <p:cNvSpPr/>
          <p:nvPr/>
        </p:nvSpPr>
        <p:spPr>
          <a:xfrm>
            <a:off x="6245352" y="4846320"/>
            <a:ext cx="5394960" cy="777240"/>
          </a:xfrm>
          <a:prstGeom prst="roundRect">
            <a:avLst>
              <a:gd name="adj" fmla="val 17647"/>
            </a:avLst>
          </a:prstGeom>
          <a:solidFill>
            <a:schemeClr val="bg2"/>
          </a:solidFill>
          <a:ln w="12700">
            <a:solidFill>
              <a:schemeClr val="bg2"/>
            </a:solidFill>
            <a:prstDash val="solid"/>
          </a:ln>
        </p:spPr>
      </p:sp>
      <p:sp>
        <p:nvSpPr>
          <p:cNvPr id="26" name="Titre Embeddings · sens 3"/>
          <p:cNvSpPr txBox="1"/>
          <p:nvPr/>
        </p:nvSpPr>
        <p:spPr>
          <a:xfrm>
            <a:off x="6473952" y="4846320"/>
            <a:ext cx="4206240" cy="777240"/>
          </a:xfrm>
          <a:prstGeom prst="rect">
            <a:avLst/>
          </a:prstGeom>
          <a:noFill/>
          <a:ln/>
        </p:spPr>
        <p:txBody>
          <a:bodyPr wrap="square" lIns="0" tIns="0" rIns="0" bIns="0" rtlCol="0" anchor="ctr"/>
          <a:lstStyle/>
          <a:p>
            <a:pPr marL="0" indent="0" algn="l">
              <a:buNone/>
            </a:pPr>
            <a:r>
              <a:rPr lang="en-US" sz="1400" b="1" dirty="0">
                <a:solidFill>
                  <a:schemeClr val="tx1"/>
                </a:solidFill>
              </a:rPr>
              <a:t>Dragonswood (Wilde Island Chronicles, #2)</a:t>
            </a:r>
            <a:endParaRPr lang="en-US" sz="1400" dirty="0"/>
          </a:p>
        </p:txBody>
      </p:sp>
      <p:sp>
        <p:nvSpPr>
          <p:cNvPr id="27" name="Score Embeddings · sens 3"/>
          <p:cNvSpPr txBox="1"/>
          <p:nvPr/>
        </p:nvSpPr>
        <p:spPr>
          <a:xfrm>
            <a:off x="10771632" y="4846320"/>
            <a:ext cx="685800" cy="777240"/>
          </a:xfrm>
          <a:prstGeom prst="rect">
            <a:avLst/>
          </a:prstGeom>
          <a:noFill/>
          <a:ln/>
        </p:spPr>
        <p:txBody>
          <a:bodyPr wrap="square" lIns="0" tIns="0" rIns="0" bIns="0" rtlCol="0" anchor="ctr"/>
          <a:lstStyle/>
          <a:p>
            <a:pPr marL="0" indent="0" algn="r">
              <a:buNone/>
            </a:pPr>
            <a:r>
              <a:rPr lang="en-US" sz="2200" b="1" dirty="0">
                <a:solidFill>
                  <a:schemeClr val="accent2"/>
                </a:solidFill>
              </a:rPr>
              <a:t>0,58</a:t>
            </a:r>
            <a:endParaRPr lang="en-US" sz="2200" dirty="0"/>
          </a:p>
        </p:txBody>
      </p:sp>
      <p:sp>
        <p:nvSpPr>
          <p:cNvPr id="28" name="Note bas"/>
          <p:cNvSpPr txBox="1"/>
          <p:nvPr/>
        </p:nvSpPr>
        <p:spPr>
          <a:xfrm>
            <a:off x="548640" y="5852160"/>
            <a:ext cx="11091672" cy="320040"/>
          </a:xfrm>
          <a:prstGeom prst="rect">
            <a:avLst/>
          </a:prstGeom>
          <a:noFill/>
          <a:ln/>
        </p:spPr>
        <p:txBody>
          <a:bodyPr wrap="square" lIns="0" tIns="0" rIns="0" bIns="0" rtlCol="0" anchor="t"/>
          <a:lstStyle/>
          <a:p>
            <a:pPr marL="0" indent="0" algn="l">
              <a:buNone/>
            </a:pPr>
            <a:r>
              <a:rPr lang="en-US" sz="1200" dirty="0">
                <a:solidFill>
                  <a:schemeClr val="accent6"/>
                </a:solidFill>
              </a:rPr>
              <a:t>Les doublons de titres sont retirés. Les scores des deux méthodes n’ont pas la même échelle.</a:t>
            </a:r>
            <a:endParaRPr lang="en-US" sz="1200" dirty="0"/>
          </a:p>
        </p:txBody>
      </p:sp>
      <p:sp>
        <p:nvSpPr>
          <p:cNvPr id="29" name="Slide Number Placeholder 0"/>
          <p:cNvSpPr>
            <a:spLocks noGrp="1"/>
          </p:cNvSpPr>
          <p:nvPr>
            <p:ph type="sldNum" sz="quarter" idx="4294967295"/>
          </p:nvPr>
        </p:nvSpPr>
        <p:spPr>
          <a:xfrm>
            <a:off x="11137392"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400" b="1" dirty="0">
                <a:solidFill>
                  <a:schemeClr val="tx1"/>
                </a:solidFill>
              </a:rPr>
              <a:t>Mesurer la ressemblance entre livres</a:t>
            </a:r>
            <a:endParaRPr lang="en-US" sz="3400" dirty="0"/>
          </a:p>
        </p:txBody>
      </p:sp>
      <p:pic>
        <p:nvPicPr>
          <p:cNvPr id="3" name="Matrice TF-IDF" descr="Matrice de similarité cosinus TF-IDF sur 12 livres"/>
          <p:cNvPicPr>
            <a:picLocks noChangeAspect="1"/>
          </p:cNvPicPr>
          <p:nvPr/>
        </p:nvPicPr>
        <p:blipFill>
          <a:blip r:embed="rId3"/>
          <a:stretch>
            <a:fillRect/>
          </a:stretch>
        </p:blipFill>
        <p:spPr>
          <a:xfrm>
            <a:off x="1344168" y="1371600"/>
            <a:ext cx="4296620" cy="3931920"/>
          </a:xfrm>
          <a:prstGeom prst="rect">
            <a:avLst/>
          </a:prstGeom>
        </p:spPr>
      </p:pic>
      <p:pic>
        <p:nvPicPr>
          <p:cNvPr id="4" name="Matrice embeddings" descr="Matrice de similarité cosinus des embeddings sur 12 livres"/>
          <p:cNvPicPr>
            <a:picLocks noChangeAspect="1"/>
          </p:cNvPicPr>
          <p:nvPr/>
        </p:nvPicPr>
        <p:blipFill>
          <a:blip r:embed="rId4"/>
          <a:stretch>
            <a:fillRect/>
          </a:stretch>
        </p:blipFill>
        <p:spPr>
          <a:xfrm>
            <a:off x="6556248" y="1371600"/>
            <a:ext cx="4296620" cy="3931920"/>
          </a:xfrm>
          <a:prstGeom prst="rect">
            <a:avLst/>
          </a:prstGeom>
        </p:spPr>
      </p:pic>
      <p:sp>
        <p:nvSpPr>
          <p:cNvPr id="5" name="Légende TF-IDF"/>
          <p:cNvSpPr txBox="1"/>
          <p:nvPr/>
        </p:nvSpPr>
        <p:spPr>
          <a:xfrm>
            <a:off x="1344168" y="5440680"/>
            <a:ext cx="4296620" cy="594360"/>
          </a:xfrm>
          <a:prstGeom prst="rect">
            <a:avLst/>
          </a:prstGeom>
          <a:noFill/>
          <a:ln/>
        </p:spPr>
        <p:txBody>
          <a:bodyPr wrap="square" lIns="0" tIns="0" rIns="0" bIns="0" rtlCol="0" anchor="t"/>
          <a:lstStyle/>
          <a:p>
            <a:pPr marL="0" indent="0" algn="ctr">
              <a:buNone/>
            </a:pPr>
            <a:r>
              <a:rPr lang="en-US" sz="1400" b="1" dirty="0">
                <a:solidFill>
                  <a:schemeClr val="accent4"/>
                </a:solidFill>
              </a:rPr>
              <a:t>TF-IDF : presque aucune ressemblance entre deux livres différents</a:t>
            </a:r>
            <a:endParaRPr lang="en-US" sz="1400" dirty="0"/>
          </a:p>
        </p:txBody>
      </p:sp>
      <p:sp>
        <p:nvSpPr>
          <p:cNvPr id="6" name="Légende embeddings"/>
          <p:cNvSpPr txBox="1"/>
          <p:nvPr/>
        </p:nvSpPr>
        <p:spPr>
          <a:xfrm>
            <a:off x="6556248" y="5440680"/>
            <a:ext cx="4296620" cy="594360"/>
          </a:xfrm>
          <a:prstGeom prst="rect">
            <a:avLst/>
          </a:prstGeom>
          <a:noFill/>
          <a:ln/>
        </p:spPr>
        <p:txBody>
          <a:bodyPr wrap="square" lIns="0" tIns="0" rIns="0" bIns="0" rtlCol="0" anchor="t"/>
          <a:lstStyle/>
          <a:p>
            <a:pPr marL="0" indent="0" algn="ctr">
              <a:buNone/>
            </a:pPr>
            <a:r>
              <a:rPr lang="en-US" sz="1400" b="1" dirty="0">
                <a:solidFill>
                  <a:schemeClr val="accent2"/>
                </a:solidFill>
              </a:rPr>
              <a:t>Embeddings : plus de nuances, beaucoup de livres se ressemblent un peu</a:t>
            </a:r>
            <a:endParaRPr lang="en-US" sz="1400" dirty="0"/>
          </a:p>
        </p:txBody>
      </p:sp>
      <p:sp>
        <p:nvSpPr>
          <p:cNvPr id="7" name="Note matrices"/>
          <p:cNvSpPr txBox="1"/>
          <p:nvPr/>
        </p:nvSpPr>
        <p:spPr>
          <a:xfrm>
            <a:off x="548640" y="6080760"/>
            <a:ext cx="11091672" cy="274320"/>
          </a:xfrm>
          <a:prstGeom prst="rect">
            <a:avLst/>
          </a:prstGeom>
          <a:noFill/>
          <a:ln/>
        </p:spPr>
        <p:txBody>
          <a:bodyPr wrap="square" lIns="0" tIns="0" rIns="0" bIns="0" rtlCol="0" anchor="t"/>
          <a:lstStyle/>
          <a:p>
            <a:pPr marL="0" indent="0" algn="ctr">
              <a:buNone/>
            </a:pPr>
            <a:r>
              <a:rPr lang="en-US" sz="1200" dirty="0">
                <a:solidFill>
                  <a:schemeClr val="accent6"/>
                </a:solidFill>
              </a:rPr>
              <a:t>12 livres du corpus · jaune = très proche · violet = très différent</a:t>
            </a:r>
            <a:endParaRPr lang="en-US" sz="1200" dirty="0"/>
          </a:p>
        </p:txBody>
      </p:sp>
      <p:sp>
        <p:nvSpPr>
          <p:cNvPr id="25" name="Slide Number Placeholder 0"/>
          <p:cNvSpPr>
            <a:spLocks noGrp="1"/>
          </p:cNvSpPr>
          <p:nvPr>
            <p:ph type="sldNum" sz="quarter" idx="4294967295"/>
          </p:nvPr>
        </p:nvSpPr>
        <p:spPr>
          <a:xfrm>
            <a:off x="11137392"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400" b="1" dirty="0">
                <a:solidFill>
                  <a:schemeClr val="tx1"/>
                </a:solidFill>
              </a:rPr>
              <a:t>Résultats : les embeddings gagnent</a:t>
            </a:r>
            <a:endParaRPr lang="en-US" sz="3400" dirty="0"/>
          </a:p>
        </p:txBody>
      </p:sp>
      <p:graphicFrame>
        <p:nvGraphicFramePr>
          <p:cNvPr id="3" name="Graphique évaluation"/>
          <p:cNvGraphicFramePr/>
          <p:nvPr/>
        </p:nvGraphicFramePr>
        <p:xfrm>
          <a:off x="548640" y="1417320"/>
          <a:ext cx="676656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4" name="Carte Precision@10"/>
          <p:cNvSpPr/>
          <p:nvPr/>
        </p:nvSpPr>
        <p:spPr>
          <a:xfrm>
            <a:off x="7680960" y="1417320"/>
            <a:ext cx="3959352" cy="1417320"/>
          </a:xfrm>
          <a:prstGeom prst="roundRect">
            <a:avLst>
              <a:gd name="adj" fmla="val 9677"/>
            </a:avLst>
          </a:prstGeom>
          <a:solidFill>
            <a:schemeClr val="bg2"/>
          </a:solidFill>
          <a:ln w="12700">
            <a:solidFill>
              <a:schemeClr val="bg2"/>
            </a:solidFill>
            <a:prstDash val="solid"/>
          </a:ln>
        </p:spPr>
      </p:sp>
      <p:sp>
        <p:nvSpPr>
          <p:cNvPr id="5" name="Titre Precision@10"/>
          <p:cNvSpPr txBox="1"/>
          <p:nvPr/>
        </p:nvSpPr>
        <p:spPr>
          <a:xfrm>
            <a:off x="7909560" y="1554480"/>
            <a:ext cx="3520440" cy="365760"/>
          </a:xfrm>
          <a:prstGeom prst="rect">
            <a:avLst/>
          </a:prstGeom>
          <a:noFill/>
          <a:ln/>
        </p:spPr>
        <p:txBody>
          <a:bodyPr wrap="square" lIns="0" tIns="0" rIns="0" bIns="0" rtlCol="0" anchor="t"/>
          <a:lstStyle/>
          <a:p>
            <a:pPr marL="0" indent="0" algn="l">
              <a:buNone/>
            </a:pPr>
            <a:r>
              <a:rPr lang="en-US" sz="1800" b="1" dirty="0">
                <a:solidFill>
                  <a:schemeClr val="accent4"/>
                </a:solidFill>
              </a:rPr>
              <a:t>Precision@10</a:t>
            </a:r>
            <a:endParaRPr lang="en-US" sz="1800" dirty="0"/>
          </a:p>
        </p:txBody>
      </p:sp>
      <p:sp>
        <p:nvSpPr>
          <p:cNvPr id="6" name="Texte Precision@10"/>
          <p:cNvSpPr txBox="1"/>
          <p:nvPr/>
        </p:nvSpPr>
        <p:spPr>
          <a:xfrm>
            <a:off x="7909560" y="1965960"/>
            <a:ext cx="3520440" cy="822960"/>
          </a:xfrm>
          <a:prstGeom prst="rect">
            <a:avLst/>
          </a:prstGeom>
          <a:noFill/>
          <a:ln/>
        </p:spPr>
        <p:txBody>
          <a:bodyPr wrap="square" lIns="0" tIns="0" rIns="0" bIns="0" rtlCol="0" anchor="t"/>
          <a:lstStyle/>
          <a:p>
            <a:pPr marL="0" indent="0" algn="l">
              <a:buNone/>
            </a:pPr>
            <a:r>
              <a:rPr lang="en-US" sz="1400" dirty="0">
                <a:solidFill>
                  <a:schemeClr val="tx1"/>
                </a:solidFill>
              </a:rPr>
              <a:t>Sur 10 résultats, combien sont bons ?</a:t>
            </a:r>
            <a:endParaRPr lang="en-US" sz="1400" dirty="0"/>
          </a:p>
        </p:txBody>
      </p:sp>
      <p:sp>
        <p:nvSpPr>
          <p:cNvPr id="7" name="Carte Recall@10"/>
          <p:cNvSpPr/>
          <p:nvPr/>
        </p:nvSpPr>
        <p:spPr>
          <a:xfrm>
            <a:off x="7680960" y="3035808"/>
            <a:ext cx="3959352" cy="1417320"/>
          </a:xfrm>
          <a:prstGeom prst="roundRect">
            <a:avLst>
              <a:gd name="adj" fmla="val 9677"/>
            </a:avLst>
          </a:prstGeom>
          <a:solidFill>
            <a:schemeClr val="bg2"/>
          </a:solidFill>
          <a:ln w="12700">
            <a:solidFill>
              <a:schemeClr val="bg2"/>
            </a:solidFill>
            <a:prstDash val="solid"/>
          </a:ln>
        </p:spPr>
      </p:sp>
      <p:sp>
        <p:nvSpPr>
          <p:cNvPr id="8" name="Titre Recall@10"/>
          <p:cNvSpPr txBox="1"/>
          <p:nvPr/>
        </p:nvSpPr>
        <p:spPr>
          <a:xfrm>
            <a:off x="7909560" y="3172968"/>
            <a:ext cx="3520440" cy="365760"/>
          </a:xfrm>
          <a:prstGeom prst="rect">
            <a:avLst/>
          </a:prstGeom>
          <a:noFill/>
          <a:ln/>
        </p:spPr>
        <p:txBody>
          <a:bodyPr wrap="square" lIns="0" tIns="0" rIns="0" bIns="0" rtlCol="0" anchor="t"/>
          <a:lstStyle/>
          <a:p>
            <a:pPr marL="0" indent="0" algn="l">
              <a:buNone/>
            </a:pPr>
            <a:r>
              <a:rPr lang="en-US" sz="1800" b="1" dirty="0">
                <a:solidFill>
                  <a:schemeClr val="accent4"/>
                </a:solidFill>
              </a:rPr>
              <a:t>Recall@10</a:t>
            </a:r>
            <a:endParaRPr lang="en-US" sz="1800" dirty="0"/>
          </a:p>
        </p:txBody>
      </p:sp>
      <p:sp>
        <p:nvSpPr>
          <p:cNvPr id="9" name="Texte Recall@10"/>
          <p:cNvSpPr txBox="1"/>
          <p:nvPr/>
        </p:nvSpPr>
        <p:spPr>
          <a:xfrm>
            <a:off x="7909560" y="3584448"/>
            <a:ext cx="3520440" cy="822960"/>
          </a:xfrm>
          <a:prstGeom prst="rect">
            <a:avLst/>
          </a:prstGeom>
          <a:noFill/>
          <a:ln/>
        </p:spPr>
        <p:txBody>
          <a:bodyPr wrap="square" lIns="0" tIns="0" rIns="0" bIns="0" rtlCol="0" anchor="t"/>
          <a:lstStyle/>
          <a:p>
            <a:pPr marL="0" indent="0" algn="l">
              <a:buNone/>
            </a:pPr>
            <a:r>
              <a:rPr lang="en-US" sz="1400" dirty="0">
                <a:solidFill>
                  <a:schemeClr val="tx1"/>
                </a:solidFill>
              </a:rPr>
              <a:t>Parmi tous les bons livres, combien on en trouve ?</a:t>
            </a:r>
            <a:endParaRPr lang="en-US" sz="1400" dirty="0"/>
          </a:p>
        </p:txBody>
      </p:sp>
      <p:sp>
        <p:nvSpPr>
          <p:cNvPr id="10" name="Carte MAP@10"/>
          <p:cNvSpPr/>
          <p:nvPr/>
        </p:nvSpPr>
        <p:spPr>
          <a:xfrm>
            <a:off x="7680960" y="4654296"/>
            <a:ext cx="3959352" cy="1417320"/>
          </a:xfrm>
          <a:prstGeom prst="roundRect">
            <a:avLst>
              <a:gd name="adj" fmla="val 9677"/>
            </a:avLst>
          </a:prstGeom>
          <a:solidFill>
            <a:schemeClr val="bg2"/>
          </a:solidFill>
          <a:ln w="12700">
            <a:solidFill>
              <a:schemeClr val="bg2"/>
            </a:solidFill>
            <a:prstDash val="solid"/>
          </a:ln>
        </p:spPr>
      </p:sp>
      <p:sp>
        <p:nvSpPr>
          <p:cNvPr id="11" name="Titre MAP@10"/>
          <p:cNvSpPr txBox="1"/>
          <p:nvPr/>
        </p:nvSpPr>
        <p:spPr>
          <a:xfrm>
            <a:off x="7909560" y="4791456"/>
            <a:ext cx="3520440" cy="365760"/>
          </a:xfrm>
          <a:prstGeom prst="rect">
            <a:avLst/>
          </a:prstGeom>
          <a:noFill/>
          <a:ln/>
        </p:spPr>
        <p:txBody>
          <a:bodyPr wrap="square" lIns="0" tIns="0" rIns="0" bIns="0" rtlCol="0" anchor="t"/>
          <a:lstStyle/>
          <a:p>
            <a:pPr marL="0" indent="0" algn="l">
              <a:buNone/>
            </a:pPr>
            <a:r>
              <a:rPr lang="en-US" sz="1800" b="1" dirty="0">
                <a:solidFill>
                  <a:schemeClr val="accent4"/>
                </a:solidFill>
              </a:rPr>
              <a:t>MAP@10</a:t>
            </a:r>
            <a:endParaRPr lang="en-US" sz="1800" dirty="0"/>
          </a:p>
        </p:txBody>
      </p:sp>
      <p:sp>
        <p:nvSpPr>
          <p:cNvPr id="12" name="Texte MAP@10"/>
          <p:cNvSpPr txBox="1"/>
          <p:nvPr/>
        </p:nvSpPr>
        <p:spPr>
          <a:xfrm>
            <a:off x="7909560" y="5202936"/>
            <a:ext cx="3520440" cy="822960"/>
          </a:xfrm>
          <a:prstGeom prst="rect">
            <a:avLst/>
          </a:prstGeom>
          <a:noFill/>
          <a:ln/>
        </p:spPr>
        <p:txBody>
          <a:bodyPr wrap="square" lIns="0" tIns="0" rIns="0" bIns="0" rtlCol="0" anchor="t"/>
          <a:lstStyle/>
          <a:p>
            <a:pPr marL="0" indent="0" algn="l">
              <a:buNone/>
            </a:pPr>
            <a:r>
              <a:rPr lang="en-US" sz="1400" dirty="0">
                <a:solidFill>
                  <a:schemeClr val="tx1"/>
                </a:solidFill>
              </a:rPr>
              <a:t>Comme la précision, mais l’ordre compte : un bon livre en haut vaut plus.</a:t>
            </a:r>
            <a:endParaRPr lang="en-US" sz="1400" dirty="0"/>
          </a:p>
        </p:txBody>
      </p:sp>
      <p:sp>
        <p:nvSpPr>
          <p:cNvPr id="25" name="Slide Number Placeholder 0"/>
          <p:cNvSpPr>
            <a:spLocks noGrp="1"/>
          </p:cNvSpPr>
          <p:nvPr>
            <p:ph type="sldNum" sz="quarter" idx="4294967295"/>
          </p:nvPr>
        </p:nvSpPr>
        <p:spPr>
          <a:xfrm>
            <a:off x="11137392"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400" b="1" dirty="0">
                <a:solidFill>
                  <a:schemeClr val="tx1"/>
                </a:solidFill>
              </a:rPr>
              <a:t>L’application Streamlit</a:t>
            </a:r>
            <a:endParaRPr lang="en-US" sz="3400" dirty="0"/>
          </a:p>
        </p:txBody>
      </p:sp>
      <p:sp>
        <p:nvSpPr>
          <p:cNvPr id="3" name="Cadre capture"/>
          <p:cNvSpPr/>
          <p:nvPr/>
        </p:nvSpPr>
        <p:spPr>
          <a:xfrm>
            <a:off x="548640" y="1417320"/>
            <a:ext cx="6675120" cy="3931920"/>
          </a:xfrm>
          <a:prstGeom prst="roundRect">
            <a:avLst>
              <a:gd name="adj" fmla="val 3488"/>
            </a:avLst>
          </a:prstGeom>
          <a:solidFill>
            <a:schemeClr val="bg1"/>
          </a:solidFill>
          <a:ln w="19050">
            <a:solidFill>
              <a:schemeClr val="accent6"/>
            </a:solidFill>
            <a:prstDash val="dash"/>
          </a:ln>
        </p:spPr>
      </p:sp>
      <p:pic>
        <p:nvPicPr>
          <p:cNvPr id="4" name="Icône écran" descr="Écran"/>
          <p:cNvPicPr>
            <a:picLocks noChangeAspect="1"/>
          </p:cNvPicPr>
          <p:nvPr/>
        </p:nvPicPr>
        <p:blipFill>
          <a:blip r:embed="rId3"/>
          <a:stretch>
            <a:fillRect/>
          </a:stretch>
        </p:blipFill>
        <p:spPr>
          <a:xfrm>
            <a:off x="3214688" y="2785833"/>
            <a:ext cx="1128712" cy="1128712"/>
          </a:xfrm>
          <a:prstGeom prst="rect">
            <a:avLst/>
          </a:prstGeom>
        </p:spPr>
      </p:pic>
      <p:sp>
        <p:nvSpPr>
          <p:cNvPr id="6" name="Carte fonction 1"/>
          <p:cNvSpPr/>
          <p:nvPr/>
        </p:nvSpPr>
        <p:spPr>
          <a:xfrm>
            <a:off x="7589520" y="1417320"/>
            <a:ext cx="4050792" cy="914400"/>
          </a:xfrm>
          <a:prstGeom prst="roundRect">
            <a:avLst>
              <a:gd name="adj" fmla="val 15000"/>
            </a:avLst>
          </a:prstGeom>
          <a:solidFill>
            <a:schemeClr val="bg2"/>
          </a:solidFill>
          <a:ln w="12700">
            <a:solidFill>
              <a:schemeClr val="bg2"/>
            </a:solidFill>
            <a:prstDash val="solid"/>
          </a:ln>
        </p:spPr>
      </p:sp>
      <p:sp>
        <p:nvSpPr>
          <p:cNvPr id="7" name="Icône fonction 1 cercle"/>
          <p:cNvSpPr/>
          <p:nvPr/>
        </p:nvSpPr>
        <p:spPr>
          <a:xfrm>
            <a:off x="7772400" y="1600200"/>
            <a:ext cx="548640" cy="548640"/>
          </a:xfrm>
          <a:prstGeom prst="ellipse">
            <a:avLst/>
          </a:prstGeom>
          <a:solidFill>
            <a:schemeClr val="accent4"/>
          </a:solidFill>
          <a:ln w="12700">
            <a:solidFill>
              <a:schemeClr val="accent4"/>
            </a:solidFill>
            <a:prstDash val="solid"/>
          </a:ln>
        </p:spPr>
      </p:sp>
      <p:pic>
        <p:nvPicPr>
          <p:cNvPr id="8" name="Icône fonction 1" descr="Icône fonction 1"/>
          <p:cNvPicPr>
            <a:picLocks noChangeAspect="1"/>
          </p:cNvPicPr>
          <p:nvPr/>
        </p:nvPicPr>
        <p:blipFill>
          <a:blip r:embed="rId4"/>
          <a:stretch>
            <a:fillRect/>
          </a:stretch>
        </p:blipFill>
        <p:spPr>
          <a:xfrm>
            <a:off x="7915046" y="1742846"/>
            <a:ext cx="263347" cy="263347"/>
          </a:xfrm>
          <a:prstGeom prst="rect">
            <a:avLst/>
          </a:prstGeom>
        </p:spPr>
      </p:pic>
      <p:sp>
        <p:nvSpPr>
          <p:cNvPr id="9" name="Texte fonction 1"/>
          <p:cNvSpPr txBox="1"/>
          <p:nvPr/>
        </p:nvSpPr>
        <p:spPr>
          <a:xfrm>
            <a:off x="8503920" y="1417320"/>
            <a:ext cx="3017520" cy="914400"/>
          </a:xfrm>
          <a:prstGeom prst="rect">
            <a:avLst/>
          </a:prstGeom>
          <a:noFill/>
          <a:ln/>
        </p:spPr>
        <p:txBody>
          <a:bodyPr wrap="square" lIns="0" tIns="0" rIns="0" bIns="0" rtlCol="0" anchor="ctr"/>
          <a:lstStyle/>
          <a:p>
            <a:pPr marL="0" indent="0" algn="l">
              <a:buNone/>
            </a:pPr>
            <a:r>
              <a:rPr lang="en-US" sz="1600" b="1" dirty="0">
                <a:solidFill>
                  <a:schemeClr val="tx1"/>
                </a:solidFill>
              </a:rPr>
              <a:t>Une zone pour écrire la recherche</a:t>
            </a:r>
            <a:endParaRPr lang="en-US" sz="1600" dirty="0"/>
          </a:p>
        </p:txBody>
      </p:sp>
      <p:sp>
        <p:nvSpPr>
          <p:cNvPr id="10" name="Carte fonction 2"/>
          <p:cNvSpPr/>
          <p:nvPr/>
        </p:nvSpPr>
        <p:spPr>
          <a:xfrm>
            <a:off x="7589520" y="2423160"/>
            <a:ext cx="4050792" cy="914400"/>
          </a:xfrm>
          <a:prstGeom prst="roundRect">
            <a:avLst>
              <a:gd name="adj" fmla="val 15000"/>
            </a:avLst>
          </a:prstGeom>
          <a:solidFill>
            <a:schemeClr val="bg2"/>
          </a:solidFill>
          <a:ln w="12700">
            <a:solidFill>
              <a:schemeClr val="bg2"/>
            </a:solidFill>
            <a:prstDash val="solid"/>
          </a:ln>
        </p:spPr>
      </p:sp>
      <p:sp>
        <p:nvSpPr>
          <p:cNvPr id="11" name="Icône fonction 2 cercle"/>
          <p:cNvSpPr/>
          <p:nvPr/>
        </p:nvSpPr>
        <p:spPr>
          <a:xfrm>
            <a:off x="7772400" y="2606040"/>
            <a:ext cx="548640" cy="548640"/>
          </a:xfrm>
          <a:prstGeom prst="ellipse">
            <a:avLst/>
          </a:prstGeom>
          <a:solidFill>
            <a:schemeClr val="accent4"/>
          </a:solidFill>
          <a:ln w="12700">
            <a:solidFill>
              <a:schemeClr val="accent4"/>
            </a:solidFill>
            <a:prstDash val="solid"/>
          </a:ln>
        </p:spPr>
      </p:sp>
      <p:pic>
        <p:nvPicPr>
          <p:cNvPr id="12" name="Icône fonction 2" descr="Icône fonction 2"/>
          <p:cNvPicPr>
            <a:picLocks noChangeAspect="1"/>
          </p:cNvPicPr>
          <p:nvPr/>
        </p:nvPicPr>
        <p:blipFill>
          <a:blip r:embed="rId5"/>
          <a:stretch>
            <a:fillRect/>
          </a:stretch>
        </p:blipFill>
        <p:spPr>
          <a:xfrm>
            <a:off x="7915046" y="2748686"/>
            <a:ext cx="263347" cy="263347"/>
          </a:xfrm>
          <a:prstGeom prst="rect">
            <a:avLst/>
          </a:prstGeom>
        </p:spPr>
      </p:pic>
      <p:sp>
        <p:nvSpPr>
          <p:cNvPr id="13" name="Texte fonction 2"/>
          <p:cNvSpPr txBox="1"/>
          <p:nvPr/>
        </p:nvSpPr>
        <p:spPr>
          <a:xfrm>
            <a:off x="8503920" y="2423160"/>
            <a:ext cx="3017520" cy="914400"/>
          </a:xfrm>
          <a:prstGeom prst="rect">
            <a:avLst/>
          </a:prstGeom>
          <a:noFill/>
          <a:ln/>
        </p:spPr>
        <p:txBody>
          <a:bodyPr wrap="square" lIns="0" tIns="0" rIns="0" bIns="0" rtlCol="0" anchor="ctr"/>
          <a:lstStyle/>
          <a:p>
            <a:pPr marL="0" indent="0" algn="l">
              <a:buNone/>
            </a:pPr>
            <a:r>
              <a:rPr lang="en-US" sz="1600" b="1" dirty="0">
                <a:solidFill>
                  <a:schemeClr val="tx1"/>
                </a:solidFill>
              </a:rPr>
              <a:t>Un choix : TF-IDF ou Embeddings</a:t>
            </a:r>
            <a:endParaRPr lang="en-US" sz="1600" dirty="0"/>
          </a:p>
        </p:txBody>
      </p:sp>
      <p:sp>
        <p:nvSpPr>
          <p:cNvPr id="14" name="Carte fonction 3"/>
          <p:cNvSpPr/>
          <p:nvPr/>
        </p:nvSpPr>
        <p:spPr>
          <a:xfrm>
            <a:off x="7589520" y="3429000"/>
            <a:ext cx="4050792" cy="914400"/>
          </a:xfrm>
          <a:prstGeom prst="roundRect">
            <a:avLst>
              <a:gd name="adj" fmla="val 15000"/>
            </a:avLst>
          </a:prstGeom>
          <a:solidFill>
            <a:schemeClr val="bg2"/>
          </a:solidFill>
          <a:ln w="12700">
            <a:solidFill>
              <a:schemeClr val="bg2"/>
            </a:solidFill>
            <a:prstDash val="solid"/>
          </a:ln>
        </p:spPr>
      </p:sp>
      <p:sp>
        <p:nvSpPr>
          <p:cNvPr id="15" name="Icône fonction 3 cercle"/>
          <p:cNvSpPr/>
          <p:nvPr/>
        </p:nvSpPr>
        <p:spPr>
          <a:xfrm>
            <a:off x="7772400" y="3611880"/>
            <a:ext cx="548640" cy="548640"/>
          </a:xfrm>
          <a:prstGeom prst="ellipse">
            <a:avLst/>
          </a:prstGeom>
          <a:solidFill>
            <a:schemeClr val="accent4"/>
          </a:solidFill>
          <a:ln w="12700">
            <a:solidFill>
              <a:schemeClr val="accent4"/>
            </a:solidFill>
            <a:prstDash val="solid"/>
          </a:ln>
        </p:spPr>
      </p:sp>
      <p:pic>
        <p:nvPicPr>
          <p:cNvPr id="16" name="Icône fonction 3" descr="Icône fonction 3"/>
          <p:cNvPicPr>
            <a:picLocks noChangeAspect="1"/>
          </p:cNvPicPr>
          <p:nvPr/>
        </p:nvPicPr>
        <p:blipFill>
          <a:blip r:embed="rId6"/>
          <a:stretch>
            <a:fillRect/>
          </a:stretch>
        </p:blipFill>
        <p:spPr>
          <a:xfrm>
            <a:off x="7915046" y="3754526"/>
            <a:ext cx="263347" cy="263347"/>
          </a:xfrm>
          <a:prstGeom prst="rect">
            <a:avLst/>
          </a:prstGeom>
        </p:spPr>
      </p:pic>
      <p:sp>
        <p:nvSpPr>
          <p:cNvPr id="17" name="Texte fonction 3"/>
          <p:cNvSpPr txBox="1"/>
          <p:nvPr/>
        </p:nvSpPr>
        <p:spPr>
          <a:xfrm>
            <a:off x="8503920" y="3429000"/>
            <a:ext cx="3017520" cy="914400"/>
          </a:xfrm>
          <a:prstGeom prst="rect">
            <a:avLst/>
          </a:prstGeom>
          <a:noFill/>
          <a:ln/>
        </p:spPr>
        <p:txBody>
          <a:bodyPr wrap="square" lIns="0" tIns="0" rIns="0" bIns="0" rtlCol="0" anchor="ctr"/>
          <a:lstStyle/>
          <a:p>
            <a:pPr marL="0" indent="0" algn="l">
              <a:buNone/>
            </a:pPr>
            <a:r>
              <a:rPr lang="en-US" sz="1600" b="1" dirty="0">
                <a:solidFill>
                  <a:schemeClr val="tx1"/>
                </a:solidFill>
              </a:rPr>
              <a:t>Un curseur : de 1 à 15 résultats</a:t>
            </a:r>
            <a:endParaRPr lang="en-US" sz="1600" dirty="0"/>
          </a:p>
        </p:txBody>
      </p:sp>
      <p:sp>
        <p:nvSpPr>
          <p:cNvPr id="18" name="Carte fonction 4"/>
          <p:cNvSpPr/>
          <p:nvPr/>
        </p:nvSpPr>
        <p:spPr>
          <a:xfrm>
            <a:off x="7589520" y="4434840"/>
            <a:ext cx="4050792" cy="914400"/>
          </a:xfrm>
          <a:prstGeom prst="roundRect">
            <a:avLst>
              <a:gd name="adj" fmla="val 15000"/>
            </a:avLst>
          </a:prstGeom>
          <a:solidFill>
            <a:schemeClr val="bg2"/>
          </a:solidFill>
          <a:ln w="12700">
            <a:solidFill>
              <a:schemeClr val="bg2"/>
            </a:solidFill>
            <a:prstDash val="solid"/>
          </a:ln>
        </p:spPr>
      </p:sp>
      <p:sp>
        <p:nvSpPr>
          <p:cNvPr id="19" name="Icône fonction 4 cercle"/>
          <p:cNvSpPr/>
          <p:nvPr/>
        </p:nvSpPr>
        <p:spPr>
          <a:xfrm>
            <a:off x="7772400" y="4617720"/>
            <a:ext cx="548640" cy="548640"/>
          </a:xfrm>
          <a:prstGeom prst="ellipse">
            <a:avLst/>
          </a:prstGeom>
          <a:solidFill>
            <a:schemeClr val="accent4"/>
          </a:solidFill>
          <a:ln w="12700">
            <a:solidFill>
              <a:schemeClr val="accent4"/>
            </a:solidFill>
            <a:prstDash val="solid"/>
          </a:ln>
        </p:spPr>
      </p:sp>
      <p:pic>
        <p:nvPicPr>
          <p:cNvPr id="20" name="Icône fonction 4" descr="Icône fonction 4"/>
          <p:cNvPicPr>
            <a:picLocks noChangeAspect="1"/>
          </p:cNvPicPr>
          <p:nvPr/>
        </p:nvPicPr>
        <p:blipFill>
          <a:blip r:embed="rId7"/>
          <a:stretch>
            <a:fillRect/>
          </a:stretch>
        </p:blipFill>
        <p:spPr>
          <a:xfrm>
            <a:off x="7915046" y="4760366"/>
            <a:ext cx="263347" cy="263347"/>
          </a:xfrm>
          <a:prstGeom prst="rect">
            <a:avLst/>
          </a:prstGeom>
        </p:spPr>
      </p:pic>
      <p:sp>
        <p:nvSpPr>
          <p:cNvPr id="21" name="Texte fonction 4"/>
          <p:cNvSpPr txBox="1"/>
          <p:nvPr/>
        </p:nvSpPr>
        <p:spPr>
          <a:xfrm>
            <a:off x="8503920" y="4434840"/>
            <a:ext cx="3017520" cy="914400"/>
          </a:xfrm>
          <a:prstGeom prst="rect">
            <a:avLst/>
          </a:prstGeom>
          <a:noFill/>
          <a:ln/>
        </p:spPr>
        <p:txBody>
          <a:bodyPr wrap="square" lIns="0" tIns="0" rIns="0" bIns="0" rtlCol="0" anchor="ctr"/>
          <a:lstStyle/>
          <a:p>
            <a:pPr marL="0" indent="0" algn="l">
              <a:buNone/>
            </a:pPr>
            <a:r>
              <a:rPr lang="en-US" sz="1600" b="1" dirty="0">
                <a:solidFill>
                  <a:schemeClr val="tx1"/>
                </a:solidFill>
              </a:rPr>
              <a:t>Un bouton « Rechercher »</a:t>
            </a:r>
            <a:endParaRPr lang="en-US" sz="1600" dirty="0"/>
          </a:p>
        </p:txBody>
      </p:sp>
      <p:sp>
        <p:nvSpPr>
          <p:cNvPr id="25" name="Slide Number Placeholder 0"/>
          <p:cNvSpPr>
            <a:spLocks noGrp="1"/>
          </p:cNvSpPr>
          <p:nvPr>
            <p:ph type="sldNum" sz="quarter" idx="4294967295"/>
          </p:nvPr>
        </p:nvSpPr>
        <p:spPr>
          <a:xfrm>
            <a:off x="11137392"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400" b="1" dirty="0">
                <a:solidFill>
                  <a:schemeClr val="tx1"/>
                </a:solidFill>
              </a:rPr>
              <a:t>Limites et améliorations</a:t>
            </a:r>
            <a:endParaRPr lang="en-US" sz="3400" dirty="0"/>
          </a:p>
        </p:txBody>
      </p:sp>
      <p:sp>
        <p:nvSpPr>
          <p:cNvPr id="3" name="Carte Limites"/>
          <p:cNvSpPr/>
          <p:nvPr/>
        </p:nvSpPr>
        <p:spPr>
          <a:xfrm>
            <a:off x="548640" y="1463040"/>
            <a:ext cx="5394960" cy="4617720"/>
          </a:xfrm>
          <a:prstGeom prst="roundRect">
            <a:avLst>
              <a:gd name="adj" fmla="val 2970"/>
            </a:avLst>
          </a:prstGeom>
          <a:solidFill>
            <a:schemeClr val="bg2"/>
          </a:solidFill>
          <a:ln w="12700">
            <a:solidFill>
              <a:schemeClr val="bg2"/>
            </a:solidFill>
            <a:prstDash val="solid"/>
          </a:ln>
        </p:spPr>
      </p:sp>
      <p:sp>
        <p:nvSpPr>
          <p:cNvPr id="4" name="Étiquette Limites"/>
          <p:cNvSpPr/>
          <p:nvPr/>
        </p:nvSpPr>
        <p:spPr>
          <a:xfrm>
            <a:off x="822960" y="1737360"/>
            <a:ext cx="2103120" cy="502920"/>
          </a:xfrm>
          <a:prstGeom prst="roundRect">
            <a:avLst>
              <a:gd name="adj" fmla="val 50000"/>
            </a:avLst>
          </a:prstGeom>
          <a:solidFill>
            <a:schemeClr val="accent3"/>
          </a:solidFill>
          <a:ln w="12700">
            <a:solidFill>
              <a:schemeClr val="accent3"/>
            </a:solidFill>
            <a:prstDash val="solid"/>
          </a:ln>
        </p:spPr>
      </p:sp>
      <p:sp>
        <p:nvSpPr>
          <p:cNvPr id="5" name="Étiquette Limites texte"/>
          <p:cNvSpPr txBox="1"/>
          <p:nvPr/>
        </p:nvSpPr>
        <p:spPr>
          <a:xfrm>
            <a:off x="822960" y="1737360"/>
            <a:ext cx="2103120" cy="502920"/>
          </a:xfrm>
          <a:prstGeom prst="rect">
            <a:avLst/>
          </a:prstGeom>
          <a:noFill/>
          <a:ln/>
        </p:spPr>
        <p:txBody>
          <a:bodyPr wrap="square" lIns="0" tIns="0" rIns="0" bIns="0" rtlCol="0" anchor="ctr"/>
          <a:lstStyle/>
          <a:p>
            <a:pPr marL="0" indent="0" algn="ctr">
              <a:buNone/>
            </a:pPr>
            <a:r>
              <a:rPr lang="en-US" sz="1600" b="1" dirty="0">
                <a:solidFill>
                  <a:schemeClr val="bg1"/>
                </a:solidFill>
              </a:rPr>
              <a:t>Limites</a:t>
            </a:r>
            <a:endParaRPr lang="en-US" sz="1600" dirty="0"/>
          </a:p>
        </p:txBody>
      </p:sp>
      <p:sp>
        <p:nvSpPr>
          <p:cNvPr id="6" name="Liste Limites"/>
          <p:cNvSpPr txBox="1"/>
          <p:nvPr/>
        </p:nvSpPr>
        <p:spPr>
          <a:xfrm>
            <a:off x="822960" y="2514600"/>
            <a:ext cx="4846320" cy="2257425"/>
          </a:xfrm>
          <a:prstGeom prst="rect">
            <a:avLst/>
          </a:prstGeom>
          <a:noFill/>
          <a:ln/>
        </p:spPr>
        <p:txBody>
          <a:bodyPr wrap="square" lIns="0" tIns="0" rIns="0" bIns="0" rtlCol="0" anchor="t"/>
          <a:lstStyle/>
          <a:p>
            <a:pPr marL="342900" indent="-342900">
              <a:spcAft>
                <a:spcPts val="1600"/>
              </a:spcAft>
              <a:buSzPct val="100000"/>
              <a:buChar char="•"/>
            </a:pPr>
            <a:r>
              <a:rPr lang="fr-FR" dirty="0"/>
              <a:t>Longueur de contexte des modèles (Troncature à 256/512 </a:t>
            </a:r>
            <a:r>
              <a:rPr lang="fr-FR" dirty="0" err="1"/>
              <a:t>tokens</a:t>
            </a:r>
            <a:r>
              <a:rPr lang="fr-FR" dirty="0"/>
              <a:t>)</a:t>
            </a:r>
          </a:p>
          <a:p>
            <a:pPr marL="342900" indent="-342900">
              <a:spcAft>
                <a:spcPts val="1600"/>
              </a:spcAft>
              <a:buSzPct val="100000"/>
              <a:buChar char="•"/>
            </a:pPr>
            <a:r>
              <a:rPr lang="fr-FR" dirty="0"/>
              <a:t>Modèle généraliste non spécialisé au domaine littéraire</a:t>
            </a:r>
          </a:p>
          <a:p>
            <a:pPr marL="342900" indent="-342900">
              <a:spcAft>
                <a:spcPts val="1600"/>
              </a:spcAft>
              <a:buSzPct val="100000"/>
              <a:buChar char="•"/>
            </a:pPr>
            <a:r>
              <a:rPr lang="fr-FR" dirty="0"/>
              <a:t>Complexité du produit scalaire dense à grande échelle (O(N))</a:t>
            </a:r>
          </a:p>
        </p:txBody>
      </p:sp>
      <p:sp>
        <p:nvSpPr>
          <p:cNvPr id="7" name="Carte Améliorations"/>
          <p:cNvSpPr/>
          <p:nvPr/>
        </p:nvSpPr>
        <p:spPr>
          <a:xfrm>
            <a:off x="6245352" y="1463040"/>
            <a:ext cx="5394960" cy="4617720"/>
          </a:xfrm>
          <a:prstGeom prst="roundRect">
            <a:avLst>
              <a:gd name="adj" fmla="val 2970"/>
            </a:avLst>
          </a:prstGeom>
          <a:solidFill>
            <a:schemeClr val="bg2"/>
          </a:solidFill>
          <a:ln w="12700">
            <a:solidFill>
              <a:schemeClr val="bg2"/>
            </a:solidFill>
            <a:prstDash val="solid"/>
          </a:ln>
        </p:spPr>
      </p:sp>
      <p:sp>
        <p:nvSpPr>
          <p:cNvPr id="8" name="Étiquette Améliorations"/>
          <p:cNvSpPr/>
          <p:nvPr/>
        </p:nvSpPr>
        <p:spPr>
          <a:xfrm>
            <a:off x="6519672" y="1737360"/>
            <a:ext cx="2103120" cy="502920"/>
          </a:xfrm>
          <a:prstGeom prst="roundRect">
            <a:avLst>
              <a:gd name="adj" fmla="val 50000"/>
            </a:avLst>
          </a:prstGeom>
          <a:solidFill>
            <a:schemeClr val="accent2"/>
          </a:solidFill>
          <a:ln w="12700">
            <a:solidFill>
              <a:schemeClr val="accent2"/>
            </a:solidFill>
            <a:prstDash val="solid"/>
          </a:ln>
        </p:spPr>
      </p:sp>
      <p:sp>
        <p:nvSpPr>
          <p:cNvPr id="9" name="Étiquette Améliorations texte"/>
          <p:cNvSpPr txBox="1"/>
          <p:nvPr/>
        </p:nvSpPr>
        <p:spPr>
          <a:xfrm>
            <a:off x="6519672" y="1737360"/>
            <a:ext cx="2103120" cy="502920"/>
          </a:xfrm>
          <a:prstGeom prst="rect">
            <a:avLst/>
          </a:prstGeom>
          <a:noFill/>
          <a:ln/>
        </p:spPr>
        <p:txBody>
          <a:bodyPr wrap="square" lIns="0" tIns="0" rIns="0" bIns="0" rtlCol="0" anchor="ctr"/>
          <a:lstStyle/>
          <a:p>
            <a:pPr marL="0" indent="0" algn="ctr">
              <a:buNone/>
            </a:pPr>
            <a:r>
              <a:rPr lang="en-US" sz="1600" b="1" dirty="0">
                <a:solidFill>
                  <a:schemeClr val="bg1"/>
                </a:solidFill>
              </a:rPr>
              <a:t>Améliorations</a:t>
            </a:r>
            <a:endParaRPr lang="en-US" sz="1600" dirty="0"/>
          </a:p>
        </p:txBody>
      </p:sp>
      <p:sp>
        <p:nvSpPr>
          <p:cNvPr id="10" name="Liste Améliorations"/>
          <p:cNvSpPr txBox="1"/>
          <p:nvPr/>
        </p:nvSpPr>
        <p:spPr>
          <a:xfrm>
            <a:off x="6519672" y="2514600"/>
            <a:ext cx="4846320" cy="2628900"/>
          </a:xfrm>
          <a:prstGeom prst="rect">
            <a:avLst/>
          </a:prstGeom>
          <a:noFill/>
          <a:ln/>
        </p:spPr>
        <p:txBody>
          <a:bodyPr wrap="square" lIns="0" tIns="0" rIns="0" bIns="0" rtlCol="0" anchor="t"/>
          <a:lstStyle/>
          <a:p>
            <a:pPr marL="342900" indent="-342900">
              <a:spcAft>
                <a:spcPts val="1600"/>
              </a:spcAft>
              <a:buSzPct val="100000"/>
              <a:buChar char="•"/>
            </a:pPr>
            <a:r>
              <a:rPr lang="fr-FR" dirty="0"/>
              <a:t>Recherche Hybride avec fusion de rangs (</a:t>
            </a:r>
            <a:r>
              <a:rPr lang="fr-FR" dirty="0" err="1"/>
              <a:t>Hybrid</a:t>
            </a:r>
            <a:r>
              <a:rPr lang="fr-FR" dirty="0"/>
              <a:t> </a:t>
            </a:r>
            <a:r>
              <a:rPr lang="fr-FR" dirty="0" err="1"/>
              <a:t>Search</a:t>
            </a:r>
            <a:r>
              <a:rPr lang="fr-FR" dirty="0"/>
              <a:t> &amp; RRF)</a:t>
            </a:r>
          </a:p>
          <a:p>
            <a:pPr marL="342900" indent="-342900">
              <a:spcAft>
                <a:spcPts val="1600"/>
              </a:spcAft>
              <a:buSzPct val="100000"/>
              <a:buChar char="•"/>
            </a:pPr>
            <a:r>
              <a:rPr lang="fr-FR" dirty="0"/>
              <a:t>Indexation vectorielle scalable (FAISS / HNSW)</a:t>
            </a:r>
          </a:p>
          <a:p>
            <a:pPr marL="342900" indent="-342900">
              <a:spcAft>
                <a:spcPts val="1600"/>
              </a:spcAft>
              <a:buSzPct val="100000"/>
              <a:buChar char="•"/>
            </a:pPr>
            <a:r>
              <a:rPr lang="fr-FR" dirty="0"/>
              <a:t>Réordonnancement par Cross-Encoder (Re-</a:t>
            </a:r>
            <a:r>
              <a:rPr lang="fr-FR" dirty="0" err="1"/>
              <a:t>ranking</a:t>
            </a:r>
            <a:r>
              <a:rPr lang="fr-FR" dirty="0"/>
              <a:t>)</a:t>
            </a:r>
          </a:p>
          <a:p>
            <a:pPr marL="342900" indent="-342900">
              <a:spcAft>
                <a:spcPts val="1600"/>
              </a:spcAft>
              <a:buSzPct val="100000"/>
              <a:buChar char="•"/>
            </a:pPr>
            <a:r>
              <a:rPr lang="fr-FR" dirty="0"/>
              <a:t>Recherche </a:t>
            </a:r>
            <a:r>
              <a:rPr lang="fr-FR" dirty="0" err="1"/>
              <a:t>multi-critères</a:t>
            </a:r>
            <a:r>
              <a:rPr lang="fr-FR" dirty="0"/>
              <a:t> avec filtres de métadonnées</a:t>
            </a:r>
            <a:endParaRPr lang="en-US" sz="1800" dirty="0"/>
          </a:p>
        </p:txBody>
      </p:sp>
      <p:sp>
        <p:nvSpPr>
          <p:cNvPr id="25" name="Slide Number Placeholder 0"/>
          <p:cNvSpPr>
            <a:spLocks noGrp="1"/>
          </p:cNvSpPr>
          <p:nvPr>
            <p:ph type="sldNum" sz="quarter" idx="4294967295"/>
          </p:nvPr>
        </p:nvSpPr>
        <p:spPr>
          <a:xfrm>
            <a:off x="11137392"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400" b="1" dirty="0">
                <a:solidFill>
                  <a:schemeClr val="bg1"/>
                </a:solidFill>
              </a:rPr>
              <a:t>Conclusion</a:t>
            </a:r>
            <a:endParaRPr lang="en-US" sz="3400" dirty="0"/>
          </a:p>
        </p:txBody>
      </p:sp>
      <p:sp>
        <p:nvSpPr>
          <p:cNvPr id="3" name="Carte TF-IDF : rapide"/>
          <p:cNvSpPr/>
          <p:nvPr/>
        </p:nvSpPr>
        <p:spPr>
          <a:xfrm>
            <a:off x="548640" y="1508760"/>
            <a:ext cx="3520440" cy="2926080"/>
          </a:xfrm>
          <a:prstGeom prst="roundRect">
            <a:avLst>
              <a:gd name="adj" fmla="val 4688"/>
            </a:avLst>
          </a:prstGeom>
          <a:solidFill>
            <a:schemeClr val="tx2"/>
          </a:solidFill>
          <a:ln w="12700">
            <a:solidFill>
              <a:schemeClr val="tx2"/>
            </a:solidFill>
            <a:prstDash val="solid"/>
          </a:ln>
        </p:spPr>
      </p:sp>
      <p:sp>
        <p:nvSpPr>
          <p:cNvPr id="4" name="Cercle TF-IDF : rapide"/>
          <p:cNvSpPr/>
          <p:nvPr/>
        </p:nvSpPr>
        <p:spPr>
          <a:xfrm>
            <a:off x="822960" y="1783080"/>
            <a:ext cx="822960" cy="822960"/>
          </a:xfrm>
          <a:prstGeom prst="ellipse">
            <a:avLst/>
          </a:prstGeom>
          <a:solidFill>
            <a:schemeClr val="accent1"/>
          </a:solidFill>
          <a:ln w="12700">
            <a:solidFill>
              <a:schemeClr val="accent1"/>
            </a:solidFill>
            <a:prstDash val="solid"/>
          </a:ln>
        </p:spPr>
      </p:sp>
      <p:pic>
        <p:nvPicPr>
          <p:cNvPr id="5" name="Icône TF-IDF : rapide" descr="Icône TF-IDF : rapide"/>
          <p:cNvPicPr>
            <a:picLocks noChangeAspect="1"/>
          </p:cNvPicPr>
          <p:nvPr/>
        </p:nvPicPr>
        <p:blipFill>
          <a:blip r:embed="rId3"/>
          <a:stretch>
            <a:fillRect/>
          </a:stretch>
        </p:blipFill>
        <p:spPr>
          <a:xfrm>
            <a:off x="1042416" y="2002536"/>
            <a:ext cx="384048" cy="384048"/>
          </a:xfrm>
          <a:prstGeom prst="rect">
            <a:avLst/>
          </a:prstGeom>
        </p:spPr>
      </p:pic>
      <p:sp>
        <p:nvSpPr>
          <p:cNvPr id="6" name="Titre TF-IDF : rapide"/>
          <p:cNvSpPr txBox="1"/>
          <p:nvPr/>
        </p:nvSpPr>
        <p:spPr>
          <a:xfrm>
            <a:off x="822960" y="2788920"/>
            <a:ext cx="3017520" cy="411480"/>
          </a:xfrm>
          <a:prstGeom prst="rect">
            <a:avLst/>
          </a:prstGeom>
          <a:noFill/>
          <a:ln/>
        </p:spPr>
        <p:txBody>
          <a:bodyPr wrap="square" lIns="0" tIns="0" rIns="0" bIns="0" rtlCol="0" anchor="t"/>
          <a:lstStyle/>
          <a:p>
            <a:pPr marL="0" indent="0" algn="l">
              <a:buNone/>
            </a:pPr>
            <a:r>
              <a:rPr lang="en-US" sz="2000" b="1" dirty="0">
                <a:solidFill>
                  <a:schemeClr val="bg1"/>
                </a:solidFill>
              </a:rPr>
              <a:t>TF-IDF : rapide</a:t>
            </a:r>
            <a:endParaRPr lang="en-US" sz="2000" dirty="0"/>
          </a:p>
        </p:txBody>
      </p:sp>
      <p:sp>
        <p:nvSpPr>
          <p:cNvPr id="7" name="Texte TF-IDF : rapide"/>
          <p:cNvSpPr txBox="1"/>
          <p:nvPr/>
        </p:nvSpPr>
        <p:spPr>
          <a:xfrm>
            <a:off x="822960" y="3291840"/>
            <a:ext cx="3017520" cy="1005840"/>
          </a:xfrm>
          <a:prstGeom prst="rect">
            <a:avLst/>
          </a:prstGeom>
          <a:noFill/>
          <a:ln/>
        </p:spPr>
        <p:txBody>
          <a:bodyPr wrap="square" lIns="0" tIns="0" rIns="0" bIns="0" rtlCol="0" anchor="t"/>
          <a:lstStyle/>
          <a:p>
            <a:pPr marL="0" indent="0" algn="l">
              <a:buNone/>
            </a:pPr>
            <a:r>
              <a:rPr lang="en-US" sz="1600" dirty="0">
                <a:solidFill>
                  <a:schemeClr val="bg1"/>
                </a:solidFill>
              </a:rPr>
              <a:t>Très bon quand la requête contient les mots exacts du résumé.</a:t>
            </a:r>
            <a:endParaRPr lang="en-US" sz="1600" dirty="0"/>
          </a:p>
        </p:txBody>
      </p:sp>
      <p:sp>
        <p:nvSpPr>
          <p:cNvPr id="8" name="Carte Embeddings : plus malins"/>
          <p:cNvSpPr/>
          <p:nvPr/>
        </p:nvSpPr>
        <p:spPr>
          <a:xfrm>
            <a:off x="4334256" y="1508760"/>
            <a:ext cx="3520440" cy="2926080"/>
          </a:xfrm>
          <a:prstGeom prst="roundRect">
            <a:avLst>
              <a:gd name="adj" fmla="val 4688"/>
            </a:avLst>
          </a:prstGeom>
          <a:solidFill>
            <a:schemeClr val="tx2"/>
          </a:solidFill>
          <a:ln w="12700">
            <a:solidFill>
              <a:schemeClr val="tx2"/>
            </a:solidFill>
            <a:prstDash val="solid"/>
          </a:ln>
        </p:spPr>
      </p:sp>
      <p:sp>
        <p:nvSpPr>
          <p:cNvPr id="9" name="Cercle Embeddings : plus malins"/>
          <p:cNvSpPr/>
          <p:nvPr/>
        </p:nvSpPr>
        <p:spPr>
          <a:xfrm>
            <a:off x="4608576" y="1783080"/>
            <a:ext cx="822960" cy="822960"/>
          </a:xfrm>
          <a:prstGeom prst="ellipse">
            <a:avLst/>
          </a:prstGeom>
          <a:solidFill>
            <a:schemeClr val="accent2"/>
          </a:solidFill>
          <a:ln w="12700">
            <a:solidFill>
              <a:schemeClr val="accent2"/>
            </a:solidFill>
            <a:prstDash val="solid"/>
          </a:ln>
        </p:spPr>
      </p:sp>
      <p:pic>
        <p:nvPicPr>
          <p:cNvPr id="10" name="Icône Embeddings : plus malins" descr="Icône Embeddings : plus malins"/>
          <p:cNvPicPr>
            <a:picLocks noChangeAspect="1"/>
          </p:cNvPicPr>
          <p:nvPr/>
        </p:nvPicPr>
        <p:blipFill>
          <a:blip r:embed="rId4"/>
          <a:stretch>
            <a:fillRect/>
          </a:stretch>
        </p:blipFill>
        <p:spPr>
          <a:xfrm>
            <a:off x="4828032" y="2002536"/>
            <a:ext cx="384048" cy="384048"/>
          </a:xfrm>
          <a:prstGeom prst="rect">
            <a:avLst/>
          </a:prstGeom>
        </p:spPr>
      </p:pic>
      <p:sp>
        <p:nvSpPr>
          <p:cNvPr id="11" name="Titre Embeddings : plus malins"/>
          <p:cNvSpPr txBox="1"/>
          <p:nvPr/>
        </p:nvSpPr>
        <p:spPr>
          <a:xfrm>
            <a:off x="4608576" y="2788920"/>
            <a:ext cx="3017520" cy="411480"/>
          </a:xfrm>
          <a:prstGeom prst="rect">
            <a:avLst/>
          </a:prstGeom>
          <a:noFill/>
          <a:ln/>
        </p:spPr>
        <p:txBody>
          <a:bodyPr wrap="square" lIns="0" tIns="0" rIns="0" bIns="0" rtlCol="0" anchor="t"/>
          <a:lstStyle/>
          <a:p>
            <a:pPr marL="0" indent="0" algn="l">
              <a:buNone/>
            </a:pPr>
            <a:r>
              <a:rPr lang="en-US" sz="2000" b="1" dirty="0">
                <a:solidFill>
                  <a:schemeClr val="bg1"/>
                </a:solidFill>
              </a:rPr>
              <a:t>Embeddings : plus malins</a:t>
            </a:r>
            <a:endParaRPr lang="en-US" sz="2000" dirty="0"/>
          </a:p>
        </p:txBody>
      </p:sp>
      <p:sp>
        <p:nvSpPr>
          <p:cNvPr id="12" name="Texte Embeddings : plus malins"/>
          <p:cNvSpPr txBox="1"/>
          <p:nvPr/>
        </p:nvSpPr>
        <p:spPr>
          <a:xfrm>
            <a:off x="4608576" y="3291840"/>
            <a:ext cx="3017520" cy="1005840"/>
          </a:xfrm>
          <a:prstGeom prst="rect">
            <a:avLst/>
          </a:prstGeom>
          <a:noFill/>
          <a:ln/>
        </p:spPr>
        <p:txBody>
          <a:bodyPr wrap="square" lIns="0" tIns="0" rIns="0" bIns="0" rtlCol="0" anchor="t"/>
          <a:lstStyle/>
          <a:p>
            <a:pPr marL="0" indent="0" algn="l">
              <a:buNone/>
            </a:pPr>
            <a:r>
              <a:rPr lang="en-US" sz="1600" dirty="0">
                <a:solidFill>
                  <a:schemeClr val="bg1"/>
                </a:solidFill>
              </a:rPr>
              <a:t>Ils comprennent le sens, même sans mot en commun.</a:t>
            </a:r>
            <a:endParaRPr lang="en-US" sz="1600" dirty="0"/>
          </a:p>
        </p:txBody>
      </p:sp>
      <p:sp>
        <p:nvSpPr>
          <p:cNvPr id="13" name="Carte Le résultat"/>
          <p:cNvSpPr/>
          <p:nvPr/>
        </p:nvSpPr>
        <p:spPr>
          <a:xfrm>
            <a:off x="8119872" y="1508760"/>
            <a:ext cx="3520440" cy="2926080"/>
          </a:xfrm>
          <a:prstGeom prst="roundRect">
            <a:avLst>
              <a:gd name="adj" fmla="val 4688"/>
            </a:avLst>
          </a:prstGeom>
          <a:solidFill>
            <a:schemeClr val="tx2"/>
          </a:solidFill>
          <a:ln w="12700">
            <a:solidFill>
              <a:schemeClr val="tx2"/>
            </a:solidFill>
            <a:prstDash val="solid"/>
          </a:ln>
        </p:spPr>
      </p:sp>
      <p:sp>
        <p:nvSpPr>
          <p:cNvPr id="14" name="Cercle Le résultat"/>
          <p:cNvSpPr/>
          <p:nvPr/>
        </p:nvSpPr>
        <p:spPr>
          <a:xfrm>
            <a:off x="8394192" y="1783080"/>
            <a:ext cx="822960" cy="822960"/>
          </a:xfrm>
          <a:prstGeom prst="ellipse">
            <a:avLst/>
          </a:prstGeom>
          <a:solidFill>
            <a:schemeClr val="accent5"/>
          </a:solidFill>
          <a:ln w="12700">
            <a:solidFill>
              <a:schemeClr val="accent5"/>
            </a:solidFill>
            <a:prstDash val="solid"/>
          </a:ln>
        </p:spPr>
      </p:sp>
      <p:pic>
        <p:nvPicPr>
          <p:cNvPr id="15" name="Icône Le résultat" descr="Icône Le résultat"/>
          <p:cNvPicPr>
            <a:picLocks noChangeAspect="1"/>
          </p:cNvPicPr>
          <p:nvPr/>
        </p:nvPicPr>
        <p:blipFill>
          <a:blip r:embed="rId5"/>
          <a:stretch>
            <a:fillRect/>
          </a:stretch>
        </p:blipFill>
        <p:spPr>
          <a:xfrm>
            <a:off x="8613648" y="2002536"/>
            <a:ext cx="384048" cy="384048"/>
          </a:xfrm>
          <a:prstGeom prst="rect">
            <a:avLst/>
          </a:prstGeom>
        </p:spPr>
      </p:pic>
      <p:sp>
        <p:nvSpPr>
          <p:cNvPr id="16" name="Titre Le résultat"/>
          <p:cNvSpPr txBox="1"/>
          <p:nvPr/>
        </p:nvSpPr>
        <p:spPr>
          <a:xfrm>
            <a:off x="8394192" y="2788920"/>
            <a:ext cx="3017520" cy="411480"/>
          </a:xfrm>
          <a:prstGeom prst="rect">
            <a:avLst/>
          </a:prstGeom>
          <a:noFill/>
          <a:ln/>
        </p:spPr>
        <p:txBody>
          <a:bodyPr wrap="square" lIns="0" tIns="0" rIns="0" bIns="0" rtlCol="0" anchor="t"/>
          <a:lstStyle/>
          <a:p>
            <a:pPr marL="0" indent="0" algn="l">
              <a:buNone/>
            </a:pPr>
            <a:r>
              <a:rPr lang="en-US" sz="2000" b="1" dirty="0">
                <a:solidFill>
                  <a:schemeClr val="bg1"/>
                </a:solidFill>
              </a:rPr>
              <a:t>Le résultat</a:t>
            </a:r>
            <a:endParaRPr lang="en-US" sz="2000" dirty="0"/>
          </a:p>
        </p:txBody>
      </p:sp>
      <p:sp>
        <p:nvSpPr>
          <p:cNvPr id="17" name="Texte Le résultat"/>
          <p:cNvSpPr txBox="1"/>
          <p:nvPr/>
        </p:nvSpPr>
        <p:spPr>
          <a:xfrm>
            <a:off x="8394192" y="3291840"/>
            <a:ext cx="3017520" cy="1005840"/>
          </a:xfrm>
          <a:prstGeom prst="rect">
            <a:avLst/>
          </a:prstGeom>
          <a:noFill/>
          <a:ln/>
        </p:spPr>
        <p:txBody>
          <a:bodyPr wrap="square" lIns="0" tIns="0" rIns="0" bIns="0" rtlCol="0" anchor="t"/>
          <a:lstStyle/>
          <a:p>
            <a:pPr marL="0" indent="0" algn="l">
              <a:buNone/>
            </a:pPr>
            <a:r>
              <a:rPr lang="en-US" sz="1600" dirty="0">
                <a:solidFill>
                  <a:schemeClr val="bg1"/>
                </a:solidFill>
              </a:rPr>
              <a:t>MAP@10 : 0,69 pour les embeddings contre 0,55 pour TF‑IDF.</a:t>
            </a:r>
            <a:endParaRPr lang="en-US" sz="1600" dirty="0"/>
          </a:p>
        </p:txBody>
      </p:sp>
      <p:sp>
        <p:nvSpPr>
          <p:cNvPr id="18" name="Merci"/>
          <p:cNvSpPr txBox="1"/>
          <p:nvPr/>
        </p:nvSpPr>
        <p:spPr>
          <a:xfrm>
            <a:off x="548640" y="4892040"/>
            <a:ext cx="11091672" cy="640080"/>
          </a:xfrm>
          <a:prstGeom prst="rect">
            <a:avLst/>
          </a:prstGeom>
          <a:noFill/>
          <a:ln/>
        </p:spPr>
        <p:txBody>
          <a:bodyPr wrap="square" lIns="0" tIns="0" rIns="0" bIns="0" rtlCol="0" anchor="t"/>
          <a:lstStyle/>
          <a:p>
            <a:pPr marL="0" indent="0" algn="l">
              <a:buNone/>
            </a:pPr>
            <a:r>
              <a:rPr lang="en-US" sz="3600" b="1" dirty="0">
                <a:solidFill>
                  <a:schemeClr val="bg1"/>
                </a:solidFill>
                <a:latin typeface="Cambria" pitchFamily="34" charset="0"/>
                <a:ea typeface="Cambria" pitchFamily="34" charset="-122"/>
                <a:cs typeface="Cambria" pitchFamily="34" charset="-120"/>
              </a:rPr>
              <a:t>Merci pour votre attention</a:t>
            </a:r>
            <a:endParaRPr lang="en-US" sz="3600" dirty="0"/>
          </a:p>
        </p:txBody>
      </p:sp>
      <p:sp>
        <p:nvSpPr>
          <p:cNvPr id="19" name="Questions"/>
          <p:cNvSpPr txBox="1"/>
          <p:nvPr/>
        </p:nvSpPr>
        <p:spPr>
          <a:xfrm>
            <a:off x="548640" y="5577840"/>
            <a:ext cx="11091672" cy="457200"/>
          </a:xfrm>
          <a:prstGeom prst="rect">
            <a:avLst/>
          </a:prstGeom>
          <a:noFill/>
          <a:ln/>
        </p:spPr>
        <p:txBody>
          <a:bodyPr wrap="square" lIns="0" tIns="0" rIns="0" bIns="0" rtlCol="0" anchor="t"/>
          <a:lstStyle/>
          <a:p>
            <a:pPr marL="0" indent="0" algn="l">
              <a:buNone/>
            </a:pPr>
            <a:r>
              <a:rPr lang="en-US" sz="2200" b="1" dirty="0">
                <a:solidFill>
                  <a:schemeClr val="accent1"/>
                </a:solidFill>
              </a:rPr>
              <a:t>Des questions ?</a:t>
            </a:r>
            <a:endParaRPr lang="en-US" sz="2200" dirty="0"/>
          </a:p>
        </p:txBody>
      </p:sp>
      <p:sp>
        <p:nvSpPr>
          <p:cNvPr id="25" name="Slide Number Placeholder 0"/>
          <p:cNvSpPr>
            <a:spLocks noGrp="1"/>
          </p:cNvSpPr>
          <p:nvPr>
            <p:ph type="sldNum" sz="quarter" idx="4294967295"/>
          </p:nvPr>
        </p:nvSpPr>
        <p:spPr>
          <a:xfrm>
            <a:off x="11137392"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BookFinder">
  <a:themeElements>
    <a:clrScheme name="BookFinder">
      <a:dk1>
        <a:srgbClr val="14213D"/>
      </a:dk1>
      <a:lt1>
        <a:srgbClr val="FFFFFF"/>
      </a:lt1>
      <a:dk2>
        <a:srgbClr val="1F3A5F"/>
      </a:dk2>
      <a:lt2>
        <a:srgbClr val="EEF2F8"/>
      </a:lt2>
      <a:accent1>
        <a:srgbClr val="F4A300"/>
      </a:accent1>
      <a:accent2>
        <a:srgbClr val="1B7F74"/>
      </a:accent2>
      <a:accent3>
        <a:srgbClr val="C8553D"/>
      </a:accent3>
      <a:accent4>
        <a:srgbClr val="3D5A80"/>
      </a:accent4>
      <a:accent5>
        <a:srgbClr val="98C1D9"/>
      </a:accent5>
      <a:accent6>
        <a:srgbClr val="5C6573"/>
      </a:accent6>
      <a:hlink>
        <a:srgbClr val="3D5A80"/>
      </a:hlink>
      <a:folHlink>
        <a:srgbClr val="5C6573"/>
      </a:folHlink>
    </a:clrScheme>
    <a:fontScheme name="BookFind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1645</TotalTime>
  <Words>2137</Words>
  <Application>Microsoft Office PowerPoint</Application>
  <PresentationFormat>Grand écran</PresentationFormat>
  <Paragraphs>198</Paragraphs>
  <Slides>14</Slides>
  <Notes>14</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14</vt:i4>
      </vt:variant>
    </vt:vector>
  </HeadingPairs>
  <TitlesOfParts>
    <vt:vector size="20" baseType="lpstr">
      <vt:lpstr>Arial</vt:lpstr>
      <vt:lpstr>Arial Unicode MS</vt:lpstr>
      <vt:lpstr>Calibri</vt:lpstr>
      <vt:lpstr>Cambria</vt:lpstr>
      <vt:lpstr>Times New Roman</vt:lpstr>
      <vt:lpstr>BookFinder</vt:lpstr>
      <vt:lpstr>Présentation PowerPoint</vt:lpstr>
      <vt:lpstr>Trouver un livre sans son titre</vt:lpstr>
      <vt:lpstr>Les 6 étapes du projet</vt:lpstr>
      <vt:lpstr>Les données : 10 000 livres Goodreads</vt:lpstr>
      <vt:lpstr>Préparer le texte</vt:lpstr>
      <vt:lpstr>Méthode 1 : TF-IDF</vt:lpstr>
      <vt:lpstr>Méthode 2 : les embeddings</vt:lpstr>
      <vt:lpstr>Comment on cherche dans l’index</vt:lpstr>
      <vt:lpstr>Un exemple de recherche</vt:lpstr>
      <vt:lpstr>Mesurer la ressemblance entre livres</vt:lpstr>
      <vt:lpstr>Résultats : les embeddings gagnent</vt:lpstr>
      <vt:lpstr>L’application Streamlit</vt:lpstr>
      <vt:lpstr>Limites et améliorations</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BookFinder : moteur de recherche de livres</dc:title>
  <dc:subject>PptxGenJS Presentation</dc:subject>
  <dc:creator>El Mahdi BOUDERNA</dc:creator>
  <cp:lastModifiedBy>EL MAHDI BOUDERNA</cp:lastModifiedBy>
  <cp:revision>8</cp:revision>
  <dcterms:created xsi:type="dcterms:W3CDTF">2026-10-24T18:49:45Z</dcterms:created>
  <dcterms:modified xsi:type="dcterms:W3CDTF">2026-10-28T08:38:46Z</dcterms:modified>
</cp:coreProperties>
</file>